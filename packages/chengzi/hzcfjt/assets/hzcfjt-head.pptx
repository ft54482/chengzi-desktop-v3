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Default Extension="jpg" ContentType="image/jpeg"/>
  <Default Extension="svg" ContentType="image/svg+xml"/>
  <Default Extension="wdp" ContentType="image/vnd.ms-photo"/>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47.xml" ContentType="application/vnd.openxmlformats-officedocument.presentationml.slideLayout+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commentAuthors.xml" ContentType="application/vnd.openxmlformats-officedocument.presentationml.comme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pecialPlsOnTitleSld="0">
  <p:sldMasterIdLst>
    <p:sldMasterId id="2147483648" r:id="rId1"/>
    <p:sldMasterId id="2147483671" r:id="rId2"/>
  </p:sldMasterIdLst>
  <p:notesMasterIdLst>
    <p:notesMasterId r:id="rId9"/>
  </p:notesMasterIdLst>
  <p:handoutMasterIdLst>
    <p:handoutMasterId r:id="rId10"/>
  </p:handoutMasterIdLst>
  <p:sldIdLst>
    <p:sldId id="256" r:id="rId3"/>
    <p:sldId id="257" r:id="rId4"/>
    <p:sldId id="258" r:id="rId5"/>
    <p:sldId id="259" r:id="rId6"/>
    <p:sldId id="260" r:id="rId7"/>
    <p:sldId id="261" r:id="rId8"/>
  </p:sldIdLst>
  <p:sldSz cx="12192000" cy="6858000"/>
  <p:notesSz cx="6858000" cy="12192000"/>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1" clrIdx="0"/>
  <p:cmAuthor id="1" name="p_wan" initials="p" lastIdx="1" clrIdx="0"/>
  <p:cmAuthor id="2" name="janic" initials="j" lastIdx="1" clrIdx="1"/>
  <p:cmAuthor id="3" name="lenovo" initials="l" lastIdx="6" clrIdx="2"/>
  <p:cmAuthor id="4" name="Administrator" initials="A" lastIdx="4" clrIdx="3"/>
  <p:cmAuthor id="5" name="宋洁然" initials="宋" lastIdx="2" clrIdx="1"/>
  <p:cmAuthor id="6" name="ming qiu" initials="m" lastIdx="17" clrIdx="1"/>
  <p:cmAuthor id="7" name="1206988966@qq.com" initials="1" lastIdx="1" clrIdx="2"/>
  <p:cmAuthor id="8" name="姜伟光" initials="姜" lastIdx="1" clrIdx="0"/>
  <p:cmAuthor id="10" name="...." initials="authorId_371639646" lastIdx="0" clrIdx="9"/>
  <p:cmAuthor id="11" name="作者" initials="A" lastIdx="0" clrIdx="10"/>
  <p:cmAuthor id="12" name="郑 晓锋" initials="郑" lastIdx="0" clrIdx="11"/>
  <p:cmAuthor id="13" name="WPS_1679281038" initials="W" lastIdx="0" clrIdx="12"/>
  <p:cmAuthor id="14" name="kb123" initials="k" lastIdx="0" clrIdx="13"/>
  <p:cmAuthor id="15" name="翛翔 胡" initials="翛胡" lastIdx="0" clrIdx="1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99213"/>
    <a:srgbClr val="4D4D4D"/>
    <a:srgbClr val="00B050"/>
    <a:srgbClr val="92D050"/>
    <a:srgbClr val="D1B15A"/>
    <a:srgbClr val="BBD8F6"/>
    <a:srgbClr val="64A1D7"/>
    <a:srgbClr val="5C8CBA"/>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60" autoAdjust="0"/>
    <p:restoredTop sz="96138" autoAdjust="0"/>
  </p:normalViewPr>
  <p:slideViewPr>
    <p:cSldViewPr snapToGrid="0" showGuides="1">
      <p:cViewPr>
        <p:scale>
          <a:sx n="100" d="100"/>
          <a:sy n="100" d="100"/>
        </p:scale>
        <p:origin x="1092" y="216"/>
      </p:cViewPr>
      <p:guideLst>
        <p:guide orient="horz" pos="2318"/>
        <p:guide pos="3845"/>
        <p:guide pos="382"/>
        <p:guide pos="7310"/>
        <p:guide orient="horz" pos="450"/>
        <p:guide orient="horz" pos="602"/>
        <p:guide orient="horz" pos="3838"/>
      </p:guideLst>
    </p:cSldViewPr>
  </p:slideViewPr>
  <p:notesTextViewPr>
    <p:cViewPr>
      <p:scale>
        <a:sx n="3" d="2"/>
        <a:sy n="3" d="2"/>
      </p:scale>
      <p:origin x="0" y="0"/>
    </p:cViewPr>
  </p:notesTextViewPr>
  <p:sorterViewPr>
    <p:cViewPr>
      <p:scale>
        <a:sx n="200" d="100"/>
        <a:sy n="200" d="100"/>
      </p:scale>
      <p:origin x="0" y="-8670"/>
    </p:cViewPr>
  </p:sorterViewPr>
  <p:notesViewPr>
    <p:cSldViewPr snapToGrid="0">
      <p:cViewPr varScale="1">
        <p:scale>
          <a:sx n="112" d="100"/>
          <a:sy n="112" d="100"/>
        </p:scale>
        <p:origin x="2244" y="102"/>
      </p:cViewPr>
      <p:guideLst/>
    </p:cSldViewPr>
  </p:notesViewPr>
  <p:gridSpacing cx="72000" cy="720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3.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theme" Target="theme/theme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ableStyles" Target="tableStyles.xml"/><Relationship Id="rId15" Type="http://schemas.openxmlformats.org/officeDocument/2006/relationships/commentAuthors" Target="commentAuthors.xml"/><Relationship Id="rId16" Type="http://schemas.openxmlformats.org/officeDocument/2006/relationships/tags" Target="tags/tag27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240385" cy="368231"/>
          </a:xfrm>
          <a:prstGeom prst="rect">
            <a:avLst/>
          </a:prstGeom>
        </p:spPr>
        <p:txBody>
          <a:bodyPr vert="horz" lIns="91440" tIns="45720" rIns="91440" bIns="45720" rtlCol="0"/>
          <a:lstStyle>
            <a:lvl1pPr algn="l">
              <a:defRPr sz="1575"/>
            </a:lvl1pPr>
          </a:lstStyle>
          <a:p>
            <a:endParaRPr lang="zh-CN" altLang="en-US"/>
          </a:p>
        </p:txBody>
      </p:sp>
      <p:sp>
        <p:nvSpPr>
          <p:cNvPr id="3" name="日期占位符 2"/>
          <p:cNvSpPr>
            <a:spLocks noGrp="1"/>
          </p:cNvSpPr>
          <p:nvPr>
            <p:ph type="dt" sz="quarter" idx="1"/>
          </p:nvPr>
        </p:nvSpPr>
        <p:spPr>
          <a:xfrm>
            <a:off x="5542855" y="0"/>
            <a:ext cx="4240385" cy="368231"/>
          </a:xfrm>
          <a:prstGeom prst="rect">
            <a:avLst/>
          </a:prstGeom>
        </p:spPr>
        <p:txBody>
          <a:bodyPr vert="horz" lIns="91440" tIns="45720" rIns="91440" bIns="45720" rtlCol="0"/>
          <a:lstStyle>
            <a:lvl1pPr algn="r">
              <a:defRPr sz="157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6970899"/>
            <a:ext cx="4240385" cy="368230"/>
          </a:xfrm>
          <a:prstGeom prst="rect">
            <a:avLst/>
          </a:prstGeom>
        </p:spPr>
        <p:txBody>
          <a:bodyPr vert="horz" lIns="91440" tIns="45720" rIns="91440" bIns="45720" rtlCol="0" anchor="b"/>
          <a:lstStyle>
            <a:lvl1pPr algn="l">
              <a:defRPr sz="1575"/>
            </a:lvl1pPr>
          </a:lstStyle>
          <a:p>
            <a:endParaRPr lang="zh-CN" altLang="en-US"/>
          </a:p>
        </p:txBody>
      </p:sp>
      <p:sp>
        <p:nvSpPr>
          <p:cNvPr id="5" name="灯片编号占位符 4"/>
          <p:cNvSpPr>
            <a:spLocks noGrp="1"/>
          </p:cNvSpPr>
          <p:nvPr>
            <p:ph type="sldNum" sz="quarter" idx="3"/>
          </p:nvPr>
        </p:nvSpPr>
        <p:spPr>
          <a:xfrm>
            <a:off x="5542855" y="6970899"/>
            <a:ext cx="4240385" cy="368230"/>
          </a:xfrm>
          <a:prstGeom prst="rect">
            <a:avLst/>
          </a:prstGeom>
        </p:spPr>
        <p:txBody>
          <a:bodyPr vert="horz" lIns="91440" tIns="45720" rIns="91440" bIns="45720" rtlCol="0" anchor="b"/>
          <a:lstStyle>
            <a:lvl1pPr algn="r">
              <a:defRPr sz="157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4278016" cy="34107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592046" y="0"/>
            <a:ext cx="4278016" cy="341075"/>
          </a:xfrm>
          <a:prstGeom prst="rect">
            <a:avLst/>
          </a:prstGeom>
        </p:spPr>
        <p:txBody>
          <a:bodyPr vert="horz" lIns="91440" tIns="45720" rIns="91440" bIns="45720" rtlCol="0"/>
          <a:lstStyle>
            <a:lvl1pPr algn="r">
              <a:defRPr sz="1200"/>
            </a:lvl1pPr>
          </a:lstStyle>
          <a:p>
            <a:fld id="{2580BFD8-3EFB-4662-A6C5-0617795C5F1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897570" y="850420"/>
            <a:ext cx="4077206" cy="229329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87235" y="3271487"/>
            <a:ext cx="7897876" cy="2676671"/>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1" y="6456823"/>
            <a:ext cx="4278016" cy="34107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592046" y="6456823"/>
            <a:ext cx="4278016" cy="341075"/>
          </a:xfrm>
          <a:prstGeom prst="rect">
            <a:avLst/>
          </a:prstGeom>
        </p:spPr>
        <p:txBody>
          <a:bodyPr vert="horz" lIns="91440" tIns="45720" rIns="91440" bIns="45720" rtlCol="0" anchor="b"/>
          <a:lstStyle>
            <a:lvl1pPr algn="r">
              <a:defRPr sz="1200"/>
            </a:lvl1pPr>
          </a:lstStyle>
          <a:p>
            <a:fld id="{0B5E4D13-0F77-4153-B279-5BD9F682CDE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二级标题页">
    <p:spTree>
      <p:nvGrpSpPr>
        <p:cNvPr id="1" name=""/>
        <p:cNvGrpSpPr/>
        <p:nvPr/>
      </p:nvGrpSpPr>
      <p:grpSpPr>
        <a:xfrm>
          <a:off x="0" y="0"/>
          <a:ext cx="0" cy="0"/>
          <a:chOff x="0" y="0"/>
          <a:chExt cx="0" cy="0"/>
        </a:xfrm>
      </p:grpSpPr>
      <p:pic>
        <p:nvPicPr>
          <p:cNvPr id="22" name="Picture 4" descr="https://gimg2.baidu.com/image_search/src=http%3A%2F%2Fp6.itc.cn%2Fq_70%2Fimages03%2F20211015%2F0be0021d1f5a4d31bbc0d866bf8eef75.jpeg&amp;refer=http%3A%2F%2Fp6.itc.cn&amp;app=2002&amp;size=f9999,10000&amp;q=a80&amp;n=0&amp;g=0n&amp;fmt=auto?sec=1657021706&amp;t=1e5e5be61dd8746d19cc65ab54902cd1"/>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164" b="26232"/>
          <a:stretch>
            <a:fillRect/>
          </a:stretch>
        </p:blipFill>
        <p:spPr bwMode="auto">
          <a:xfrm>
            <a:off x="6056830" y="1709382"/>
            <a:ext cx="6135170" cy="3439236"/>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s://gimg2.baidu.com/image_search/src=http%3A%2F%2Fp6.itc.cn%2Fq_70%2Fimages03%2F20211015%2F0be0021d1f5a4d31bbc0d866bf8eef75.jpeg&amp;refer=http%3A%2F%2Fp6.itc.cn&amp;app=2002&amp;size=f9999,10000&amp;q=a80&amp;n=0&amp;g=0n&amp;fmt=auto?sec=1657021706&amp;t=1e5e5be61dd8746d19cc65ab54902cd1"/>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164" b="26232"/>
          <a:stretch>
            <a:fillRect/>
          </a:stretch>
        </p:blipFill>
        <p:spPr bwMode="auto">
          <a:xfrm>
            <a:off x="0" y="1709382"/>
            <a:ext cx="6135170" cy="3439236"/>
          </a:xfrm>
          <a:prstGeom prst="rect">
            <a:avLst/>
          </a:prstGeom>
          <a:noFill/>
          <a:extLst>
            <a:ext uri="{909E8E84-426E-40DD-AFC4-6F175D3DCCD1}">
              <a14:hiddenFill xmlns:a14="http://schemas.microsoft.com/office/drawing/2010/main">
                <a:solidFill>
                  <a:srgbClr val="FFFFFF"/>
                </a:solidFill>
              </a14:hiddenFill>
            </a:ext>
          </a:extLst>
        </p:spPr>
      </p:pic>
      <p:sp>
        <p:nvSpPr>
          <p:cNvPr id="10" name="任意多边形 9"/>
          <p:cNvSpPr/>
          <p:nvPr userDrawn="1"/>
        </p:nvSpPr>
        <p:spPr>
          <a:xfrm flipH="1" flipV="1">
            <a:off x="7965623" y="1709382"/>
            <a:ext cx="2149502" cy="3439236"/>
          </a:xfrm>
          <a:custGeom>
            <a:avLst/>
            <a:gdLst>
              <a:gd name="connsiteX0" fmla="*/ 2149502 w 2149502"/>
              <a:gd name="connsiteY0" fmla="*/ 3439236 h 3439236"/>
              <a:gd name="connsiteX1" fmla="*/ 1659859 w 2149502"/>
              <a:gd name="connsiteY1" fmla="*/ 3439236 h 3439236"/>
              <a:gd name="connsiteX2" fmla="*/ 0 w 2149502"/>
              <a:gd name="connsiteY2" fmla="*/ 0 h 3439236"/>
              <a:gd name="connsiteX3" fmla="*/ 493482 w 2149502"/>
              <a:gd name="connsiteY3" fmla="*/ 0 h 3439236"/>
            </a:gdLst>
            <a:ahLst/>
            <a:cxnLst>
              <a:cxn ang="0">
                <a:pos x="connsiteX0" y="connsiteY0"/>
              </a:cxn>
              <a:cxn ang="0">
                <a:pos x="connsiteX1" y="connsiteY1"/>
              </a:cxn>
              <a:cxn ang="0">
                <a:pos x="connsiteX2" y="connsiteY2"/>
              </a:cxn>
              <a:cxn ang="0">
                <a:pos x="connsiteX3" y="connsiteY3"/>
              </a:cxn>
            </a:cxnLst>
            <a:rect l="l" t="t" r="r" b="b"/>
            <a:pathLst>
              <a:path w="2149502" h="3439236">
                <a:moveTo>
                  <a:pt x="2149502" y="3439236"/>
                </a:moveTo>
                <a:lnTo>
                  <a:pt x="1659859" y="3439236"/>
                </a:lnTo>
                <a:lnTo>
                  <a:pt x="0" y="0"/>
                </a:lnTo>
                <a:lnTo>
                  <a:pt x="493482"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HarmonyOS Sans SC" panose="00000500000000000000" pitchFamily="2" charset="-122"/>
              <a:ea typeface="HarmonyOS Sans SC" panose="00000500000000000000" pitchFamily="2" charset="-122"/>
            </a:endParaRPr>
          </a:p>
        </p:txBody>
      </p:sp>
      <p:sp>
        <p:nvSpPr>
          <p:cNvPr id="12" name="任意多边形 11"/>
          <p:cNvSpPr/>
          <p:nvPr userDrawn="1"/>
        </p:nvSpPr>
        <p:spPr>
          <a:xfrm flipH="1">
            <a:off x="8457559" y="1709382"/>
            <a:ext cx="2146995" cy="3439236"/>
          </a:xfrm>
          <a:custGeom>
            <a:avLst/>
            <a:gdLst>
              <a:gd name="connsiteX0" fmla="*/ 1636351 w 2146995"/>
              <a:gd name="connsiteY0" fmla="*/ 0 h 3439236"/>
              <a:gd name="connsiteX1" fmla="*/ 2146995 w 2146995"/>
              <a:gd name="connsiteY1" fmla="*/ 0 h 3439236"/>
              <a:gd name="connsiteX2" fmla="*/ 510644 w 2146995"/>
              <a:gd name="connsiteY2" fmla="*/ 3439236 h 3439236"/>
              <a:gd name="connsiteX3" fmla="*/ 0 w 2146995"/>
              <a:gd name="connsiteY3" fmla="*/ 3439236 h 3439236"/>
            </a:gdLst>
            <a:ahLst/>
            <a:cxnLst>
              <a:cxn ang="0">
                <a:pos x="connsiteX0" y="connsiteY0"/>
              </a:cxn>
              <a:cxn ang="0">
                <a:pos x="connsiteX1" y="connsiteY1"/>
              </a:cxn>
              <a:cxn ang="0">
                <a:pos x="connsiteX2" y="connsiteY2"/>
              </a:cxn>
              <a:cxn ang="0">
                <a:pos x="connsiteX3" y="connsiteY3"/>
              </a:cxn>
            </a:cxnLst>
            <a:rect l="l" t="t" r="r" b="b"/>
            <a:pathLst>
              <a:path w="2146995" h="3439236">
                <a:moveTo>
                  <a:pt x="1636351" y="0"/>
                </a:moveTo>
                <a:lnTo>
                  <a:pt x="2146995" y="0"/>
                </a:lnTo>
                <a:lnTo>
                  <a:pt x="510644" y="3439236"/>
                </a:lnTo>
                <a:lnTo>
                  <a:pt x="0" y="3439236"/>
                </a:lnTo>
                <a:close/>
              </a:path>
            </a:pathLst>
          </a:cu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HarmonyOS Sans SC" panose="00000500000000000000" pitchFamily="2" charset="-122"/>
              <a:ea typeface="HarmonyOS Sans SC" panose="00000500000000000000" pitchFamily="2" charset="-122"/>
            </a:endParaRPr>
          </a:p>
        </p:txBody>
      </p:sp>
      <p:sp>
        <p:nvSpPr>
          <p:cNvPr id="16" name="任意多边形 15"/>
          <p:cNvSpPr/>
          <p:nvPr userDrawn="1"/>
        </p:nvSpPr>
        <p:spPr>
          <a:xfrm flipH="1" flipV="1">
            <a:off x="2189523" y="1709382"/>
            <a:ext cx="2149502" cy="3439236"/>
          </a:xfrm>
          <a:custGeom>
            <a:avLst/>
            <a:gdLst>
              <a:gd name="connsiteX0" fmla="*/ 2149502 w 2149502"/>
              <a:gd name="connsiteY0" fmla="*/ 3439236 h 3439236"/>
              <a:gd name="connsiteX1" fmla="*/ 1659859 w 2149502"/>
              <a:gd name="connsiteY1" fmla="*/ 3439236 h 3439236"/>
              <a:gd name="connsiteX2" fmla="*/ 0 w 2149502"/>
              <a:gd name="connsiteY2" fmla="*/ 0 h 3439236"/>
              <a:gd name="connsiteX3" fmla="*/ 493482 w 2149502"/>
              <a:gd name="connsiteY3" fmla="*/ 0 h 3439236"/>
            </a:gdLst>
            <a:ahLst/>
            <a:cxnLst>
              <a:cxn ang="0">
                <a:pos x="connsiteX0" y="connsiteY0"/>
              </a:cxn>
              <a:cxn ang="0">
                <a:pos x="connsiteX1" y="connsiteY1"/>
              </a:cxn>
              <a:cxn ang="0">
                <a:pos x="connsiteX2" y="connsiteY2"/>
              </a:cxn>
              <a:cxn ang="0">
                <a:pos x="connsiteX3" y="connsiteY3"/>
              </a:cxn>
            </a:cxnLst>
            <a:rect l="l" t="t" r="r" b="b"/>
            <a:pathLst>
              <a:path w="2149502" h="3439236">
                <a:moveTo>
                  <a:pt x="2149502" y="3439236"/>
                </a:moveTo>
                <a:lnTo>
                  <a:pt x="1659859" y="3439236"/>
                </a:lnTo>
                <a:lnTo>
                  <a:pt x="0" y="0"/>
                </a:lnTo>
                <a:lnTo>
                  <a:pt x="493482"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HarmonyOS Sans SC" panose="00000500000000000000" pitchFamily="2" charset="-122"/>
              <a:ea typeface="HarmonyOS Sans SC" panose="00000500000000000000" pitchFamily="2" charset="-122"/>
            </a:endParaRPr>
          </a:p>
        </p:txBody>
      </p:sp>
      <p:sp>
        <p:nvSpPr>
          <p:cNvPr id="18" name="任意多边形 17"/>
          <p:cNvSpPr/>
          <p:nvPr userDrawn="1"/>
        </p:nvSpPr>
        <p:spPr>
          <a:xfrm flipH="1">
            <a:off x="2683988" y="1709382"/>
            <a:ext cx="2146995" cy="3439236"/>
          </a:xfrm>
          <a:custGeom>
            <a:avLst/>
            <a:gdLst>
              <a:gd name="connsiteX0" fmla="*/ 1636351 w 2146995"/>
              <a:gd name="connsiteY0" fmla="*/ 0 h 3439236"/>
              <a:gd name="connsiteX1" fmla="*/ 2146995 w 2146995"/>
              <a:gd name="connsiteY1" fmla="*/ 0 h 3439236"/>
              <a:gd name="connsiteX2" fmla="*/ 510644 w 2146995"/>
              <a:gd name="connsiteY2" fmla="*/ 3439236 h 3439236"/>
              <a:gd name="connsiteX3" fmla="*/ 0 w 2146995"/>
              <a:gd name="connsiteY3" fmla="*/ 3439236 h 3439236"/>
            </a:gdLst>
            <a:ahLst/>
            <a:cxnLst>
              <a:cxn ang="0">
                <a:pos x="connsiteX0" y="connsiteY0"/>
              </a:cxn>
              <a:cxn ang="0">
                <a:pos x="connsiteX1" y="connsiteY1"/>
              </a:cxn>
              <a:cxn ang="0">
                <a:pos x="connsiteX2" y="connsiteY2"/>
              </a:cxn>
              <a:cxn ang="0">
                <a:pos x="connsiteX3" y="connsiteY3"/>
              </a:cxn>
            </a:cxnLst>
            <a:rect l="l" t="t" r="r" b="b"/>
            <a:pathLst>
              <a:path w="2146995" h="3439236">
                <a:moveTo>
                  <a:pt x="1636351" y="0"/>
                </a:moveTo>
                <a:lnTo>
                  <a:pt x="2146995" y="0"/>
                </a:lnTo>
                <a:lnTo>
                  <a:pt x="510644" y="3439236"/>
                </a:lnTo>
                <a:lnTo>
                  <a:pt x="0" y="3439236"/>
                </a:lnTo>
                <a:close/>
              </a:path>
            </a:pathLst>
          </a:cu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HarmonyOS Sans SC" panose="00000500000000000000" pitchFamily="2" charset="-122"/>
              <a:ea typeface="HarmonyOS Sans SC" panose="00000500000000000000" pitchFamily="2" charset="-122"/>
            </a:endParaRPr>
          </a:p>
        </p:txBody>
      </p:sp>
      <p:grpSp>
        <p:nvGrpSpPr>
          <p:cNvPr id="2" name="组合 1"/>
          <p:cNvGrpSpPr/>
          <p:nvPr userDrawn="1"/>
        </p:nvGrpSpPr>
        <p:grpSpPr>
          <a:xfrm>
            <a:off x="3153520" y="1709382"/>
            <a:ext cx="6462773" cy="3439236"/>
            <a:chOff x="3125383" y="1709382"/>
            <a:chExt cx="6462773" cy="3439236"/>
          </a:xfrm>
        </p:grpSpPr>
        <p:sp>
          <p:nvSpPr>
            <p:cNvPr id="14" name="任意多边形 13"/>
            <p:cNvSpPr/>
            <p:nvPr userDrawn="1"/>
          </p:nvSpPr>
          <p:spPr>
            <a:xfrm>
              <a:off x="5563820" y="1709382"/>
              <a:ext cx="4024336" cy="3439236"/>
            </a:xfrm>
            <a:custGeom>
              <a:avLst/>
              <a:gdLst>
                <a:gd name="connsiteX0" fmla="*/ 0 w 4024336"/>
                <a:gd name="connsiteY0" fmla="*/ 0 h 3439236"/>
                <a:gd name="connsiteX1" fmla="*/ 2364477 w 4024336"/>
                <a:gd name="connsiteY1" fmla="*/ 0 h 3439236"/>
                <a:gd name="connsiteX2" fmla="*/ 4024336 w 4024336"/>
                <a:gd name="connsiteY2" fmla="*/ 3439236 h 3439236"/>
                <a:gd name="connsiteX3" fmla="*/ 0 w 4024336"/>
                <a:gd name="connsiteY3" fmla="*/ 3439236 h 3439236"/>
              </a:gdLst>
              <a:ahLst/>
              <a:cxnLst>
                <a:cxn ang="0">
                  <a:pos x="connsiteX0" y="connsiteY0"/>
                </a:cxn>
                <a:cxn ang="0">
                  <a:pos x="connsiteX1" y="connsiteY1"/>
                </a:cxn>
                <a:cxn ang="0">
                  <a:pos x="connsiteX2" y="connsiteY2"/>
                </a:cxn>
                <a:cxn ang="0">
                  <a:pos x="connsiteX3" y="connsiteY3"/>
                </a:cxn>
              </a:cxnLst>
              <a:rect l="l" t="t" r="r" b="b"/>
              <a:pathLst>
                <a:path w="4024336" h="3439236">
                  <a:moveTo>
                    <a:pt x="0" y="0"/>
                  </a:moveTo>
                  <a:lnTo>
                    <a:pt x="2364477" y="0"/>
                  </a:lnTo>
                  <a:lnTo>
                    <a:pt x="4024336" y="3439236"/>
                  </a:lnTo>
                  <a:lnTo>
                    <a:pt x="0" y="343923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HarmonyOS Sans SC" panose="00000500000000000000" pitchFamily="2" charset="-122"/>
                <a:ea typeface="HarmonyOS Sans SC" panose="00000500000000000000" pitchFamily="2" charset="-122"/>
              </a:endParaRPr>
            </a:p>
          </p:txBody>
        </p:sp>
        <p:sp>
          <p:nvSpPr>
            <p:cNvPr id="20" name="任意多边形 19"/>
            <p:cNvSpPr/>
            <p:nvPr userDrawn="1"/>
          </p:nvSpPr>
          <p:spPr>
            <a:xfrm flipH="1" flipV="1">
              <a:off x="3125383" y="1709382"/>
              <a:ext cx="4024336" cy="3439236"/>
            </a:xfrm>
            <a:custGeom>
              <a:avLst/>
              <a:gdLst>
                <a:gd name="connsiteX0" fmla="*/ 0 w 4024336"/>
                <a:gd name="connsiteY0" fmla="*/ 0 h 3439236"/>
                <a:gd name="connsiteX1" fmla="*/ 2364477 w 4024336"/>
                <a:gd name="connsiteY1" fmla="*/ 0 h 3439236"/>
                <a:gd name="connsiteX2" fmla="*/ 4024336 w 4024336"/>
                <a:gd name="connsiteY2" fmla="*/ 3439236 h 3439236"/>
                <a:gd name="connsiteX3" fmla="*/ 0 w 4024336"/>
                <a:gd name="connsiteY3" fmla="*/ 3439236 h 3439236"/>
              </a:gdLst>
              <a:ahLst/>
              <a:cxnLst>
                <a:cxn ang="0">
                  <a:pos x="connsiteX0" y="connsiteY0"/>
                </a:cxn>
                <a:cxn ang="0">
                  <a:pos x="connsiteX1" y="connsiteY1"/>
                </a:cxn>
                <a:cxn ang="0">
                  <a:pos x="connsiteX2" y="connsiteY2"/>
                </a:cxn>
                <a:cxn ang="0">
                  <a:pos x="connsiteX3" y="connsiteY3"/>
                </a:cxn>
              </a:cxnLst>
              <a:rect l="l" t="t" r="r" b="b"/>
              <a:pathLst>
                <a:path w="4024336" h="3439236">
                  <a:moveTo>
                    <a:pt x="0" y="0"/>
                  </a:moveTo>
                  <a:lnTo>
                    <a:pt x="2364477" y="0"/>
                  </a:lnTo>
                  <a:lnTo>
                    <a:pt x="4024336" y="3439236"/>
                  </a:lnTo>
                  <a:lnTo>
                    <a:pt x="0" y="343923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HarmonyOS Sans SC" panose="00000500000000000000" pitchFamily="2" charset="-122"/>
                <a:ea typeface="HarmonyOS Sans SC" panose="00000500000000000000" pitchFamily="2" charset="-122"/>
              </a:endParaRPr>
            </a:p>
          </p:txBody>
        </p:sp>
      </p:grpSp>
      <p:sp>
        <p:nvSpPr>
          <p:cNvPr id="11" name="文本占位符 10"/>
          <p:cNvSpPr>
            <a:spLocks noGrp="1"/>
          </p:cNvSpPr>
          <p:nvPr>
            <p:ph type="body" sz="quarter" idx="10" hasCustomPrompt="1"/>
          </p:nvPr>
        </p:nvSpPr>
        <p:spPr>
          <a:xfrm>
            <a:off x="4238124" y="3199677"/>
            <a:ext cx="3715756" cy="701731"/>
          </a:xfrm>
          <a:prstGeom prst="rect">
            <a:avLst/>
          </a:prstGeom>
        </p:spPr>
        <p:txBody>
          <a:bodyPr wrap="square" lIns="0" rIns="0" anchor="ctr" anchorCtr="0">
            <a:spAutoFit/>
          </a:bodyPr>
          <a:lstStyle>
            <a:lvl1pPr marL="0" indent="0" algn="ctr">
              <a:buNone/>
              <a:defRPr sz="4400" b="1">
                <a:solidFill>
                  <a:schemeClr val="bg1"/>
                </a:solidFill>
                <a:latin typeface="HarmonyOS Sans SC" panose="00000500000000000000" pitchFamily="2" charset="-122"/>
                <a:ea typeface="HarmonyOS Sans SC" panose="00000500000000000000" pitchFamily="2" charset="-122"/>
              </a:defRPr>
            </a:lvl1pPr>
          </a:lstStyle>
          <a:p>
            <a:pPr lvl="0"/>
            <a:r>
              <a:rPr lang="zh-CN" altLang="en-US"/>
              <a:t>标题名称</a:t>
            </a:r>
            <a:endParaRPr lang="zh-CN" altLang="en-US" dirty="0"/>
          </a:p>
        </p:txBody>
      </p:sp>
      <p:sp>
        <p:nvSpPr>
          <p:cNvPr id="19" name="文本占位符 18"/>
          <p:cNvSpPr>
            <a:spLocks noGrp="1"/>
          </p:cNvSpPr>
          <p:nvPr>
            <p:ph type="body" sz="quarter" idx="14" hasCustomPrompt="1"/>
          </p:nvPr>
        </p:nvSpPr>
        <p:spPr>
          <a:xfrm>
            <a:off x="4238123" y="2214465"/>
            <a:ext cx="3715756" cy="480131"/>
          </a:xfrm>
          <a:prstGeom prst="rect">
            <a:avLst/>
          </a:prstGeom>
        </p:spPr>
        <p:txBody>
          <a:bodyPr wrap="square" lIns="0" rIns="0" anchor="ctr" anchorCtr="0">
            <a:spAutoFit/>
          </a:bodyPr>
          <a:lstStyle>
            <a:lvl1pPr marL="0" indent="0" algn="ctr">
              <a:buNone/>
              <a:defRPr sz="2800" b="1">
                <a:solidFill>
                  <a:schemeClr val="bg1"/>
                </a:solidFill>
                <a:latin typeface="HarmonyOS Sans SC" panose="00000500000000000000" pitchFamily="2" charset="-122"/>
                <a:ea typeface="HarmonyOS Sans SC" panose="00000500000000000000" pitchFamily="2" charset="-122"/>
              </a:defRPr>
            </a:lvl1pPr>
          </a:lstStyle>
          <a:p>
            <a:pPr lvl="0"/>
            <a:r>
              <a:rPr lang="en-US" altLang="zh-CN"/>
              <a:t>Part 1-1</a:t>
            </a:r>
            <a:endParaRPr lang="zh-CN" altLang="en-US" dirty="0"/>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主内容页">
    <p:spTree>
      <p:nvGrpSpPr>
        <p:cNvPr id="1" name=""/>
        <p:cNvGrpSpPr/>
        <p:nvPr/>
      </p:nvGrpSpPr>
      <p:grpSpPr>
        <a:xfrm>
          <a:off x="0" y="0"/>
          <a:ext cx="0" cy="0"/>
          <a:chOff x="0" y="0"/>
          <a:chExt cx="0" cy="0"/>
        </a:xfrm>
      </p:grpSpPr>
      <p:sp>
        <p:nvSpPr>
          <p:cNvPr id="4" name="灯片编号占位符 3"/>
          <p:cNvSpPr txBox="1"/>
          <p:nvPr userDrawn="1">
            <p:custDataLst>
              <p:tags r:id="rId2"/>
            </p:custDataLst>
          </p:nvPr>
        </p:nvSpPr>
        <p:spPr>
          <a:xfrm>
            <a:off x="4724400" y="6492875"/>
            <a:ext cx="2743200" cy="365125"/>
          </a:xfrm>
        </p:spPr>
        <p:txBody>
          <a:bodyPr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ltLang="zh-CN" sz="1000" dirty="0">
                <a:solidFill>
                  <a:prstClr val="black">
                    <a:tint val="75000"/>
                  </a:prstClr>
                </a:solidFill>
                <a:latin typeface="HarmonyOS Sans SC" panose="00000500000000000000" pitchFamily="2" charset="-122"/>
                <a:ea typeface="HarmonyOS Sans SC" panose="00000500000000000000" pitchFamily="2" charset="-122"/>
              </a:rPr>
              <a:t>- </a:t>
            </a:r>
            <a:fld id="{66BAABEF-0EC2-4BFC-B05C-B2D49A9A72D3}" type="slidenum">
              <a:rPr lang="zh-CN" altLang="en-US" sz="1000" smtClean="0">
                <a:solidFill>
                  <a:prstClr val="black">
                    <a:tint val="75000"/>
                  </a:prstClr>
                </a:solidFill>
                <a:latin typeface="HarmonyOS Sans SC" panose="00000500000000000000" pitchFamily="2" charset="-122"/>
                <a:ea typeface="HarmonyOS Sans SC" panose="00000500000000000000" pitchFamily="2" charset="-122"/>
              </a:rPr>
            </a:fld>
            <a:r>
              <a:rPr lang="zh-CN" altLang="en-US" sz="1000" dirty="0">
                <a:solidFill>
                  <a:prstClr val="black">
                    <a:tint val="75000"/>
                  </a:prstClr>
                </a:solidFill>
                <a:latin typeface="HarmonyOS Sans SC" panose="00000500000000000000" pitchFamily="2" charset="-122"/>
                <a:ea typeface="HarmonyOS Sans SC" panose="00000500000000000000" pitchFamily="2" charset="-122"/>
              </a:rPr>
              <a:t> </a:t>
            </a:r>
            <a:r>
              <a:rPr lang="en-US" altLang="zh-CN" sz="1000" dirty="0">
                <a:solidFill>
                  <a:prstClr val="black">
                    <a:tint val="75000"/>
                  </a:prstClr>
                </a:solidFill>
                <a:latin typeface="HarmonyOS Sans SC" panose="00000500000000000000" pitchFamily="2" charset="-122"/>
                <a:ea typeface="HarmonyOS Sans SC" panose="00000500000000000000" pitchFamily="2" charset="-122"/>
              </a:rPr>
              <a:t>-</a:t>
            </a:r>
            <a:endParaRPr lang="zh-CN" altLang="en-US" sz="1000" dirty="0">
              <a:solidFill>
                <a:prstClr val="black">
                  <a:tint val="75000"/>
                </a:prstClr>
              </a:solidFill>
              <a:latin typeface="HarmonyOS Sans SC" panose="00000500000000000000" pitchFamily="2" charset="-122"/>
              <a:ea typeface="HarmonyOS Sans SC" panose="00000500000000000000" pitchFamily="2" charset="-122"/>
            </a:endParaRPr>
          </a:p>
        </p:txBody>
      </p:sp>
      <p:grpSp>
        <p:nvGrpSpPr>
          <p:cNvPr id="7" name="组合 6"/>
          <p:cNvGrpSpPr/>
          <p:nvPr userDrawn="1"/>
        </p:nvGrpSpPr>
        <p:grpSpPr>
          <a:xfrm>
            <a:off x="609600" y="275027"/>
            <a:ext cx="464343" cy="410773"/>
            <a:chOff x="609600" y="270794"/>
            <a:chExt cx="464343" cy="410773"/>
          </a:xfrm>
        </p:grpSpPr>
        <p:sp>
          <p:nvSpPr>
            <p:cNvPr id="8" name="平行四边形 7"/>
            <p:cNvSpPr/>
            <p:nvPr userDrawn="1"/>
          </p:nvSpPr>
          <p:spPr>
            <a:xfrm flipH="1">
              <a:off x="609600" y="270794"/>
              <a:ext cx="464343" cy="410773"/>
            </a:xfrm>
            <a:prstGeom prst="parallelogram">
              <a:avLst>
                <a:gd name="adj" fmla="val 46610"/>
              </a:avLst>
            </a:prstGeom>
            <a:solidFill>
              <a:schemeClr val="accent1"/>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panose="00000500000000000000" pitchFamily="2" charset="-122"/>
                <a:ea typeface="HarmonyOS Sans SC" panose="00000500000000000000" pitchFamily="2" charset="-122"/>
              </a:endParaRPr>
            </a:p>
          </p:txBody>
        </p:sp>
        <p:sp>
          <p:nvSpPr>
            <p:cNvPr id="9" name="直角三角形 8"/>
            <p:cNvSpPr/>
            <p:nvPr userDrawn="1"/>
          </p:nvSpPr>
          <p:spPr>
            <a:xfrm>
              <a:off x="609600" y="366448"/>
              <a:ext cx="147637" cy="315119"/>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panose="00000500000000000000" pitchFamily="2" charset="-122"/>
                <a:ea typeface="HarmonyOS Sans SC" panose="00000500000000000000" pitchFamily="2" charset="-122"/>
              </a:endParaRPr>
            </a:p>
          </p:txBody>
        </p:sp>
      </p:grpSp>
      <p:sp>
        <p:nvSpPr>
          <p:cNvPr id="10" name="标题 1"/>
          <p:cNvSpPr>
            <a:spLocks noGrp="1"/>
          </p:cNvSpPr>
          <p:nvPr>
            <p:ph type="title" hasCustomPrompt="1"/>
          </p:nvPr>
        </p:nvSpPr>
        <p:spPr>
          <a:xfrm>
            <a:off x="1073943" y="312796"/>
            <a:ext cx="2227139" cy="430887"/>
          </a:xfrm>
          <a:prstGeom prst="rect">
            <a:avLst/>
          </a:prstGeom>
        </p:spPr>
        <p:txBody>
          <a:bodyPr wrap="none" lIns="72000" tIns="0" rIns="0" bIns="0" anchor="ctr" anchorCtr="0">
            <a:spAutoFit/>
          </a:bodyPr>
          <a:lstStyle>
            <a:lvl1pPr algn="l">
              <a:lnSpc>
                <a:spcPct val="100000"/>
              </a:lnSpc>
              <a:defRPr sz="2800" b="0" baseline="0">
                <a:solidFill>
                  <a:schemeClr val="accent1"/>
                </a:solidFill>
                <a:latin typeface="Times New Roman" panose="02020603050405020304" pitchFamily="18" charset="0"/>
                <a:ea typeface="方正小标宋简体" panose="03000509000000000000" pitchFamily="2" charset="-122"/>
              </a:defRPr>
            </a:lvl1pPr>
          </a:lstStyle>
          <a:p>
            <a:r>
              <a:rPr lang="zh-CN" altLang="en-US" dirty="0"/>
              <a:t>在此输入标题</a:t>
            </a:r>
            <a:endParaRPr lang="zh-CN" altLang="en-US" dirty="0"/>
          </a:p>
        </p:txBody>
      </p:sp>
      <p:pic>
        <p:nvPicPr>
          <p:cNvPr id="5" name="图片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12705" y="217170"/>
            <a:ext cx="1494790" cy="497840"/>
          </a:xfrm>
          <a:prstGeom prst="rect">
            <a:avLst/>
          </a:prstGeom>
        </p:spPr>
      </p:pic>
    </p:spTree>
  </p:cSld>
  <p:clrMapOvr>
    <a:masterClrMapping/>
  </p:clrMapOvr>
  <p:transition spd="slow"/>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0" name="图片 2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 y="-412753"/>
            <a:ext cx="12192001" cy="4956048"/>
          </a:xfrm>
          <a:prstGeom prst="rect">
            <a:avLst/>
          </a:prstGeom>
        </p:spPr>
      </p:pic>
      <p:sp>
        <p:nvSpPr>
          <p:cNvPr id="20" name="矩形 19"/>
          <p:cNvSpPr/>
          <p:nvPr userDrawn="1"/>
        </p:nvSpPr>
        <p:spPr>
          <a:xfrm>
            <a:off x="-5264" y="4529667"/>
            <a:ext cx="12197263" cy="2339966"/>
          </a:xfrm>
          <a:prstGeom prst="rect">
            <a:avLst/>
          </a:prstGeom>
          <a:gradFill flip="none" rotWithShape="1">
            <a:gsLst>
              <a:gs pos="100000">
                <a:schemeClr val="accent2"/>
              </a:gs>
              <a:gs pos="44000">
                <a:schemeClr val="accent1"/>
              </a:gs>
            </a:gsLst>
            <a:lin ang="0" scaled="0"/>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HarmonyOS Sans SC" panose="00000500000000000000" pitchFamily="2" charset="-122"/>
              <a:ea typeface="思源黑体 CN Regular" panose="020B0500000000000000" charset="-122"/>
              <a:cs typeface="+mn-cs"/>
            </a:endParaRPr>
          </a:p>
        </p:txBody>
      </p:sp>
      <p:sp>
        <p:nvSpPr>
          <p:cNvPr id="21" name="矩形 20"/>
          <p:cNvSpPr/>
          <p:nvPr userDrawn="1"/>
        </p:nvSpPr>
        <p:spPr>
          <a:xfrm>
            <a:off x="0" y="4463495"/>
            <a:ext cx="12192000" cy="79800"/>
          </a:xfrm>
          <a:prstGeom prst="rect">
            <a:avLst/>
          </a:prstGeom>
          <a:solidFill>
            <a:srgbClr val="D8A86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armonyOS Sans SC" panose="00000500000000000000" pitchFamily="2" charset="-122"/>
              <a:ea typeface="思源黑体 CN Regular" panose="020B0500000000000000" charset="-122"/>
              <a:cs typeface="+mn-cs"/>
            </a:endParaRPr>
          </a:p>
        </p:txBody>
      </p:sp>
      <p:grpSp>
        <p:nvGrpSpPr>
          <p:cNvPr id="2" name="组合 1"/>
          <p:cNvGrpSpPr/>
          <p:nvPr userDrawn="1"/>
        </p:nvGrpSpPr>
        <p:grpSpPr>
          <a:xfrm>
            <a:off x="1643380" y="5067935"/>
            <a:ext cx="8905240" cy="1013460"/>
            <a:chOff x="937" y="7578"/>
            <a:chExt cx="14024" cy="1596"/>
          </a:xfrm>
        </p:grpSpPr>
        <p:sp>
          <p:nvSpPr>
            <p:cNvPr id="22" name="矩形 21"/>
            <p:cNvSpPr/>
            <p:nvPr userDrawn="1"/>
          </p:nvSpPr>
          <p:spPr>
            <a:xfrm>
              <a:off x="937" y="7578"/>
              <a:ext cx="14024" cy="111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rPr>
                <a:t>广州市海珠城市建设发展集团有限公司</a:t>
              </a:r>
              <a:endParaRPr kumimoji="0" lang="zh-CN" altLang="en-US" sz="4000" b="1"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23" name="矩形 22"/>
            <p:cNvSpPr/>
            <p:nvPr userDrawn="1"/>
          </p:nvSpPr>
          <p:spPr>
            <a:xfrm>
              <a:off x="950" y="8618"/>
              <a:ext cx="13799" cy="557"/>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rPr>
                <a:t>GUANGZHOU HAIZHU CITY CONSTRUCTION AND DEVELOPMENT GROUP CO., LTD. </a:t>
              </a:r>
              <a:endParaRPr kumimoji="0" lang="fr-FR" altLang="zh-CN" sz="17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grpSp>
    </p:spTree>
  </p:cSld>
  <p:clrMapOvr>
    <a:masterClrMapping/>
  </p:clrMapOvr>
  <p:transition spd="slow"/>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3" Type="http://schemas.openxmlformats.org/officeDocument/2006/relationships/theme" Target="../theme/theme1.xml"/><Relationship Id="rId1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47.xml"/><Relationship Id="rId2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9"/>
    <p:sldLayoutId id="2147483659" r:id="rId11"/>
  </p:sldLayoutIdLst>
  <p:transition spd="slow"/>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7" r:id="rId3"/>
  </p:sldLayoutIdLst>
  <p:transition spd="slow"/>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7.xml"/><Relationship Id="rId1"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9" Type="http://schemas.openxmlformats.org/officeDocument/2006/relationships/image" Target="../media/image31.svg"/><Relationship Id="rId8" Type="http://schemas.openxmlformats.org/officeDocument/2006/relationships/image" Target="../media/image30.png"/><Relationship Id="rId7" Type="http://schemas.openxmlformats.org/officeDocument/2006/relationships/image" Target="../media/image29.svg"/><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3" Type="http://schemas.openxmlformats.org/officeDocument/2006/relationships/image" Target="../media/image25.svg"/><Relationship Id="rId2" Type="http://schemas.openxmlformats.org/officeDocument/2006/relationships/image" Target="../media/image24.png"/><Relationship Id="rId11" Type="http://schemas.openxmlformats.org/officeDocument/2006/relationships/slideLayout" Target="../slideLayouts/slideLayout11.xml"/><Relationship Id="rId10" Type="http://schemas.openxmlformats.org/officeDocument/2006/relationships/tags" Target="../tags/tag25.xml"/><Relationship Id="rId1" Type="http://schemas.openxmlformats.org/officeDocument/2006/relationships/image" Target="../media/image23.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11.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1">
            <a:extLst>
              <a:ext uri="{28A0092B-C50C-407E-A947-70E740481C1C}">
                <a14:useLocalDpi xmlns:a14="http://schemas.microsoft.com/office/drawing/2010/main" val="0"/>
              </a:ext>
            </a:extLst>
          </a:blip>
          <a:stretch>
            <a:fillRect/>
          </a:stretch>
        </p:blipFill>
        <p:spPr>
          <a:xfrm>
            <a:off x="434975" y="-104140"/>
            <a:ext cx="1494790" cy="497840"/>
          </a:xfrm>
          <a:prstGeom prst="rect">
            <a:avLst/>
          </a:prstGeom>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2"/>
          <p:cNvSpPr>
            <a:spLocks noGrp="1"/>
          </p:cNvSpPr>
          <p:nvPr>
            <p:ph type="body" sz="quarter" idx="10"/>
          </p:nvPr>
        </p:nvSpPr>
        <p:spPr>
          <a:xfrm>
            <a:off x="4157345" y="3130868"/>
            <a:ext cx="4230370" cy="838835"/>
          </a:xfrm>
        </p:spPr>
        <p:txBody>
          <a:bodyPr wrap="square"/>
          <a:lstStyle/>
          <a:p>
            <a:r>
              <a:rPr lang="zh-CN" altLang="en-US" sz="5400" dirty="0"/>
              <a:t>一、整体概况</a:t>
            </a:r>
            <a:endParaRPr lang="en-US" altLang="zh-CN" sz="5400" dirty="0"/>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a:spLocks noGrp="1" noRot="1" noMove="1" noResize="1" noEditPoints="1" noAdjustHandles="1" noChangeArrowheads="1" noChangeShapeType="1"/>
          </p:cNvSpPr>
          <p:nvPr/>
        </p:nvSpPr>
        <p:spPr>
          <a:xfrm>
            <a:off x="7411907" y="-1528121"/>
            <a:ext cx="6564524" cy="6564524"/>
          </a:xfrm>
          <a:prstGeom prst="ellipse">
            <a:avLst/>
          </a:prstGeom>
          <a:gradFill flip="none" rotWithShape="1">
            <a:gsLst>
              <a:gs pos="100000">
                <a:srgbClr val="2B579A">
                  <a:lumMod val="20000"/>
                  <a:lumOff val="80000"/>
                  <a:alpha val="0"/>
                </a:srgbClr>
              </a:gs>
              <a:gs pos="0">
                <a:srgbClr val="2B579A">
                  <a:lumMod val="60000"/>
                  <a:lumOff val="40000"/>
                  <a:alpha val="42000"/>
                </a:srgbClr>
              </a:gs>
            </a:gsLst>
            <a:path path="shape">
              <a:fillToRect l="50000" t="50000" r="50000" b="50000"/>
            </a:path>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4" name="椭圆 3"/>
          <p:cNvSpPr>
            <a:spLocks noGrp="1" noRot="1" noMove="1" noResize="1" noEditPoints="1" noAdjustHandles="1" noChangeArrowheads="1" noChangeShapeType="1"/>
          </p:cNvSpPr>
          <p:nvPr/>
        </p:nvSpPr>
        <p:spPr>
          <a:xfrm>
            <a:off x="-3629028" y="-148143"/>
            <a:ext cx="11111868" cy="11111868"/>
          </a:xfrm>
          <a:prstGeom prst="ellipse">
            <a:avLst/>
          </a:prstGeom>
          <a:gradFill flip="none" rotWithShape="1">
            <a:gsLst>
              <a:gs pos="100000">
                <a:srgbClr val="2B579A">
                  <a:lumMod val="20000"/>
                  <a:lumOff val="80000"/>
                  <a:alpha val="0"/>
                </a:srgbClr>
              </a:gs>
              <a:gs pos="0">
                <a:srgbClr val="2B579A">
                  <a:lumMod val="60000"/>
                  <a:lumOff val="40000"/>
                  <a:alpha val="35000"/>
                </a:srgbClr>
              </a:gs>
            </a:gsLst>
            <a:path path="shape">
              <a:fillToRect l="50000" t="50000" r="50000" b="50000"/>
            </a:path>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3" name="标题 2"/>
          <p:cNvSpPr>
            <a:spLocks noGrp="1"/>
          </p:cNvSpPr>
          <p:nvPr>
            <p:ph type="title"/>
          </p:nvPr>
        </p:nvSpPr>
        <p:spPr>
          <a:xfrm>
            <a:off x="1073943" y="312975"/>
            <a:ext cx="1494155" cy="430530"/>
          </a:xfrm>
        </p:spPr>
        <p:txBody>
          <a:bodyPr/>
          <a:lstStyle/>
          <a:p>
            <a:r>
              <a:rPr lang="zh-CN" altLang="en-US"/>
              <a:t>集团概况</a:t>
            </a:r>
            <a:endParaRPr lang="zh-CN" altLang="en-US"/>
          </a:p>
        </p:txBody>
      </p:sp>
      <p:sp>
        <p:nvSpPr>
          <p:cNvPr id="5" name="椭圆 4"/>
          <p:cNvSpPr>
            <a:spLocks noGrp="1" noRot="1" noMove="1" noResize="1" noEditPoints="1" noAdjustHandles="1" noChangeArrowheads="1" noChangeShapeType="1"/>
          </p:cNvSpPr>
          <p:nvPr/>
        </p:nvSpPr>
        <p:spPr>
          <a:xfrm>
            <a:off x="7285394" y="3191374"/>
            <a:ext cx="4464580" cy="4464580"/>
          </a:xfrm>
          <a:prstGeom prst="ellipse">
            <a:avLst/>
          </a:prstGeom>
          <a:gradFill flip="none" rotWithShape="1">
            <a:gsLst>
              <a:gs pos="100000">
                <a:srgbClr val="2B579A">
                  <a:lumMod val="20000"/>
                  <a:lumOff val="80000"/>
                  <a:alpha val="0"/>
                </a:srgbClr>
              </a:gs>
              <a:gs pos="0">
                <a:srgbClr val="2B579A">
                  <a:lumMod val="60000"/>
                  <a:lumOff val="40000"/>
                  <a:alpha val="74000"/>
                </a:srgbClr>
              </a:gs>
            </a:gsLst>
            <a:path path="shape">
              <a:fillToRect l="50000" t="50000" r="50000" b="50000"/>
            </a:path>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7" name="矩形 6"/>
          <p:cNvSpPr/>
          <p:nvPr/>
        </p:nvSpPr>
        <p:spPr>
          <a:xfrm>
            <a:off x="874713" y="1249680"/>
            <a:ext cx="10442575" cy="2884658"/>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8" name="矩形 7"/>
          <p:cNvSpPr/>
          <p:nvPr/>
        </p:nvSpPr>
        <p:spPr>
          <a:xfrm>
            <a:off x="874712" y="4196080"/>
            <a:ext cx="10442575" cy="2039620"/>
          </a:xfrm>
          <a:prstGeom prst="rect">
            <a:avLst/>
          </a:prstGeom>
          <a:solidFill>
            <a:sysClr val="window" lastClr="FFFFFF"/>
          </a:solidFill>
          <a:ln w="19050" cap="flat" cmpd="sng" algn="ctr">
            <a:noFill/>
            <a:prstDash val="solid"/>
            <a:miter lim="800000"/>
          </a:ln>
          <a:effectLst>
            <a:outerShdw blurRad="254000" dist="63500" dir="2700000" sx="93202" sy="93202" algn="tl" rotWithShape="0">
              <a:schemeClr val="accent1">
                <a:alpha val="40000"/>
              </a:schemeClr>
            </a:outerShdw>
          </a:effectLst>
        </p:spPr>
        <p:txBody>
          <a:bodyPr lIns="396000" rIns="180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000000"/>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000000"/>
              </a:solidFill>
              <a:effectLst/>
              <a:uLnTx/>
              <a:uFillTx/>
              <a:latin typeface="HarmonyOS Sans SC" panose="00000500000000000000" pitchFamily="2" charset="-122"/>
              <a:ea typeface="HarmonyOS Sans SC" panose="00000500000000000000"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latin typeface="HarmonyOS Sans SC" panose="00000500000000000000" pitchFamily="2" charset="-122"/>
                <a:ea typeface="HarmonyOS Sans SC" panose="00000500000000000000" pitchFamily="2" charset="-122"/>
                <a:cs typeface="+mn-cs"/>
              </a:rPr>
              <a:t>     </a:t>
            </a:r>
            <a:r>
              <a:rPr kumimoji="0" lang="zh-CN" altLang="en-US" sz="1800" b="0" i="0" u="none" strike="noStrike" kern="0" cap="none" spc="0" normalizeH="0" baseline="0" noProof="0">
                <a:ln>
                  <a:noFill/>
                </a:ln>
                <a:solidFill>
                  <a:srgbClr val="000000"/>
                </a:solidFill>
                <a:effectLst/>
                <a:uLnTx/>
                <a:uFillTx/>
                <a:latin typeface="HarmonyOS Sans SC" panose="00000500000000000000" pitchFamily="2" charset="-122"/>
                <a:ea typeface="HarmonyOS Sans SC" panose="00000500000000000000" pitchFamily="2" charset="-122"/>
                <a:cs typeface="+mn-cs"/>
              </a:rPr>
              <a:t> </a:t>
            </a:r>
            <a:endParaRPr kumimoji="0" lang="en-US" altLang="zh-CN" sz="1800" b="0" i="0" u="none" strike="noStrike" kern="0" cap="none" spc="0" normalizeH="0" baseline="0" noProof="0" dirty="0">
              <a:ln>
                <a:noFill/>
              </a:ln>
              <a:solidFill>
                <a:srgbClr val="3F3F3F"/>
              </a:solidFill>
              <a:effectLst/>
              <a:uLnTx/>
              <a:uFillTx/>
              <a:latin typeface="HarmonyOS Sans SC" panose="00000500000000000000" pitchFamily="2" charset="-122"/>
              <a:ea typeface="HarmonyOS Sans SC" panose="00000500000000000000" pitchFamily="2" charset="-122"/>
              <a:cs typeface="+mn-cs"/>
            </a:endParaRPr>
          </a:p>
        </p:txBody>
      </p:sp>
      <p:pic>
        <p:nvPicPr>
          <p:cNvPr id="9" name="图片 8" descr="建筑的摆设布局&#10;&#10;描述已自动生成"/>
          <p:cNvPicPr>
            <a:picLocks noChangeAspect="1"/>
          </p:cNvPicPr>
          <p:nvPr/>
        </p:nvPicPr>
        <p:blipFill rotWithShape="1">
          <a:blip r:embed="rId1" cstate="print"/>
          <a:srcRect l="-95"/>
          <a:stretch>
            <a:fillRect/>
          </a:stretch>
        </p:blipFill>
        <p:spPr>
          <a:xfrm>
            <a:off x="6204031" y="1249681"/>
            <a:ext cx="5113258" cy="2884658"/>
          </a:xfrm>
          <a:prstGeom prst="rect">
            <a:avLst/>
          </a:prstGeom>
        </p:spPr>
      </p:pic>
      <p:sp>
        <p:nvSpPr>
          <p:cNvPr id="10" name="矩形 9"/>
          <p:cNvSpPr/>
          <p:nvPr/>
        </p:nvSpPr>
        <p:spPr>
          <a:xfrm>
            <a:off x="874713" y="1249680"/>
            <a:ext cx="10442575" cy="2884658"/>
          </a:xfrm>
          <a:prstGeom prst="rect">
            <a:avLst/>
          </a:prstGeom>
          <a:gradFill flip="none" rotWithShape="1">
            <a:gsLst>
              <a:gs pos="52000">
                <a:srgbClr val="FFFFFF"/>
              </a:gs>
              <a:gs pos="100000">
                <a:sysClr val="window" lastClr="FFFFFF">
                  <a:alpha val="0"/>
                </a:sysClr>
              </a:gs>
              <a:gs pos="0">
                <a:sysClr val="window" lastClr="FFFFFF"/>
              </a:gs>
            </a:gsLst>
            <a:lin ang="0" scaled="1"/>
            <a:tileRect/>
          </a:gradFill>
          <a:ln w="19050" cap="flat" cmpd="sng" algn="ctr">
            <a:noFill/>
            <a:prstDash val="solid"/>
            <a:miter lim="800000"/>
          </a:ln>
          <a:effectLst>
            <a:outerShdw blurRad="265914" dist="25400" dir="2700000" sx="92853" sy="92853" algn="tl" rotWithShape="0">
              <a:schemeClr val="accent1">
                <a:alpha val="40000"/>
              </a:scheme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11" name="文本框 10"/>
          <p:cNvSpPr txBox="1"/>
          <p:nvPr/>
        </p:nvSpPr>
        <p:spPr>
          <a:xfrm>
            <a:off x="1374857" y="1556963"/>
            <a:ext cx="6371175" cy="52197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2B579A"/>
                </a:solidFill>
                <a:effectLst>
                  <a:outerShdw blurRad="50800" dist="177800" dir="2700000" sx="99000" sy="99000" algn="tl" rotWithShape="0">
                    <a:srgbClr val="2B579A">
                      <a:lumMod val="50000"/>
                      <a:alpha val="10000"/>
                    </a:srgbClr>
                  </a:outerShdw>
                </a:effectLst>
                <a:uLnTx/>
                <a:uFillTx/>
                <a:latin typeface="江城斜宋体 900W" panose="02020900000000000000" pitchFamily="18" charset="-122"/>
                <a:ea typeface="江城斜宋体 900W" panose="02020900000000000000" pitchFamily="18" charset="-122"/>
                <a:cs typeface="+mn-cs"/>
              </a:rPr>
              <a:t>广州市海珠城市建设发展集团有限公司</a:t>
            </a:r>
            <a:endParaRPr kumimoji="0" lang="zh-CN" altLang="en-US" sz="2800" b="0" i="0" u="none" strike="noStrike" kern="1200" cap="none" spc="0" normalizeH="0" baseline="0" noProof="0" dirty="0">
              <a:ln>
                <a:noFill/>
              </a:ln>
              <a:solidFill>
                <a:srgbClr val="2B579A"/>
              </a:solidFill>
              <a:effectLst>
                <a:outerShdw blurRad="50800" dist="177800" dir="2700000" sx="99000" sy="99000" algn="tl" rotWithShape="0">
                  <a:srgbClr val="2B579A">
                    <a:lumMod val="50000"/>
                    <a:alpha val="10000"/>
                  </a:srgbClr>
                </a:outerShdw>
              </a:effectLst>
              <a:uLnTx/>
              <a:uFillTx/>
              <a:latin typeface="江城斜宋体 900W" panose="02020900000000000000" pitchFamily="18" charset="-122"/>
              <a:ea typeface="江城斜宋体 900W" panose="02020900000000000000" pitchFamily="18" charset="-122"/>
              <a:cs typeface="+mn-cs"/>
            </a:endParaRPr>
          </a:p>
        </p:txBody>
      </p:sp>
      <p:sp>
        <p:nvSpPr>
          <p:cNvPr id="12" name="文本框 11"/>
          <p:cNvSpPr txBox="1"/>
          <p:nvPr/>
        </p:nvSpPr>
        <p:spPr>
          <a:xfrm>
            <a:off x="1374858" y="2186798"/>
            <a:ext cx="6449115" cy="1706880"/>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800"/>
              </a:spcAft>
              <a:buClrTx/>
              <a:buSzTx/>
              <a:buFontTx/>
              <a:buNone/>
              <a:defRPr/>
            </a:pPr>
            <a:r>
              <a:rPr kumimoji="0" lang="zh-CN" altLang="en-US" sz="1400" b="0" i="0" u="none" strike="noStrike" kern="0" cap="none" spc="0" normalizeH="0" baseline="0" noProof="0">
                <a:ln>
                  <a:noFill/>
                </a:ln>
                <a:solidFill>
                  <a:srgbClr val="3F3F3F"/>
                </a:solidFill>
                <a:effectLst/>
                <a:uLnTx/>
                <a:uFillTx/>
                <a:latin typeface="HarmonyOS Sans SC" panose="00000500000000000000" pitchFamily="2" charset="-122"/>
                <a:ea typeface="HarmonyOS Sans SC" panose="00000500000000000000" pitchFamily="2" charset="-122"/>
                <a:cs typeface="+mn-cs"/>
              </a:rPr>
              <a:t>海珠城发集团成立于</a:t>
            </a:r>
            <a:r>
              <a:rPr kumimoji="0" lang="en-US" altLang="zh-CN" sz="1400" b="0" i="0" u="none" strike="noStrike" kern="0" cap="none" spc="0" normalizeH="0" baseline="0" noProof="0" dirty="0">
                <a:ln>
                  <a:noFill/>
                </a:ln>
                <a:solidFill>
                  <a:srgbClr val="3F3F3F"/>
                </a:solidFill>
                <a:effectLst/>
                <a:uLnTx/>
                <a:uFillTx/>
                <a:latin typeface="HarmonyOS Sans SC" panose="00000500000000000000" pitchFamily="2" charset="-122"/>
                <a:ea typeface="HarmonyOS Sans SC" panose="00000500000000000000" pitchFamily="2" charset="-122"/>
                <a:cs typeface="+mn-cs"/>
              </a:rPr>
              <a:t>2022</a:t>
            </a:r>
            <a:r>
              <a:rPr kumimoji="0" lang="zh-CN" altLang="en-US" sz="1400" b="0" i="0" u="none" strike="noStrike" kern="0" cap="none" spc="0" normalizeH="0" baseline="0" noProof="0">
                <a:ln>
                  <a:noFill/>
                </a:ln>
                <a:solidFill>
                  <a:srgbClr val="3F3F3F"/>
                </a:solidFill>
                <a:effectLst/>
                <a:uLnTx/>
                <a:uFillTx/>
                <a:latin typeface="HarmonyOS Sans SC" panose="00000500000000000000" pitchFamily="2" charset="-122"/>
                <a:ea typeface="HarmonyOS Sans SC" panose="00000500000000000000" pitchFamily="2" charset="-122"/>
                <a:cs typeface="+mn-cs"/>
              </a:rPr>
              <a:t>年</a:t>
            </a:r>
            <a:r>
              <a:rPr kumimoji="0" lang="en-US" altLang="zh-CN" sz="1400" b="0" i="0" u="none" strike="noStrike" kern="0" cap="none" spc="0" normalizeH="0" baseline="0" noProof="0" dirty="0">
                <a:ln>
                  <a:noFill/>
                </a:ln>
                <a:solidFill>
                  <a:srgbClr val="3F3F3F"/>
                </a:solidFill>
                <a:effectLst/>
                <a:uLnTx/>
                <a:uFillTx/>
                <a:latin typeface="HarmonyOS Sans SC" panose="00000500000000000000" pitchFamily="2" charset="-122"/>
                <a:ea typeface="HarmonyOS Sans SC" panose="00000500000000000000" pitchFamily="2" charset="-122"/>
                <a:cs typeface="+mn-cs"/>
              </a:rPr>
              <a:t>6</a:t>
            </a:r>
            <a:r>
              <a:rPr kumimoji="0" lang="zh-CN" altLang="en-US" sz="1400" b="0" i="0" u="none" strike="noStrike" kern="0" cap="none" spc="0" normalizeH="0" baseline="0" noProof="0">
                <a:ln>
                  <a:noFill/>
                </a:ln>
                <a:solidFill>
                  <a:srgbClr val="3F3F3F"/>
                </a:solidFill>
                <a:effectLst/>
                <a:uLnTx/>
                <a:uFillTx/>
                <a:latin typeface="HarmonyOS Sans SC" panose="00000500000000000000" pitchFamily="2" charset="-122"/>
                <a:ea typeface="HarmonyOS Sans SC" panose="00000500000000000000" pitchFamily="2" charset="-122"/>
                <a:cs typeface="+mn-cs"/>
              </a:rPr>
              <a:t>月，是海珠区委、区政府重点打造的国有龙头企业。集团按照“政策引导、市场运作”等原则，覆盖投资、融资、建设、管理、招商全产业链。成立以来实现规模与质量双升，总资产超</a:t>
            </a:r>
            <a:r>
              <a:rPr kumimoji="0" lang="en-US" altLang="zh-CN" sz="1400" b="0" i="0" u="none" strike="noStrike" kern="0" cap="none" spc="0" normalizeH="0" baseline="0" noProof="0" dirty="0">
                <a:ln>
                  <a:noFill/>
                </a:ln>
                <a:solidFill>
                  <a:srgbClr val="3F3F3F"/>
                </a:solidFill>
                <a:effectLst/>
                <a:uLnTx/>
                <a:uFillTx/>
                <a:latin typeface="HarmonyOS Sans SC" panose="00000500000000000000" pitchFamily="2" charset="-122"/>
                <a:ea typeface="HarmonyOS Sans SC" panose="00000500000000000000" pitchFamily="2" charset="-122"/>
                <a:cs typeface="+mn-cs"/>
              </a:rPr>
              <a:t>220</a:t>
            </a:r>
            <a:r>
              <a:rPr kumimoji="0" lang="zh-CN" altLang="en-US" sz="1400" b="0" i="0" u="none" strike="noStrike" kern="0" cap="none" spc="0" normalizeH="0" baseline="0" noProof="0">
                <a:ln>
                  <a:noFill/>
                </a:ln>
                <a:solidFill>
                  <a:srgbClr val="3F3F3F"/>
                </a:solidFill>
                <a:effectLst/>
                <a:uLnTx/>
                <a:uFillTx/>
                <a:latin typeface="HarmonyOS Sans SC" panose="00000500000000000000" pitchFamily="2" charset="-122"/>
                <a:ea typeface="HarmonyOS Sans SC" panose="00000500000000000000" pitchFamily="2" charset="-122"/>
                <a:cs typeface="+mn-cs"/>
              </a:rPr>
              <a:t>亿元，获国内最高信用等级</a:t>
            </a:r>
            <a:r>
              <a:rPr kumimoji="0" lang="en-US" altLang="zh-CN" sz="1400" b="0" i="0" u="none" strike="noStrike" kern="0" cap="none" spc="0" normalizeH="0" baseline="0" noProof="0" dirty="0">
                <a:ln>
                  <a:noFill/>
                </a:ln>
                <a:solidFill>
                  <a:srgbClr val="3F3F3F"/>
                </a:solidFill>
                <a:effectLst/>
                <a:uLnTx/>
                <a:uFillTx/>
                <a:latin typeface="HarmonyOS Sans SC" panose="00000500000000000000" pitchFamily="2" charset="-122"/>
                <a:ea typeface="HarmonyOS Sans SC" panose="00000500000000000000" pitchFamily="2" charset="-122"/>
                <a:cs typeface="+mn-cs"/>
              </a:rPr>
              <a:t>AAA</a:t>
            </a:r>
            <a:r>
              <a:rPr kumimoji="0" lang="zh-CN" altLang="en-US" sz="1400" b="0" i="0" u="none" strike="noStrike" kern="0" cap="none" spc="0" normalizeH="0" baseline="0" noProof="0">
                <a:ln>
                  <a:noFill/>
                </a:ln>
                <a:solidFill>
                  <a:srgbClr val="3F3F3F"/>
                </a:solidFill>
                <a:effectLst/>
                <a:uLnTx/>
                <a:uFillTx/>
                <a:latin typeface="HarmonyOS Sans SC" panose="00000500000000000000" pitchFamily="2" charset="-122"/>
                <a:ea typeface="HarmonyOS Sans SC" panose="00000500000000000000" pitchFamily="2" charset="-122"/>
                <a:cs typeface="+mn-cs"/>
              </a:rPr>
              <a:t>评级。集团围绕人工智能和数字经济主方向，发挥“房东</a:t>
            </a:r>
            <a:r>
              <a:rPr kumimoji="0" lang="en-US" altLang="zh-CN" sz="1400" b="0" i="0" u="none" strike="noStrike" kern="0" cap="none" spc="0" normalizeH="0" baseline="0" noProof="0" dirty="0">
                <a:ln>
                  <a:noFill/>
                </a:ln>
                <a:solidFill>
                  <a:srgbClr val="3F3F3F"/>
                </a:solidFill>
                <a:effectLst/>
                <a:uLnTx/>
                <a:uFillTx/>
                <a:latin typeface="HarmonyOS Sans SC" panose="00000500000000000000" pitchFamily="2" charset="-122"/>
                <a:ea typeface="HarmonyOS Sans SC" panose="00000500000000000000" pitchFamily="2" charset="-122"/>
                <a:cs typeface="+mn-cs"/>
              </a:rPr>
              <a:t>+</a:t>
            </a:r>
            <a:r>
              <a:rPr kumimoji="0" lang="zh-CN" altLang="en-US" sz="1400" b="0" i="0" u="none" strike="noStrike" kern="0" cap="none" spc="0" normalizeH="0" baseline="0" noProof="0">
                <a:ln>
                  <a:noFill/>
                </a:ln>
                <a:solidFill>
                  <a:srgbClr val="3F3F3F"/>
                </a:solidFill>
                <a:effectLst/>
                <a:uLnTx/>
                <a:uFillTx/>
                <a:latin typeface="HarmonyOS Sans SC" panose="00000500000000000000" pitchFamily="2" charset="-122"/>
                <a:ea typeface="HarmonyOS Sans SC" panose="00000500000000000000" pitchFamily="2" charset="-122"/>
                <a:cs typeface="+mn-cs"/>
              </a:rPr>
              <a:t>股东”的作用，打通资产、资金和资源的闭环，迅速成长为海珠改革发展的生力军、主力军。</a:t>
            </a:r>
            <a:endParaRPr kumimoji="0" lang="zh-CN" altLang="en-US" sz="1400" b="0" i="0" u="none" strike="noStrike" kern="0" cap="none" spc="0" normalizeH="0" baseline="0" noProof="0" dirty="0">
              <a:ln>
                <a:noFill/>
              </a:ln>
              <a:solidFill>
                <a:srgbClr val="3F3F3F"/>
              </a:solidFill>
              <a:effectLst/>
              <a:uLnTx/>
              <a:uFillTx/>
              <a:latin typeface="HarmonyOS Sans SC" panose="00000500000000000000" pitchFamily="2" charset="-122"/>
              <a:ea typeface="HarmonyOS Sans SC" panose="00000500000000000000" pitchFamily="2" charset="-122"/>
              <a:cs typeface="+mn-cs"/>
            </a:endParaRPr>
          </a:p>
        </p:txBody>
      </p:sp>
      <p:sp>
        <p:nvSpPr>
          <p:cNvPr id="13" name="文本框 12"/>
          <p:cNvSpPr txBox="1"/>
          <p:nvPr/>
        </p:nvSpPr>
        <p:spPr>
          <a:xfrm>
            <a:off x="1073943" y="4444744"/>
            <a:ext cx="10044114" cy="71818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700" b="1" i="0" u="none" strike="noStrike" kern="0" cap="none" spc="0" normalizeH="0" baseline="0" noProof="0">
                <a:ln>
                  <a:noFill/>
                </a:ln>
                <a:solidFill>
                  <a:srgbClr val="2B579A"/>
                </a:solidFill>
                <a:effectLst/>
                <a:uLnTx/>
                <a:uFillTx/>
                <a:latin typeface="HarmonyOS Sans SC" panose="00000500000000000000" pitchFamily="2" charset="-122"/>
                <a:ea typeface="HarmonyOS Sans SC" panose="00000500000000000000" pitchFamily="2" charset="-122"/>
                <a:cs typeface="+mn-cs"/>
              </a:rPr>
              <a:t>集团锚定国内一流的城市发展综合运营商与全场景人工智能生态引擎，全维驱动新质生产力集聚与</a:t>
            </a:r>
            <a:endParaRPr kumimoji="0" lang="en-US" altLang="zh-CN" sz="1700" b="1" i="0" u="none" strike="noStrike" kern="0" cap="none" spc="0" normalizeH="0" baseline="0" noProof="0" dirty="0">
              <a:ln>
                <a:noFill/>
              </a:ln>
              <a:solidFill>
                <a:srgbClr val="2B579A"/>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700" b="1" i="0" u="none" strike="noStrike" kern="0" cap="none" spc="0" normalizeH="0" baseline="0" noProof="0">
                <a:ln>
                  <a:noFill/>
                </a:ln>
                <a:solidFill>
                  <a:srgbClr val="2B579A"/>
                </a:solidFill>
                <a:effectLst/>
                <a:uLnTx/>
                <a:uFillTx/>
                <a:latin typeface="HarmonyOS Sans SC" panose="00000500000000000000" pitchFamily="2" charset="-122"/>
                <a:ea typeface="HarmonyOS Sans SC" panose="00000500000000000000" pitchFamily="2" charset="-122"/>
                <a:cs typeface="+mn-cs"/>
              </a:rPr>
              <a:t>现代化产业体系高质量跃迁，为海珠产业高质量发展提供坚实支撑，以实干彰显城发担当</a:t>
            </a:r>
            <a:endParaRPr kumimoji="0" lang="zh-CN" altLang="en-US" sz="1700" b="1" i="0" u="none" strike="noStrike" kern="0" cap="none" spc="0" normalizeH="0" baseline="0" noProof="0" dirty="0">
              <a:ln>
                <a:noFill/>
              </a:ln>
              <a:solidFill>
                <a:srgbClr val="2B579A"/>
              </a:solidFill>
              <a:effectLst/>
              <a:uLnTx/>
              <a:uFillTx/>
              <a:latin typeface="HarmonyOS Sans SC" panose="00000500000000000000" pitchFamily="2" charset="-122"/>
              <a:ea typeface="HarmonyOS Sans SC" panose="00000500000000000000" pitchFamily="2" charset="-122"/>
              <a:cs typeface="+mn-cs"/>
            </a:endParaRPr>
          </a:p>
        </p:txBody>
      </p:sp>
      <p:pic>
        <p:nvPicPr>
          <p:cNvPr id="22" name="图形 2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86186" y="5321715"/>
            <a:ext cx="540000" cy="540000"/>
          </a:xfrm>
          <a:prstGeom prst="rect">
            <a:avLst/>
          </a:prstGeom>
        </p:spPr>
      </p:pic>
      <p:pic>
        <p:nvPicPr>
          <p:cNvPr id="24" name="图形 2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47902" y="5321715"/>
            <a:ext cx="575100" cy="540000"/>
          </a:xfrm>
          <a:prstGeom prst="rect">
            <a:avLst/>
          </a:prstGeom>
        </p:spPr>
      </p:pic>
      <p:pic>
        <p:nvPicPr>
          <p:cNvPr id="26" name="图形 25"/>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53142" y="5321715"/>
            <a:ext cx="540000" cy="540000"/>
          </a:xfrm>
          <a:prstGeom prst="rect">
            <a:avLst/>
          </a:prstGeom>
        </p:spPr>
      </p:pic>
      <p:pic>
        <p:nvPicPr>
          <p:cNvPr id="28" name="图形 27"/>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21258" y="5321715"/>
            <a:ext cx="540000" cy="540000"/>
          </a:xfrm>
          <a:prstGeom prst="rect">
            <a:avLst/>
          </a:prstGeom>
        </p:spPr>
      </p:pic>
      <p:sp>
        <p:nvSpPr>
          <p:cNvPr id="29" name="文本框 28"/>
          <p:cNvSpPr txBox="1"/>
          <p:nvPr/>
        </p:nvSpPr>
        <p:spPr>
          <a:xfrm>
            <a:off x="1961258" y="5382223"/>
            <a:ext cx="1188720" cy="409575"/>
          </a:xfrm>
          <a:prstGeom prst="rect">
            <a:avLst/>
          </a:prstGeom>
          <a:no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srgbClr val="4D4D4D"/>
                </a:solidFill>
                <a:effectLst/>
                <a:uLnTx/>
                <a:uFillTx/>
                <a:latin typeface="微软雅黑" panose="020B0503020204020204" charset="-122"/>
                <a:ea typeface="微软雅黑" panose="020B0503020204020204" charset="-122"/>
                <a:cs typeface="创客贴金刚体" panose="00020600040101010101" pitchFamily="18" charset="-122"/>
              </a:rPr>
              <a:t>未来科技</a:t>
            </a:r>
            <a:endParaRPr kumimoji="0" lang="zh-CN" altLang="en-US" sz="2200" b="1" i="0" u="none" strike="noStrike" kern="1200" cap="none" spc="0" normalizeH="0" baseline="0" noProof="0">
              <a:ln>
                <a:noFill/>
              </a:ln>
              <a:solidFill>
                <a:srgbClr val="4D4D4D"/>
              </a:solidFill>
              <a:effectLst/>
              <a:uLnTx/>
              <a:uFillTx/>
              <a:latin typeface="微软雅黑" panose="020B0503020204020204" charset="-122"/>
              <a:ea typeface="微软雅黑" panose="020B0503020204020204" charset="-122"/>
              <a:cs typeface="创客贴金刚体" panose="00020600040101010101" pitchFamily="18" charset="-122"/>
            </a:endParaRPr>
          </a:p>
        </p:txBody>
      </p:sp>
      <p:sp>
        <p:nvSpPr>
          <p:cNvPr id="30" name="文本框 29"/>
          <p:cNvSpPr txBox="1"/>
          <p:nvPr/>
        </p:nvSpPr>
        <p:spPr>
          <a:xfrm>
            <a:off x="4127538" y="5382223"/>
            <a:ext cx="1188720" cy="409575"/>
          </a:xfrm>
          <a:prstGeom prst="rect">
            <a:avLst/>
          </a:prstGeom>
          <a:no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srgbClr val="4D4D4D"/>
                </a:solidFill>
                <a:effectLst/>
                <a:uLnTx/>
                <a:uFillTx/>
                <a:latin typeface="微软雅黑" panose="020B0503020204020204" charset="-122"/>
                <a:ea typeface="微软雅黑" panose="020B0503020204020204" charset="-122"/>
                <a:cs typeface="创客贴金刚体" panose="00020600040101010101" pitchFamily="18" charset="-122"/>
              </a:rPr>
              <a:t>主导产业</a:t>
            </a:r>
            <a:endParaRPr kumimoji="0" lang="zh-CN" altLang="en-US" sz="2200" b="1" i="0" u="none" strike="noStrike" kern="1200" cap="none" spc="0" normalizeH="0" baseline="0" noProof="0">
              <a:ln>
                <a:noFill/>
              </a:ln>
              <a:solidFill>
                <a:srgbClr val="4D4D4D"/>
              </a:solidFill>
              <a:effectLst/>
              <a:uLnTx/>
              <a:uFillTx/>
              <a:latin typeface="微软雅黑" panose="020B0503020204020204" charset="-122"/>
              <a:ea typeface="微软雅黑" panose="020B0503020204020204" charset="-122"/>
              <a:cs typeface="创客贴金刚体" panose="00020600040101010101" pitchFamily="18" charset="-122"/>
            </a:endParaRPr>
          </a:p>
        </p:txBody>
      </p:sp>
      <p:sp>
        <p:nvSpPr>
          <p:cNvPr id="31" name="文本框 30"/>
          <p:cNvSpPr txBox="1"/>
          <p:nvPr/>
        </p:nvSpPr>
        <p:spPr>
          <a:xfrm>
            <a:off x="6293818" y="5382223"/>
            <a:ext cx="1747520" cy="409575"/>
          </a:xfrm>
          <a:prstGeom prst="rect">
            <a:avLst/>
          </a:prstGeom>
          <a:no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srgbClr val="4D4D4D"/>
                </a:solidFill>
                <a:effectLst/>
                <a:uLnTx/>
                <a:uFillTx/>
                <a:latin typeface="微软雅黑" panose="020B0503020204020204" charset="-122"/>
                <a:ea typeface="微软雅黑" panose="020B0503020204020204" charset="-122"/>
                <a:cs typeface="创客贴金刚体" panose="00020600040101010101" pitchFamily="18" charset="-122"/>
              </a:rPr>
              <a:t>科技基础设施</a:t>
            </a:r>
            <a:endParaRPr kumimoji="0" lang="zh-CN" altLang="en-US" sz="2200" b="1" i="0" u="none" strike="noStrike" kern="1200" cap="none" spc="0" normalizeH="0" baseline="0" noProof="0">
              <a:ln>
                <a:noFill/>
              </a:ln>
              <a:solidFill>
                <a:srgbClr val="4D4D4D"/>
              </a:solidFill>
              <a:effectLst/>
              <a:uLnTx/>
              <a:uFillTx/>
              <a:latin typeface="微软雅黑" panose="020B0503020204020204" charset="-122"/>
              <a:ea typeface="微软雅黑" panose="020B0503020204020204" charset="-122"/>
              <a:cs typeface="创客贴金刚体" panose="00020600040101010101" pitchFamily="18" charset="-122"/>
            </a:endParaRPr>
          </a:p>
        </p:txBody>
      </p:sp>
      <p:sp>
        <p:nvSpPr>
          <p:cNvPr id="32" name="文本框 31"/>
          <p:cNvSpPr txBox="1"/>
          <p:nvPr/>
        </p:nvSpPr>
        <p:spPr>
          <a:xfrm>
            <a:off x="9024354" y="5382223"/>
            <a:ext cx="1747520" cy="409575"/>
          </a:xfrm>
          <a:prstGeom prst="rect">
            <a:avLst/>
          </a:prstGeom>
          <a:no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srgbClr val="4D4D4D"/>
                </a:solidFill>
                <a:effectLst/>
                <a:uLnTx/>
                <a:uFillTx/>
                <a:latin typeface="微软雅黑" panose="020B0503020204020204" charset="-122"/>
                <a:ea typeface="微软雅黑" panose="020B0503020204020204" charset="-122"/>
                <a:cs typeface="创客贴金刚体" panose="00020600040101010101" pitchFamily="18" charset="-122"/>
              </a:rPr>
              <a:t>科技应用场景</a:t>
            </a:r>
            <a:endParaRPr kumimoji="0" lang="zh-CN" altLang="en-US" sz="2200" b="1" i="0" u="none" strike="noStrike" kern="1200" cap="none" spc="0" normalizeH="0" baseline="0" noProof="0">
              <a:ln>
                <a:noFill/>
              </a:ln>
              <a:solidFill>
                <a:srgbClr val="4D4D4D"/>
              </a:solidFill>
              <a:effectLst/>
              <a:uLnTx/>
              <a:uFillTx/>
              <a:latin typeface="微软雅黑" panose="020B0503020204020204" charset="-122"/>
              <a:ea typeface="微软雅黑" panose="020B0503020204020204" charset="-122"/>
              <a:cs typeface="创客贴金刚体" panose="00020600040101010101" pitchFamily="18" charset="-122"/>
            </a:endParaRPr>
          </a:p>
        </p:txBody>
      </p:sp>
    </p:spTree>
    <p:custDataLst>
      <p:tags r:id="rId10"/>
    </p:custData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073943" y="312975"/>
            <a:ext cx="2205355" cy="430530"/>
          </a:xfrm>
        </p:spPr>
        <p:txBody>
          <a:bodyPr/>
          <a:lstStyle/>
          <a:p>
            <a:r>
              <a:rPr lang="zh-CN" altLang="en-US"/>
              <a:t>业务战略地图</a:t>
            </a:r>
            <a:endParaRPr lang="zh-CN" altLang="en-US"/>
          </a:p>
        </p:txBody>
      </p:sp>
      <p:sp>
        <p:nvSpPr>
          <p:cNvPr id="29" name="矩形 28"/>
          <p:cNvSpPr/>
          <p:nvPr/>
        </p:nvSpPr>
        <p:spPr>
          <a:xfrm>
            <a:off x="609600" y="1028701"/>
            <a:ext cx="492760" cy="1981199"/>
          </a:xfrm>
          <a:prstGeom prst="rect">
            <a:avLst/>
          </a:prstGeom>
          <a:gradFill flip="none" rotWithShape="1">
            <a:gsLst>
              <a:gs pos="0">
                <a:srgbClr val="5B8CC8"/>
              </a:gs>
              <a:gs pos="100000">
                <a:srgbClr val="64A1D7"/>
              </a:gs>
            </a:gsLst>
            <a:lin ang="16200000" scaled="1"/>
            <a:tileRect/>
          </a:gradFill>
          <a:ln w="19050" cap="flat" cmpd="sng" algn="ctr">
            <a:noFill/>
            <a:prstDash val="solid"/>
            <a:miter lim="800000"/>
          </a:ln>
          <a:effectLst/>
        </p:spPr>
        <p:style>
          <a:lnRef idx="2">
            <a:srgbClr val="364583">
              <a:shade val="15000"/>
            </a:srgbClr>
          </a:lnRef>
          <a:fillRef idx="1">
            <a:srgbClr val="364583"/>
          </a:fillRef>
          <a:effectRef idx="0">
            <a:srgbClr val="364583"/>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rPr>
              <a:t>战略性</a:t>
            </a:r>
            <a:endParaRPr kumimoji="0" lang="zh-CN" altLang="en-US" sz="1600" b="1"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30" name="矩形 29"/>
          <p:cNvSpPr/>
          <p:nvPr/>
        </p:nvSpPr>
        <p:spPr>
          <a:xfrm>
            <a:off x="609600" y="3106155"/>
            <a:ext cx="492760" cy="1832504"/>
          </a:xfrm>
          <a:prstGeom prst="rect">
            <a:avLst/>
          </a:prstGeom>
          <a:gradFill flip="none" rotWithShape="1">
            <a:gsLst>
              <a:gs pos="0">
                <a:srgbClr val="4266B0"/>
              </a:gs>
              <a:gs pos="100000">
                <a:srgbClr val="5377BA"/>
              </a:gs>
            </a:gsLst>
            <a:lin ang="16200000" scaled="1"/>
            <a:tileRect/>
          </a:gradFill>
          <a:ln w="19050" cap="flat" cmpd="sng" algn="ctr">
            <a:noFill/>
            <a:prstDash val="solid"/>
            <a:miter lim="800000"/>
          </a:ln>
          <a:effectLst/>
        </p:spPr>
        <p:style>
          <a:lnRef idx="2">
            <a:srgbClr val="364583">
              <a:shade val="15000"/>
            </a:srgbClr>
          </a:lnRef>
          <a:fillRef idx="1">
            <a:srgbClr val="364583"/>
          </a:fillRef>
          <a:effectRef idx="0">
            <a:srgbClr val="364583"/>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rPr>
              <a:t>功能性</a:t>
            </a:r>
            <a:endParaRPr kumimoji="0" lang="zh-CN" altLang="en-US" sz="1600" b="1"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31" name="矩形 30"/>
          <p:cNvSpPr/>
          <p:nvPr/>
        </p:nvSpPr>
        <p:spPr>
          <a:xfrm>
            <a:off x="609600" y="5034915"/>
            <a:ext cx="492760" cy="1200785"/>
          </a:xfrm>
          <a:prstGeom prst="rect">
            <a:avLst/>
          </a:prstGeom>
          <a:gradFill flip="none" rotWithShape="1">
            <a:gsLst>
              <a:gs pos="100000">
                <a:srgbClr val="3156A7"/>
              </a:gs>
              <a:gs pos="0">
                <a:srgbClr val="364583"/>
              </a:gs>
            </a:gsLst>
            <a:lin ang="16200000" scaled="1"/>
            <a:tileRect/>
          </a:gradFill>
          <a:ln w="19050" cap="flat" cmpd="sng" algn="ctr">
            <a:noFill/>
            <a:prstDash val="solid"/>
            <a:miter lim="800000"/>
          </a:ln>
          <a:effectLst/>
        </p:spPr>
        <p:style>
          <a:lnRef idx="2">
            <a:srgbClr val="364583">
              <a:shade val="15000"/>
            </a:srgbClr>
          </a:lnRef>
          <a:fillRef idx="1">
            <a:srgbClr val="364583"/>
          </a:fillRef>
          <a:effectRef idx="0">
            <a:srgbClr val="364583"/>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rPr>
              <a:t>市场化</a:t>
            </a:r>
            <a:endParaRPr kumimoji="0" lang="zh-CN" altLang="en-US" sz="1000" b="0" i="0" u="none" strike="noStrike" kern="1200" cap="none" spc="0" normalizeH="0" baseline="0" noProof="0">
              <a:ln>
                <a:noFill/>
              </a:ln>
              <a:solidFill>
                <a:sysClr val="window" lastClr="FFFFFF"/>
              </a:solidFill>
              <a:effectLst/>
              <a:uLnTx/>
              <a:uFillTx/>
              <a:latin typeface="HarmonyOS Sans SC" panose="00000500000000000000" pitchFamily="2" charset="-122"/>
              <a:ea typeface="HarmonyOS Sans SC" panose="00000500000000000000" pitchFamily="2" charset="-122"/>
              <a:cs typeface="+mn-cs"/>
            </a:endParaRPr>
          </a:p>
        </p:txBody>
      </p:sp>
      <p:graphicFrame>
        <p:nvGraphicFramePr>
          <p:cNvPr id="73" name="表格 72"/>
          <p:cNvGraphicFramePr>
            <a:graphicFrameLocks noGrp="1"/>
          </p:cNvGraphicFramePr>
          <p:nvPr/>
        </p:nvGraphicFramePr>
        <p:xfrm>
          <a:off x="1155698" y="1028700"/>
          <a:ext cx="8745540" cy="1981198"/>
        </p:xfrm>
        <a:graphic>
          <a:graphicData uri="http://schemas.openxmlformats.org/drawingml/2006/table">
            <a:tbl>
              <a:tblPr firstRow="1" bandRow="1">
                <a:tableStyleId>{5C22544A-7EE6-4342-B048-85BDC9FD1C3A}</a:tableStyleId>
              </a:tblPr>
              <a:tblGrid>
                <a:gridCol w="2186385"/>
                <a:gridCol w="2186385"/>
                <a:gridCol w="2186385"/>
                <a:gridCol w="2186385"/>
              </a:tblGrid>
              <a:tr h="1981198">
                <a:tc>
                  <a:txBody>
                    <a:bodyPr/>
                    <a:lstStyle/>
                    <a:p>
                      <a:pPr algn="ctr"/>
                      <a:r>
                        <a:rPr lang="zh-CN" altLang="en-US">
                          <a:solidFill>
                            <a:schemeClr val="tx1"/>
                          </a:solidFill>
                          <a:latin typeface="HarmonyOS Sans SC" panose="00000500000000000000" pitchFamily="2" charset="-122"/>
                          <a:ea typeface="HarmonyOS Sans SC" panose="00000500000000000000" pitchFamily="2" charset="-122"/>
                        </a:rPr>
                        <a:t>做强主导产业</a:t>
                      </a:r>
                      <a:endParaRPr lang="en-US" altLang="zh-CN" dirty="0">
                        <a:solidFill>
                          <a:schemeClr val="tx1"/>
                        </a:solidFill>
                      </a:endParaRPr>
                    </a:p>
                    <a:p>
                      <a:pPr algn="ctr"/>
                      <a:r>
                        <a:rPr lang="zh-CN" altLang="en-US" sz="1100" b="0">
                          <a:solidFill>
                            <a:schemeClr val="tx1"/>
                          </a:solidFill>
                          <a:latin typeface="HarmonyOS Sans SC" panose="00000500000000000000" pitchFamily="2" charset="-122"/>
                          <a:ea typeface="HarmonyOS Sans SC" panose="00000500000000000000" pitchFamily="2" charset="-122"/>
                        </a:rPr>
                        <a:t>加强</a:t>
                      </a:r>
                      <a:r>
                        <a:rPr lang="en-US" altLang="zh-CN" sz="1100" b="0" dirty="0">
                          <a:solidFill>
                            <a:schemeClr val="tx1"/>
                          </a:solidFill>
                          <a:latin typeface="HarmonyOS Sans SC" panose="00000500000000000000" pitchFamily="2" charset="-122"/>
                          <a:ea typeface="HarmonyOS Sans SC" panose="00000500000000000000" pitchFamily="2" charset="-122"/>
                        </a:rPr>
                        <a:t>AI</a:t>
                      </a:r>
                      <a:r>
                        <a:rPr lang="zh-CN" altLang="en-US" sz="1100" b="0">
                          <a:solidFill>
                            <a:schemeClr val="tx1"/>
                          </a:solidFill>
                          <a:latin typeface="HarmonyOS Sans SC" panose="00000500000000000000" pitchFamily="2" charset="-122"/>
                          <a:ea typeface="HarmonyOS Sans SC" panose="00000500000000000000" pitchFamily="2" charset="-122"/>
                        </a:rPr>
                        <a:t>主线投资引领，驱动关联产业协同发展</a:t>
                      </a:r>
                      <a:endParaRPr lang="en-US" altLang="zh-CN" sz="1100" b="0" dirty="0">
                        <a:solidFill>
                          <a:schemeClr val="tx1"/>
                        </a:solidFill>
                        <a:latin typeface="HarmonyOS Sans SC" panose="00000500000000000000" pitchFamily="2" charset="-122"/>
                        <a:ea typeface="HarmonyOS Sans SC" panose="00000500000000000000" pitchFamily="2" charset="-122"/>
                      </a:endParaRPr>
                    </a:p>
                  </a:txBody>
                  <a:tcPr marL="108000" marR="108000" marT="72000">
                    <a:lnL w="12700" cmpd="sng">
                      <a:noFill/>
                    </a:lnL>
                    <a:lnR w="381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alpha val="70000"/>
                      </a:schemeClr>
                    </a:solidFill>
                  </a:tcPr>
                </a:tc>
                <a:tc>
                  <a:txBody>
                    <a:bodyPr/>
                    <a:lstStyle/>
                    <a:p>
                      <a:pPr algn="ctr"/>
                      <a:r>
                        <a:rPr lang="zh-CN" altLang="en-US">
                          <a:solidFill>
                            <a:schemeClr val="tx1"/>
                          </a:solidFill>
                          <a:latin typeface="HarmonyOS Sans SC" panose="00000500000000000000" pitchFamily="2" charset="-122"/>
                          <a:ea typeface="HarmonyOS Sans SC" panose="00000500000000000000" pitchFamily="2" charset="-122"/>
                        </a:rPr>
                        <a:t>培优未来产业</a:t>
                      </a:r>
                      <a:endParaRPr lang="en-US" altLang="zh-CN" dirty="0">
                        <a:solidFill>
                          <a:schemeClr val="tx1"/>
                        </a:solidFill>
                      </a:endParaRPr>
                    </a:p>
                    <a:p>
                      <a:pPr algn="ctr"/>
                      <a:r>
                        <a:rPr lang="zh-CN" altLang="en-US" sz="1100" b="0">
                          <a:solidFill>
                            <a:schemeClr val="tx1"/>
                          </a:solidFill>
                          <a:latin typeface="HarmonyOS Sans SC" panose="00000500000000000000" pitchFamily="2" charset="-122"/>
                          <a:ea typeface="HarmonyOS Sans SC" panose="00000500000000000000" pitchFamily="2" charset="-122"/>
                        </a:rPr>
                        <a:t>前瞻布局未来赛道，以投资卡位关键节点，打造新增长极</a:t>
                      </a:r>
                      <a:endParaRPr lang="en-US" altLang="zh-CN" sz="1100" b="0" dirty="0">
                        <a:solidFill>
                          <a:schemeClr val="tx1"/>
                        </a:solidFill>
                        <a:latin typeface="HarmonyOS Sans SC" panose="00000500000000000000" pitchFamily="2" charset="-122"/>
                        <a:ea typeface="HarmonyOS Sans SC" panose="00000500000000000000" pitchFamily="2" charset="-122"/>
                      </a:endParaRPr>
                    </a:p>
                  </a:txBody>
                  <a:tcPr marL="108000" marR="108000" marT="7200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alpha val="70000"/>
                      </a:schemeClr>
                    </a:solidFill>
                  </a:tcPr>
                </a:tc>
                <a:tc>
                  <a:txBody>
                    <a:bodyPr/>
                    <a:lstStyle/>
                    <a:p>
                      <a:pPr algn="ctr"/>
                      <a:r>
                        <a:rPr lang="zh-CN" altLang="en-US">
                          <a:solidFill>
                            <a:schemeClr val="tx1"/>
                          </a:solidFill>
                          <a:latin typeface="HarmonyOS Sans SC" panose="00000500000000000000" pitchFamily="2" charset="-122"/>
                          <a:ea typeface="HarmonyOS Sans SC" panose="00000500000000000000" pitchFamily="2" charset="-122"/>
                        </a:rPr>
                        <a:t>搭建科技基础设施</a:t>
                      </a:r>
                      <a:endParaRPr lang="en-US" altLang="zh-CN" dirty="0">
                        <a:solidFill>
                          <a:schemeClr val="tx1"/>
                        </a:solidFill>
                      </a:endParaRPr>
                    </a:p>
                    <a:p>
                      <a:pPr algn="ctr"/>
                      <a:r>
                        <a:rPr lang="zh-CN" altLang="en-US" sz="1100" b="0">
                          <a:solidFill>
                            <a:schemeClr val="tx1"/>
                          </a:solidFill>
                          <a:latin typeface="HarmonyOS Sans SC" panose="00000500000000000000" pitchFamily="2" charset="-122"/>
                          <a:ea typeface="HarmonyOS Sans SC" panose="00000500000000000000" pitchFamily="2" charset="-122"/>
                        </a:rPr>
                        <a:t>构建覆盖</a:t>
                      </a:r>
                      <a:r>
                        <a:rPr lang="en-US" altLang="zh-CN" sz="1100" b="0" dirty="0">
                          <a:solidFill>
                            <a:schemeClr val="tx1"/>
                          </a:solidFill>
                          <a:latin typeface="HarmonyOS Sans SC" panose="00000500000000000000" pitchFamily="2" charset="-122"/>
                          <a:ea typeface="HarmonyOS Sans SC" panose="00000500000000000000" pitchFamily="2" charset="-122"/>
                        </a:rPr>
                        <a:t>AI</a:t>
                      </a:r>
                      <a:r>
                        <a:rPr lang="zh-CN" altLang="en-US" sz="1100" b="0">
                          <a:solidFill>
                            <a:schemeClr val="tx1"/>
                          </a:solidFill>
                          <a:latin typeface="HarmonyOS Sans SC" panose="00000500000000000000" pitchFamily="2" charset="-122"/>
                          <a:ea typeface="HarmonyOS Sans SC" panose="00000500000000000000" pitchFamily="2" charset="-122"/>
                        </a:rPr>
                        <a:t>全链条的科技基础设施体系，系统性支撑产业发展</a:t>
                      </a:r>
                      <a:endParaRPr lang="en-US" altLang="zh-CN" sz="1100" b="0" dirty="0">
                        <a:solidFill>
                          <a:schemeClr val="tx1"/>
                        </a:solidFill>
                        <a:latin typeface="HarmonyOS Sans SC" panose="00000500000000000000" pitchFamily="2" charset="-122"/>
                        <a:ea typeface="HarmonyOS Sans SC" panose="00000500000000000000" pitchFamily="2" charset="-122"/>
                      </a:endParaRPr>
                    </a:p>
                    <a:p>
                      <a:endParaRPr lang="en-US" altLang="zh-CN" sz="1200" b="0" dirty="0">
                        <a:solidFill>
                          <a:schemeClr val="tx1"/>
                        </a:solidFill>
                      </a:endParaRPr>
                    </a:p>
                    <a:p>
                      <a:endParaRPr lang="zh-CN" altLang="en-US" sz="1200" b="0">
                        <a:solidFill>
                          <a:schemeClr val="tx1"/>
                        </a:solidFill>
                      </a:endParaRPr>
                    </a:p>
                  </a:txBody>
                  <a:tcPr marL="108000" marR="108000" marT="7200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alpha val="70000"/>
                      </a:schemeClr>
                    </a:solidFill>
                  </a:tcPr>
                </a:tc>
                <a:tc>
                  <a:txBody>
                    <a:bodyPr/>
                    <a:lstStyle/>
                    <a:p>
                      <a:pPr algn="ctr"/>
                      <a:r>
                        <a:rPr lang="zh-CN" altLang="en-US">
                          <a:solidFill>
                            <a:schemeClr val="tx1"/>
                          </a:solidFill>
                          <a:latin typeface="HarmonyOS Sans SC" panose="00000500000000000000" pitchFamily="2" charset="-122"/>
                          <a:ea typeface="HarmonyOS Sans SC" panose="00000500000000000000" pitchFamily="2" charset="-122"/>
                        </a:rPr>
                        <a:t>拓展应用场景</a:t>
                      </a:r>
                      <a:endParaRPr lang="en-US" altLang="zh-CN" dirty="0">
                        <a:solidFill>
                          <a:schemeClr val="tx1"/>
                        </a:solidFill>
                      </a:endParaRPr>
                    </a:p>
                    <a:p>
                      <a:pPr algn="ctr"/>
                      <a:r>
                        <a:rPr lang="zh-CN" altLang="en-US" sz="1100" b="0">
                          <a:solidFill>
                            <a:schemeClr val="tx1"/>
                          </a:solidFill>
                          <a:latin typeface="HarmonyOS Sans SC" panose="00000500000000000000" pitchFamily="2" charset="-122"/>
                          <a:ea typeface="HarmonyOS Sans SC" panose="00000500000000000000" pitchFamily="2" charset="-122"/>
                        </a:rPr>
                        <a:t>以规模化商业示范为核心，率先打造五大商业示范场景</a:t>
                      </a:r>
                      <a:endParaRPr lang="en-US" altLang="zh-CN" sz="1100" b="0" dirty="0">
                        <a:solidFill>
                          <a:schemeClr val="tx1"/>
                        </a:solidFill>
                        <a:latin typeface="HarmonyOS Sans SC" panose="00000500000000000000" pitchFamily="2" charset="-122"/>
                        <a:ea typeface="HarmonyOS Sans SC" panose="00000500000000000000" pitchFamily="2" charset="-122"/>
                      </a:endParaRPr>
                    </a:p>
                    <a:p>
                      <a:endParaRPr lang="en-US" altLang="zh-CN" sz="1200" b="0" dirty="0">
                        <a:solidFill>
                          <a:schemeClr val="tx1"/>
                        </a:solidFill>
                      </a:endParaRPr>
                    </a:p>
                    <a:p>
                      <a:endParaRPr lang="zh-CN" altLang="en-US" sz="1200" b="0">
                        <a:solidFill>
                          <a:schemeClr val="tx1"/>
                        </a:solidFill>
                      </a:endParaRPr>
                    </a:p>
                  </a:txBody>
                  <a:tcPr marL="108000" marR="108000" marT="72000">
                    <a:lnL w="381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alpha val="70000"/>
                      </a:schemeClr>
                    </a:solidFill>
                  </a:tcPr>
                </a:tc>
              </a:tr>
            </a:tbl>
          </a:graphicData>
        </a:graphic>
      </p:graphicFrame>
      <p:graphicFrame>
        <p:nvGraphicFramePr>
          <p:cNvPr id="74" name="表格 73"/>
          <p:cNvGraphicFramePr>
            <a:graphicFrameLocks noGrp="1"/>
          </p:cNvGraphicFramePr>
          <p:nvPr/>
        </p:nvGraphicFramePr>
        <p:xfrm>
          <a:off x="9959341" y="1028699"/>
          <a:ext cx="1623060" cy="1981196"/>
        </p:xfrm>
        <a:graphic>
          <a:graphicData uri="http://schemas.openxmlformats.org/drawingml/2006/table">
            <a:tbl>
              <a:tblPr firstRow="1" bandRow="1">
                <a:tableStyleId>{5C22544A-7EE6-4342-B048-85BDC9FD1C3A}</a:tableStyleId>
              </a:tblPr>
              <a:tblGrid>
                <a:gridCol w="1623060"/>
              </a:tblGrid>
              <a:tr h="495299">
                <a:tc>
                  <a:txBody>
                    <a:bodyPr/>
                    <a:lstStyle/>
                    <a:p>
                      <a:pPr algn="ctr"/>
                      <a:r>
                        <a:rPr lang="zh-CN" altLang="en-US" sz="1200" b="1">
                          <a:solidFill>
                            <a:schemeClr val="bg1"/>
                          </a:solidFill>
                          <a:latin typeface="HarmonyOS Sans SC" panose="00000500000000000000" pitchFamily="2" charset="-122"/>
                          <a:ea typeface="HarmonyOS Sans SC" panose="00000500000000000000" pitchFamily="2" charset="-122"/>
                        </a:rPr>
                        <a:t>数字经济公司</a:t>
                      </a:r>
                      <a:endParaRPr lang="zh-CN" altLang="en-US" sz="1200" b="1">
                        <a:solidFill>
                          <a:schemeClr val="bg1"/>
                        </a:solidFill>
                        <a:latin typeface="HarmonyOS Sans SC" panose="00000500000000000000" pitchFamily="2" charset="-122"/>
                        <a:ea typeface="HarmonyOS Sans SC" panose="00000500000000000000" pitchFamily="2" charset="-122"/>
                      </a:endParaRPr>
                    </a:p>
                  </a:txBody>
                  <a:tcPr marL="0" marR="0" marT="0" marB="0"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r>
              <a:tr h="495299">
                <a:tc>
                  <a:txBody>
                    <a:bodyPr/>
                    <a:lstStyle/>
                    <a:p>
                      <a:pPr algn="ctr"/>
                      <a:r>
                        <a:rPr lang="zh-CN" altLang="en-US" sz="1200" b="1">
                          <a:solidFill>
                            <a:schemeClr val="bg1"/>
                          </a:solidFill>
                          <a:latin typeface="HarmonyOS Sans SC" panose="00000500000000000000" pitchFamily="2" charset="-122"/>
                          <a:ea typeface="HarmonyOS Sans SC" panose="00000500000000000000" pitchFamily="2" charset="-122"/>
                        </a:rPr>
                        <a:t>琶洲资本公司</a:t>
                      </a:r>
                      <a:endParaRPr lang="zh-CN" altLang="en-US" sz="1200" b="1">
                        <a:solidFill>
                          <a:schemeClr val="bg1"/>
                        </a:solidFill>
                        <a:latin typeface="HarmonyOS Sans SC" panose="00000500000000000000" pitchFamily="2" charset="-122"/>
                        <a:ea typeface="HarmonyOS Sans SC" panose="00000500000000000000" pitchFamily="2" charset="-122"/>
                      </a:endParaRPr>
                    </a:p>
                  </a:txBody>
                  <a:tcPr marL="0" marR="0" marT="0" marB="0"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r>
              <a:tr h="495299">
                <a:tc>
                  <a:txBody>
                    <a:bodyPr/>
                    <a:lstStyle/>
                    <a:p>
                      <a:pPr algn="ctr"/>
                      <a:r>
                        <a:rPr lang="zh-CN" altLang="en-US" sz="1200" b="1">
                          <a:solidFill>
                            <a:schemeClr val="bg1"/>
                          </a:solidFill>
                          <a:latin typeface="HarmonyOS Sans SC" panose="00000500000000000000" pitchFamily="2" charset="-122"/>
                          <a:ea typeface="HarmonyOS Sans SC" panose="00000500000000000000" pitchFamily="2" charset="-122"/>
                        </a:rPr>
                        <a:t>大模型生态公司</a:t>
                      </a:r>
                      <a:endParaRPr lang="zh-CN" altLang="en-US" sz="1200" b="1">
                        <a:solidFill>
                          <a:schemeClr val="bg1"/>
                        </a:solidFill>
                        <a:latin typeface="HarmonyOS Sans SC" panose="00000500000000000000" pitchFamily="2" charset="-122"/>
                        <a:ea typeface="HarmonyOS Sans SC" panose="00000500000000000000" pitchFamily="2" charset="-122"/>
                      </a:endParaRPr>
                    </a:p>
                  </a:txBody>
                  <a:tcPr marL="0" marR="0" marT="0" marB="0"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r>
              <a:tr h="495299">
                <a:tc>
                  <a:txBody>
                    <a:bodyPr/>
                    <a:lstStyle/>
                    <a:p>
                      <a:pPr algn="ctr"/>
                      <a:r>
                        <a:rPr lang="zh-CN" altLang="en-US" sz="1200" b="1">
                          <a:solidFill>
                            <a:schemeClr val="bg1"/>
                          </a:solidFill>
                          <a:latin typeface="HarmonyOS Sans SC" panose="00000500000000000000" pitchFamily="2" charset="-122"/>
                          <a:ea typeface="HarmonyOS Sans SC" panose="00000500000000000000" pitchFamily="2" charset="-122"/>
                        </a:rPr>
                        <a:t>低空经济公司</a:t>
                      </a:r>
                      <a:endParaRPr lang="zh-CN" altLang="en-US" sz="1200" b="1">
                        <a:solidFill>
                          <a:schemeClr val="bg1"/>
                        </a:solidFill>
                        <a:latin typeface="HarmonyOS Sans SC" panose="00000500000000000000" pitchFamily="2" charset="-122"/>
                        <a:ea typeface="HarmonyOS Sans SC" panose="00000500000000000000" pitchFamily="2" charset="-122"/>
                      </a:endParaRPr>
                    </a:p>
                  </a:txBody>
                  <a:tcPr marL="0" marR="0" marT="0" marB="0" anchor="ctr">
                    <a:lnL w="12700" cmpd="sng">
                      <a:noFill/>
                    </a:lnL>
                    <a:lnR w="12700" cmpd="sng">
                      <a:noFill/>
                    </a:lnR>
                    <a:lnT w="381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solidFill>
                  </a:tcPr>
                </a:tc>
              </a:tr>
            </a:tbl>
          </a:graphicData>
        </a:graphic>
      </p:graphicFrame>
      <p:graphicFrame>
        <p:nvGraphicFramePr>
          <p:cNvPr id="75" name="表格 74"/>
          <p:cNvGraphicFramePr>
            <a:graphicFrameLocks noGrp="1"/>
          </p:cNvGraphicFramePr>
          <p:nvPr/>
        </p:nvGraphicFramePr>
        <p:xfrm>
          <a:off x="1155699" y="3110387"/>
          <a:ext cx="8745540" cy="1828272"/>
        </p:xfrm>
        <a:graphic>
          <a:graphicData uri="http://schemas.openxmlformats.org/drawingml/2006/table">
            <a:tbl>
              <a:tblPr firstRow="1" bandRow="1">
                <a:tableStyleId>{5C22544A-7EE6-4342-B048-85BDC9FD1C3A}</a:tableStyleId>
              </a:tblPr>
              <a:tblGrid>
                <a:gridCol w="1749108"/>
                <a:gridCol w="1749108"/>
                <a:gridCol w="1749108"/>
                <a:gridCol w="1749108"/>
                <a:gridCol w="1749108"/>
              </a:tblGrid>
              <a:tr h="1828272">
                <a:tc>
                  <a:txBody>
                    <a:bodyPr/>
                    <a:lstStyle/>
                    <a:p>
                      <a:pPr algn="ctr"/>
                      <a:r>
                        <a:rPr lang="zh-CN" altLang="en-US">
                          <a:solidFill>
                            <a:schemeClr val="tx1"/>
                          </a:solidFill>
                          <a:latin typeface="HarmonyOS Sans SC" panose="00000500000000000000" pitchFamily="2" charset="-122"/>
                          <a:ea typeface="HarmonyOS Sans SC" panose="00000500000000000000" pitchFamily="2" charset="-122"/>
                        </a:rPr>
                        <a:t>精筑产业园区</a:t>
                      </a:r>
                      <a:endParaRPr lang="en-US" altLang="zh-CN" dirty="0">
                        <a:solidFill>
                          <a:schemeClr val="tx1"/>
                        </a:solidFill>
                      </a:endParaRPr>
                    </a:p>
                    <a:p>
                      <a:pPr algn="ctr"/>
                      <a:r>
                        <a:rPr lang="zh-CN" altLang="en-US" sz="1100" b="0" spc="0" baseline="0">
                          <a:solidFill>
                            <a:schemeClr val="tx1"/>
                          </a:solidFill>
                          <a:latin typeface="HarmonyOS Sans SC" panose="00000500000000000000" pitchFamily="2" charset="-122"/>
                          <a:ea typeface="HarmonyOS Sans SC" panose="00000500000000000000" pitchFamily="2" charset="-122"/>
                        </a:rPr>
                        <a:t>以载体开发建设及更新改造为核心，助力产城融合</a:t>
                      </a:r>
                      <a:endParaRPr lang="zh-CN" altLang="en-US" sz="1100" b="0" spc="0" baseline="0">
                        <a:solidFill>
                          <a:schemeClr val="tx1"/>
                        </a:solidFill>
                        <a:latin typeface="HarmonyOS Sans SC" panose="00000500000000000000" pitchFamily="2" charset="-122"/>
                        <a:ea typeface="HarmonyOS Sans SC" panose="00000500000000000000" pitchFamily="2" charset="-122"/>
                      </a:endParaRPr>
                    </a:p>
                  </a:txBody>
                  <a:tcPr marL="72000" marR="72000" marT="72000" marB="36000">
                    <a:lnL w="12700" cmpd="sng">
                      <a:noFill/>
                    </a:lnL>
                    <a:lnR w="381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alpha val="70000"/>
                      </a:schemeClr>
                    </a:solidFill>
                  </a:tcPr>
                </a:tc>
                <a:tc>
                  <a:txBody>
                    <a:bodyPr/>
                    <a:lstStyle/>
                    <a:p>
                      <a:pPr algn="ctr"/>
                      <a:r>
                        <a:rPr lang="zh-CN" altLang="en-US">
                          <a:solidFill>
                            <a:schemeClr val="tx1"/>
                          </a:solidFill>
                          <a:latin typeface="HarmonyOS Sans SC" panose="00000500000000000000" pitchFamily="2" charset="-122"/>
                          <a:ea typeface="HarmonyOS Sans SC" panose="00000500000000000000" pitchFamily="2" charset="-122"/>
                        </a:rPr>
                        <a:t>规范工程管理</a:t>
                      </a:r>
                      <a:endParaRPr lang="en-US" altLang="zh-CN" dirty="0">
                        <a:solidFill>
                          <a:schemeClr val="tx1"/>
                        </a:solidFill>
                      </a:endParaRPr>
                    </a:p>
                    <a:p>
                      <a:pPr algn="ctr"/>
                      <a:r>
                        <a:rPr lang="zh-CN" altLang="en-US" sz="1100" b="0" spc="-50" baseline="0">
                          <a:solidFill>
                            <a:schemeClr val="tx1"/>
                          </a:solidFill>
                          <a:latin typeface="HarmonyOS Sans SC" panose="00000500000000000000" pitchFamily="2" charset="-122"/>
                          <a:ea typeface="HarmonyOS Sans SC" panose="00000500000000000000" pitchFamily="2" charset="-122"/>
                        </a:rPr>
                        <a:t>以专业代建为根基，对内高品质交付，对外拓展市场</a:t>
                      </a:r>
                      <a:endParaRPr lang="zh-CN" altLang="en-US" sz="1100" b="0" spc="-50" baseline="0">
                        <a:solidFill>
                          <a:schemeClr val="tx1"/>
                        </a:solidFill>
                        <a:latin typeface="HarmonyOS Sans SC" panose="00000500000000000000" pitchFamily="2" charset="-122"/>
                        <a:ea typeface="HarmonyOS Sans SC" panose="00000500000000000000" pitchFamily="2" charset="-122"/>
                      </a:endParaRPr>
                    </a:p>
                  </a:txBody>
                  <a:tcPr marL="72000" marR="72000" marT="72000" marB="3600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alpha val="70000"/>
                      </a:schemeClr>
                    </a:solidFill>
                  </a:tcPr>
                </a:tc>
                <a:tc>
                  <a:txBody>
                    <a:bodyPr/>
                    <a:lstStyle/>
                    <a:p>
                      <a:pPr algn="ctr"/>
                      <a:r>
                        <a:rPr lang="zh-CN" altLang="en-US">
                          <a:solidFill>
                            <a:schemeClr val="tx1"/>
                          </a:solidFill>
                          <a:latin typeface="HarmonyOS Sans SC" panose="00000500000000000000" pitchFamily="2" charset="-122"/>
                          <a:ea typeface="HarmonyOS Sans SC" panose="00000500000000000000" pitchFamily="2" charset="-122"/>
                        </a:rPr>
                        <a:t>焕活城市更新</a:t>
                      </a:r>
                      <a:endParaRPr lang="en-US" altLang="zh-CN" dirty="0">
                        <a:solidFill>
                          <a:schemeClr val="tx1"/>
                        </a:solidFill>
                      </a:endParaRPr>
                    </a:p>
                    <a:p>
                      <a:pPr algn="ctr"/>
                      <a:r>
                        <a:rPr lang="zh-CN" altLang="en-US" sz="1100" b="0">
                          <a:solidFill>
                            <a:schemeClr val="tx1"/>
                          </a:solidFill>
                          <a:latin typeface="HarmonyOS Sans SC" panose="00000500000000000000" pitchFamily="2" charset="-122"/>
                          <a:ea typeface="HarmonyOS Sans SC" panose="00000500000000000000" pitchFamily="2" charset="-122"/>
                        </a:rPr>
                        <a:t>深耕动迁服务，数字化、专业化赋能全流程服务</a:t>
                      </a:r>
                      <a:endParaRPr lang="zh-CN" altLang="en-US" sz="1100" b="0">
                        <a:solidFill>
                          <a:schemeClr val="tx1"/>
                        </a:solidFill>
                        <a:latin typeface="HarmonyOS Sans SC" panose="00000500000000000000" pitchFamily="2" charset="-122"/>
                        <a:ea typeface="HarmonyOS Sans SC" panose="00000500000000000000" pitchFamily="2" charset="-122"/>
                      </a:endParaRPr>
                    </a:p>
                  </a:txBody>
                  <a:tcPr marL="72000" marR="72000" marT="72000" marB="3600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alpha val="70000"/>
                      </a:schemeClr>
                    </a:solidFill>
                  </a:tcPr>
                </a:tc>
                <a:tc>
                  <a:txBody>
                    <a:bodyPr/>
                    <a:lstStyle/>
                    <a:p>
                      <a:pPr algn="ctr"/>
                      <a:r>
                        <a:rPr lang="zh-CN" altLang="en-US" dirty="0">
                          <a:solidFill>
                            <a:schemeClr val="tx1"/>
                          </a:solidFill>
                          <a:latin typeface="HarmonyOS Sans SC" panose="00000500000000000000" pitchFamily="2" charset="-122"/>
                          <a:ea typeface="HarmonyOS Sans SC" panose="00000500000000000000" pitchFamily="2" charset="-122"/>
                        </a:rPr>
                        <a:t>做优商品贸易</a:t>
                      </a:r>
                      <a:endParaRPr lang="en-US" altLang="zh-CN" dirty="0">
                        <a:solidFill>
                          <a:schemeClr val="tx1"/>
                        </a:solidFill>
                        <a:latin typeface="HarmonyOS Sans SC" panose="00000500000000000000" pitchFamily="2" charset="-122"/>
                        <a:ea typeface="HarmonyOS Sans SC" panose="00000500000000000000" pitchFamily="2" charset="-122"/>
                      </a:endParaRPr>
                    </a:p>
                    <a:p>
                      <a:pPr algn="ctr"/>
                      <a:r>
                        <a:rPr lang="zh-CN" altLang="en-US" sz="1100" b="0" dirty="0">
                          <a:solidFill>
                            <a:schemeClr val="tx1"/>
                          </a:solidFill>
                          <a:latin typeface="HarmonyOS Sans SC" panose="00000500000000000000" pitchFamily="2" charset="-122"/>
                          <a:ea typeface="HarmonyOS Sans SC" panose="00000500000000000000" pitchFamily="2" charset="-122"/>
                        </a:rPr>
                        <a:t>立足实体产业刚需，以商</a:t>
                      </a:r>
                      <a:endParaRPr lang="zh-CN" altLang="en-US" sz="1100" b="0" dirty="0">
                        <a:solidFill>
                          <a:schemeClr val="tx1"/>
                        </a:solidFill>
                        <a:latin typeface="HarmonyOS Sans SC" panose="00000500000000000000" pitchFamily="2" charset="-122"/>
                        <a:ea typeface="HarmonyOS Sans SC" panose="00000500000000000000" pitchFamily="2" charset="-122"/>
                      </a:endParaRPr>
                    </a:p>
                    <a:p>
                      <a:pPr algn="ctr"/>
                      <a:r>
                        <a:rPr lang="zh-CN" altLang="en-US" sz="1100" b="0" dirty="0">
                          <a:solidFill>
                            <a:schemeClr val="tx1"/>
                          </a:solidFill>
                          <a:latin typeface="HarmonyOS Sans SC" panose="00000500000000000000" pitchFamily="2" charset="-122"/>
                          <a:ea typeface="HarmonyOS Sans SC" panose="00000500000000000000" pitchFamily="2" charset="-122"/>
                        </a:rPr>
                        <a:t>品贸易为桥梁，助力多业</a:t>
                      </a:r>
                      <a:endParaRPr lang="zh-CN" altLang="en-US" sz="1100" b="0" dirty="0">
                        <a:solidFill>
                          <a:schemeClr val="tx1"/>
                        </a:solidFill>
                        <a:latin typeface="HarmonyOS Sans SC" panose="00000500000000000000" pitchFamily="2" charset="-122"/>
                        <a:ea typeface="HarmonyOS Sans SC" panose="00000500000000000000" pitchFamily="2" charset="-122"/>
                      </a:endParaRPr>
                    </a:p>
                    <a:p>
                      <a:pPr algn="ctr"/>
                      <a:r>
                        <a:rPr lang="zh-CN" altLang="en-US" sz="1100" b="0" dirty="0">
                          <a:solidFill>
                            <a:schemeClr val="tx1"/>
                          </a:solidFill>
                          <a:latin typeface="HarmonyOS Sans SC" panose="00000500000000000000" pitchFamily="2" charset="-122"/>
                          <a:ea typeface="HarmonyOS Sans SC" panose="00000500000000000000" pitchFamily="2" charset="-122"/>
                        </a:rPr>
                        <a:t>态联动、全产业协同共进</a:t>
                      </a:r>
                      <a:endParaRPr lang="zh-CN" altLang="en-US" sz="1100" b="0" dirty="0">
                        <a:solidFill>
                          <a:schemeClr val="tx1"/>
                        </a:solidFill>
                        <a:latin typeface="HarmonyOS Sans SC" panose="00000500000000000000" pitchFamily="2" charset="-122"/>
                        <a:ea typeface="HarmonyOS Sans SC" panose="00000500000000000000" pitchFamily="2" charset="-122"/>
                      </a:endParaRPr>
                    </a:p>
                  </a:txBody>
                  <a:tcPr marL="72000" marR="72000" marT="72000" marB="3600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alpha val="70000"/>
                      </a:schemeClr>
                    </a:solidFill>
                  </a:tcPr>
                </a:tc>
                <a:tc>
                  <a:txBody>
                    <a:bodyPr/>
                    <a:lstStyle/>
                    <a:p>
                      <a:pPr algn="ctr"/>
                      <a:r>
                        <a:rPr lang="zh-CN" altLang="en-US" dirty="0">
                          <a:solidFill>
                            <a:schemeClr val="tx1"/>
                          </a:solidFill>
                          <a:latin typeface="HarmonyOS Sans SC" panose="00000500000000000000" pitchFamily="2" charset="-122"/>
                          <a:ea typeface="HarmonyOS Sans SC" panose="00000500000000000000" pitchFamily="2" charset="-122"/>
                        </a:rPr>
                        <a:t>强化人才服务</a:t>
                      </a:r>
                      <a:endParaRPr lang="en-US" altLang="zh-CN" dirty="0">
                        <a:solidFill>
                          <a:schemeClr val="tx1"/>
                        </a:solidFill>
                      </a:endParaRPr>
                    </a:p>
                    <a:p>
                      <a:pPr algn="ctr"/>
                      <a:r>
                        <a:rPr lang="zh-CN" altLang="en-US" sz="1100" b="0" dirty="0">
                          <a:solidFill>
                            <a:schemeClr val="tx1"/>
                          </a:solidFill>
                          <a:latin typeface="HarmonyOS Sans SC" panose="00000500000000000000" pitchFamily="2" charset="-122"/>
                          <a:ea typeface="HarmonyOS Sans SC" panose="00000500000000000000" pitchFamily="2" charset="-122"/>
                        </a:rPr>
                        <a:t>打造人资与教培综合服务平台，拓展增值服务</a:t>
                      </a:r>
                      <a:endParaRPr lang="zh-CN" altLang="en-US" sz="1100" b="0" dirty="0">
                        <a:solidFill>
                          <a:schemeClr val="tx1"/>
                        </a:solidFill>
                        <a:latin typeface="HarmonyOS Sans SC" panose="00000500000000000000" pitchFamily="2" charset="-122"/>
                        <a:ea typeface="HarmonyOS Sans SC" panose="00000500000000000000" pitchFamily="2" charset="-122"/>
                      </a:endParaRPr>
                    </a:p>
                  </a:txBody>
                  <a:tcPr marL="72000" marR="72000" marT="72000" marB="36000">
                    <a:lnL w="381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alpha val="70000"/>
                      </a:schemeClr>
                    </a:solidFill>
                  </a:tcPr>
                </a:tc>
              </a:tr>
            </a:tbl>
          </a:graphicData>
        </a:graphic>
      </p:graphicFrame>
      <p:graphicFrame>
        <p:nvGraphicFramePr>
          <p:cNvPr id="76" name="表格 75"/>
          <p:cNvGraphicFramePr>
            <a:graphicFrameLocks noGrp="1"/>
          </p:cNvGraphicFramePr>
          <p:nvPr/>
        </p:nvGraphicFramePr>
        <p:xfrm>
          <a:off x="9959341" y="3106155"/>
          <a:ext cx="1623061" cy="1828270"/>
        </p:xfrm>
        <a:graphic>
          <a:graphicData uri="http://schemas.openxmlformats.org/drawingml/2006/table">
            <a:tbl>
              <a:tblPr firstRow="1" bandRow="1">
                <a:tableStyleId>{5C22544A-7EE6-4342-B048-85BDC9FD1C3A}</a:tableStyleId>
              </a:tblPr>
              <a:tblGrid>
                <a:gridCol w="541020"/>
                <a:gridCol w="270510"/>
                <a:gridCol w="28098"/>
                <a:gridCol w="242413"/>
                <a:gridCol w="541020"/>
              </a:tblGrid>
              <a:tr h="365654">
                <a:tc gridSpan="2">
                  <a:txBody>
                    <a:bodyPr/>
                    <a:lstStyle/>
                    <a:p>
                      <a:pPr algn="ctr"/>
                      <a:r>
                        <a:rPr lang="zh-CN" altLang="en-US" sz="1200" b="1" dirty="0">
                          <a:solidFill>
                            <a:schemeClr val="bg1"/>
                          </a:solidFill>
                          <a:latin typeface="HarmonyOS Sans SC" panose="00000500000000000000" pitchFamily="2" charset="-122"/>
                          <a:ea typeface="HarmonyOS Sans SC" panose="00000500000000000000" pitchFamily="2" charset="-122"/>
                        </a:rPr>
                        <a:t>科技园</a:t>
                      </a:r>
                      <a:endParaRPr lang="zh-CN" altLang="en-US" sz="1200" b="1" dirty="0">
                        <a:solidFill>
                          <a:schemeClr val="bg1"/>
                        </a:solidFill>
                        <a:latin typeface="HarmonyOS Sans SC" panose="00000500000000000000" pitchFamily="2" charset="-122"/>
                        <a:ea typeface="HarmonyOS Sans SC" panose="00000500000000000000" pitchFamily="2" charset="-122"/>
                      </a:endParaRPr>
                    </a:p>
                  </a:txBody>
                  <a:tcPr marL="0" marR="0" marT="0" marB="0" anchor="ctr">
                    <a:lnL w="12700" cmpd="sng">
                      <a:noFill/>
                    </a:lnL>
                    <a:lnR w="38100" cap="flat" cmpd="sng" algn="ctr">
                      <a:solidFill>
                        <a:schemeClr val="bg1"/>
                      </a:solidFill>
                      <a:prstDash val="solid"/>
                      <a:round/>
                      <a:headEnd type="none" w="med" len="med"/>
                      <a:tailEnd type="none" w="med" len="med"/>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cPr/>
                </a:tc>
                <a:tc gridSpan="3">
                  <a:txBody>
                    <a:bodyPr/>
                    <a:lstStyle/>
                    <a:p>
                      <a:pPr algn="ctr"/>
                      <a:r>
                        <a:rPr lang="zh-CN" altLang="en-US" sz="1200" b="1">
                          <a:solidFill>
                            <a:schemeClr val="bg1"/>
                          </a:solidFill>
                          <a:latin typeface="HarmonyOS Sans SC" panose="00000500000000000000" pitchFamily="2" charset="-122"/>
                          <a:ea typeface="HarmonyOS Sans SC" panose="00000500000000000000" pitchFamily="2" charset="-122"/>
                        </a:rPr>
                        <a:t>城商置业</a:t>
                      </a:r>
                      <a:endParaRPr lang="zh-CN" altLang="en-US" sz="1200" b="1">
                        <a:solidFill>
                          <a:schemeClr val="bg1"/>
                        </a:solidFill>
                        <a:latin typeface="HarmonyOS Sans SC" panose="00000500000000000000" pitchFamily="2" charset="-122"/>
                        <a:ea typeface="HarmonyOS Sans SC" panose="00000500000000000000" pitchFamily="2" charset="-122"/>
                      </a:endParaRPr>
                    </a:p>
                  </a:txBody>
                  <a:tcPr marL="0" marR="0" marT="0" marB="0" anchor="ctr">
                    <a:lnL w="38100" cap="flat" cmpd="sng" algn="ctr">
                      <a:solidFill>
                        <a:schemeClr val="bg1"/>
                      </a:solidFill>
                      <a:prstDash val="solid"/>
                      <a:round/>
                      <a:headEnd type="none" w="med" len="med"/>
                      <a:tailEnd type="none" w="med" len="med"/>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cPr/>
                </a:tc>
                <a:tc hMerge="1">
                  <a:tcPr>
                    <a:lnL w="12700" cmpd="sng">
                      <a:noFill/>
                    </a:lnL>
                  </a:tcPr>
                </a:tc>
              </a:tr>
              <a:tr h="365654">
                <a:tc>
                  <a:txBody>
                    <a:bodyPr/>
                    <a:lstStyle/>
                    <a:p>
                      <a:pPr algn="ctr"/>
                      <a:r>
                        <a:rPr lang="zh-CN" altLang="en-US" sz="1200" b="1">
                          <a:solidFill>
                            <a:schemeClr val="bg1"/>
                          </a:solidFill>
                          <a:latin typeface="HarmonyOS Sans SC" panose="00000500000000000000" pitchFamily="2" charset="-122"/>
                          <a:ea typeface="HarmonyOS Sans SC" panose="00000500000000000000" pitchFamily="2" charset="-122"/>
                        </a:rPr>
                        <a:t>南中轴</a:t>
                      </a:r>
                      <a:endParaRPr lang="zh-CN" altLang="en-US" sz="1200" b="1">
                        <a:solidFill>
                          <a:schemeClr val="bg1"/>
                        </a:solidFill>
                        <a:latin typeface="HarmonyOS Sans SC" panose="00000500000000000000" pitchFamily="2" charset="-122"/>
                        <a:ea typeface="HarmonyOS Sans SC" panose="00000500000000000000" pitchFamily="2" charset="-122"/>
                      </a:endParaRPr>
                    </a:p>
                  </a:txBody>
                  <a:tcPr marL="0" marR="0" marT="0" marB="0" anchor="ctr">
                    <a:lnL w="12700" cmpd="sng">
                      <a:noFill/>
                    </a:lnL>
                    <a:lnR w="28575"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gridSpan="3">
                  <a:txBody>
                    <a:bodyPr/>
                    <a:lstStyle/>
                    <a:p>
                      <a:pPr algn="ctr"/>
                      <a:r>
                        <a:rPr lang="zh-CN" altLang="en-US" sz="1200" b="1">
                          <a:solidFill>
                            <a:schemeClr val="bg1"/>
                          </a:solidFill>
                          <a:latin typeface="HarmonyOS Sans SC" panose="00000500000000000000" pitchFamily="2" charset="-122"/>
                          <a:ea typeface="HarmonyOS Sans SC" panose="00000500000000000000" pitchFamily="2" charset="-122"/>
                        </a:rPr>
                        <a:t>新中轴</a:t>
                      </a:r>
                      <a:endParaRPr lang="zh-CN" altLang="en-US" sz="1200" b="1">
                        <a:solidFill>
                          <a:schemeClr val="bg1"/>
                        </a:solidFill>
                        <a:latin typeface="HarmonyOS Sans SC" panose="00000500000000000000" pitchFamily="2" charset="-122"/>
                        <a:ea typeface="HarmonyOS Sans SC" panose="00000500000000000000" pitchFamily="2" charset="-122"/>
                      </a:endParaRP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cPr anchor="ctr">
                    <a:lnL w="38100" cap="flat" cmpd="sng" algn="ctr">
                      <a:solidFill>
                        <a:schemeClr val="bg1"/>
                      </a:solidFill>
                      <a:prstDash val="solid"/>
                      <a:round/>
                      <a:headEnd type="none" w="med" len="med"/>
                      <a:tailEnd type="none" w="med" len="med"/>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zh-CN" altLang="en-US" sz="1200" b="1">
                          <a:solidFill>
                            <a:schemeClr val="bg1"/>
                          </a:solidFill>
                          <a:latin typeface="HarmonyOS Sans SC" panose="00000500000000000000" pitchFamily="2" charset="-122"/>
                          <a:ea typeface="HarmonyOS Sans SC" panose="00000500000000000000" pitchFamily="2" charset="-122"/>
                        </a:rPr>
                        <a:t>城更</a:t>
                      </a:r>
                      <a:endParaRPr lang="zh-CN" altLang="en-US" sz="1200" b="1">
                        <a:solidFill>
                          <a:schemeClr val="bg1"/>
                        </a:solidFill>
                        <a:latin typeface="HarmonyOS Sans SC" panose="00000500000000000000" pitchFamily="2" charset="-122"/>
                        <a:ea typeface="HarmonyOS Sans SC" panose="00000500000000000000" pitchFamily="2" charset="-122"/>
                      </a:endParaRPr>
                    </a:p>
                  </a:txBody>
                  <a:tcPr marL="0" marR="0" marT="0" marB="0" anchor="ctr">
                    <a:lnL w="28575" cap="flat" cmpd="sng" algn="ctr">
                      <a:solidFill>
                        <a:schemeClr val="bg1"/>
                      </a:solidFill>
                      <a:prstDash val="solid"/>
                      <a:round/>
                      <a:headEnd type="none" w="med" len="med"/>
                      <a:tailEnd type="none" w="med" len="med"/>
                    </a:lnL>
                    <a:lnR w="12700" cmpd="sng">
                      <a:noFill/>
                    </a:lnR>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r>
              <a:tr h="365654">
                <a:tc gridSpan="5">
                  <a:txBody>
                    <a:bodyPr/>
                    <a:lstStyle/>
                    <a:p>
                      <a:pPr algn="ctr"/>
                      <a:r>
                        <a:rPr lang="zh-CN" altLang="en-US" sz="1200" b="1" dirty="0">
                          <a:solidFill>
                            <a:schemeClr val="bg1"/>
                          </a:solidFill>
                          <a:latin typeface="HarmonyOS Sans SC" panose="00000500000000000000" pitchFamily="2" charset="-122"/>
                          <a:ea typeface="HarmonyOS Sans SC" panose="00000500000000000000" pitchFamily="2" charset="-122"/>
                        </a:rPr>
                        <a:t>外综服、新消费</a:t>
                      </a:r>
                      <a:endParaRPr lang="zh-CN" altLang="en-US" sz="1200" b="1" dirty="0">
                        <a:solidFill>
                          <a:schemeClr val="bg1"/>
                        </a:solidFill>
                        <a:latin typeface="HarmonyOS Sans SC" panose="00000500000000000000" pitchFamily="2" charset="-122"/>
                        <a:ea typeface="HarmonyOS Sans SC" panose="00000500000000000000" pitchFamily="2" charset="-122"/>
                      </a:endParaRPr>
                    </a:p>
                  </a:txBody>
                  <a:tcPr marL="0" marR="0" marT="0" marB="0" anchor="ctr">
                    <a:lnL w="12700" cmpd="sng">
                      <a:noFill/>
                    </a:lnL>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cPr/>
                </a:tc>
                <a:tc hMerge="1">
                  <a:tcPr marL="0" marR="0" marT="0" marB="0" anchor="ctr">
                    <a:lnL w="38100" cap="flat" cmpd="sng" algn="ctr">
                      <a:solidFill>
                        <a:schemeClr val="bg1"/>
                      </a:solidFill>
                      <a:prstDash val="solid"/>
                      <a:round/>
                      <a:headEnd type="none" w="med" len="med"/>
                      <a:tailEnd type="none" w="med" len="med"/>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cPr/>
                </a:tc>
                <a:tc hMerge="1">
                  <a:tcPr>
                    <a:lnT w="38100" cap="flat" cmpd="sng" algn="ctr">
                      <a:solidFill>
                        <a:schemeClr val="bg1"/>
                      </a:solidFill>
                      <a:prstDash val="solid"/>
                      <a:round/>
                      <a:headEnd type="none" w="med" len="med"/>
                      <a:tailEnd type="none" w="med" len="med"/>
                    </a:lnT>
                  </a:tcPr>
                </a:tc>
              </a:tr>
              <a:tr h="365654">
                <a:tc gridSpan="2">
                  <a:txBody>
                    <a:bodyPr/>
                    <a:lstStyle/>
                    <a:p>
                      <a:pPr algn="ctr"/>
                      <a:r>
                        <a:rPr lang="zh-CN" altLang="en-US" sz="1200" b="1" dirty="0">
                          <a:solidFill>
                            <a:schemeClr val="bg1"/>
                          </a:solidFill>
                          <a:latin typeface="HarmonyOS Sans SC" panose="00000500000000000000" pitchFamily="2" charset="-122"/>
                          <a:ea typeface="HarmonyOS Sans SC" panose="00000500000000000000" pitchFamily="2" charset="-122"/>
                        </a:rPr>
                        <a:t>数智未来</a:t>
                      </a:r>
                      <a:endParaRPr lang="zh-CN" altLang="en-US" sz="1200" b="1" dirty="0">
                        <a:solidFill>
                          <a:schemeClr val="bg1"/>
                        </a:solidFill>
                        <a:latin typeface="HarmonyOS Sans SC" panose="00000500000000000000" pitchFamily="2" charset="-122"/>
                        <a:ea typeface="HarmonyOS Sans SC" panose="00000500000000000000" pitchFamily="2" charset="-122"/>
                      </a:endParaRPr>
                    </a:p>
                  </a:txBody>
                  <a:tcPr marL="0" marR="0" marT="0" marB="0" anchor="ctr">
                    <a:lnL w="12700" cmpd="sng">
                      <a:noFill/>
                    </a:lnL>
                    <a:lnR w="28575"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endParaRPr lang="zh-CN" dirty="0"/>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gridSpan="2">
                  <a:txBody>
                    <a:bodyPr/>
                    <a:lstStyle/>
                    <a:p>
                      <a:r>
                        <a:rPr lang="zh-CN" altLang="en-US" sz="1200" b="1" dirty="0">
                          <a:solidFill>
                            <a:schemeClr val="bg1"/>
                          </a:solidFill>
                          <a:latin typeface="HarmonyOS Sans SC" panose="00000500000000000000" pitchFamily="2" charset="-122"/>
                          <a:ea typeface="HarmonyOS Sans SC" panose="00000500000000000000" pitchFamily="2" charset="-122"/>
                        </a:rPr>
                        <a:t>    新材料</a:t>
                      </a:r>
                      <a:endParaRPr lang="zh-CN" dirty="0"/>
                    </a:p>
                  </a:txBody>
                  <a:tcPr marL="0" marR="0" marT="0" marB="0" anchor="ctr">
                    <a:lnL w="28575" cap="flat" cmpd="sng" algn="ctr">
                      <a:solidFill>
                        <a:schemeClr val="bg1"/>
                      </a:solidFill>
                      <a:prstDash val="solid"/>
                      <a:round/>
                      <a:headEnd type="none" w="med" len="med"/>
                      <a:tailEnd type="none" w="med" len="med"/>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cPr marL="0" marR="0" marT="0" marB="0" anchor="ctr">
                    <a:lnL w="28575" cap="flat" cmpd="sng" algn="ctr">
                      <a:solidFill>
                        <a:schemeClr val="bg1"/>
                      </a:solidFill>
                      <a:prstDash val="solid"/>
                      <a:round/>
                      <a:headEnd type="none" w="med" len="med"/>
                      <a:tailEnd type="none" w="med" len="med"/>
                    </a:lnL>
                    <a:lnR w="12700" cmpd="sng">
                      <a:noFill/>
                    </a:lnR>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r>
              <a:tr h="365654">
                <a:tc gridSpan="5">
                  <a:txBody>
                    <a:bodyPr/>
                    <a:lstStyle/>
                    <a:p>
                      <a:pPr algn="ctr"/>
                      <a:r>
                        <a:rPr lang="zh-CN" altLang="en-US" sz="1200" b="1" dirty="0">
                          <a:solidFill>
                            <a:schemeClr val="bg1"/>
                          </a:solidFill>
                          <a:latin typeface="HarmonyOS Sans SC" panose="00000500000000000000" pitchFamily="2" charset="-122"/>
                          <a:ea typeface="HarmonyOS Sans SC" panose="00000500000000000000" pitchFamily="2" charset="-122"/>
                        </a:rPr>
                        <a:t>海珠产投公司</a:t>
                      </a:r>
                      <a:endParaRPr lang="zh-CN" altLang="en-US" sz="1200" b="1" dirty="0">
                        <a:solidFill>
                          <a:schemeClr val="bg1"/>
                        </a:solidFill>
                        <a:latin typeface="HarmonyOS Sans SC" panose="00000500000000000000" pitchFamily="2" charset="-122"/>
                        <a:ea typeface="HarmonyOS Sans SC" panose="00000500000000000000" pitchFamily="2" charset="-122"/>
                      </a:endParaRPr>
                    </a:p>
                  </a:txBody>
                  <a:tcPr marL="0" marR="0" marT="0" marB="0" anchor="ctr">
                    <a:lnL w="12700" cmpd="sng">
                      <a:noFill/>
                    </a:lnL>
                    <a:lnR w="12700" cmpd="sng">
                      <a:noFill/>
                    </a:lnR>
                    <a:lnT w="381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hMerge="1">
                  <a:tcPr/>
                </a:tc>
                <a:tc hMerge="1">
                  <a:tcPr anchor="ctr">
                    <a:lnL w="38100" cap="flat" cmpd="sng" algn="ctr">
                      <a:solidFill>
                        <a:schemeClr val="bg1"/>
                      </a:solidFill>
                      <a:prstDash val="solid"/>
                      <a:round/>
                      <a:headEnd type="none" w="med" len="med"/>
                      <a:tailEnd type="none" w="med" len="med"/>
                    </a:lnL>
                    <a:lnR w="12700" cmpd="sng">
                      <a:noFill/>
                    </a:lnR>
                    <a:lnT w="381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hMerge="1">
                  <a:tcPr/>
                </a:tc>
                <a:tc hMerge="1">
                  <a:tcPr>
                    <a:lnL w="12700" cmpd="sng">
                      <a:noFill/>
                    </a:lnL>
                    <a:lnT w="38100" cap="flat" cmpd="sng" algn="ctr">
                      <a:solidFill>
                        <a:schemeClr val="bg1"/>
                      </a:solidFill>
                      <a:prstDash val="solid"/>
                      <a:round/>
                      <a:headEnd type="none" w="med" len="med"/>
                      <a:tailEnd type="none" w="med" len="med"/>
                    </a:lnT>
                  </a:tcPr>
                </a:tc>
              </a:tr>
            </a:tbl>
          </a:graphicData>
        </a:graphic>
      </p:graphicFrame>
      <p:graphicFrame>
        <p:nvGraphicFramePr>
          <p:cNvPr id="77" name="表格 76"/>
          <p:cNvGraphicFramePr>
            <a:graphicFrameLocks noGrp="1"/>
          </p:cNvGraphicFramePr>
          <p:nvPr/>
        </p:nvGraphicFramePr>
        <p:xfrm>
          <a:off x="1144270" y="5034915"/>
          <a:ext cx="8757285" cy="1200785"/>
        </p:xfrm>
        <a:graphic>
          <a:graphicData uri="http://schemas.openxmlformats.org/drawingml/2006/table">
            <a:tbl>
              <a:tblPr firstRow="1" bandRow="1">
                <a:tableStyleId>{5C22544A-7EE6-4342-B048-85BDC9FD1C3A}</a:tableStyleId>
              </a:tblPr>
              <a:tblGrid>
                <a:gridCol w="4567555"/>
                <a:gridCol w="4189730"/>
              </a:tblGrid>
              <a:tr h="1200785">
                <a:tc>
                  <a:txBody>
                    <a:bodyPr/>
                    <a:lstStyle/>
                    <a:p>
                      <a:pPr algn="ctr"/>
                      <a:r>
                        <a:rPr lang="zh-CN" altLang="en-US" dirty="0">
                          <a:solidFill>
                            <a:schemeClr val="tx1"/>
                          </a:solidFill>
                          <a:latin typeface="HarmonyOS Sans SC" panose="00000500000000000000" pitchFamily="2" charset="-122"/>
                          <a:ea typeface="HarmonyOS Sans SC" panose="00000500000000000000" pitchFamily="2" charset="-122"/>
                        </a:rPr>
                        <a:t>夯实生态景观工程</a:t>
                      </a:r>
                      <a:endParaRPr lang="en-US" altLang="zh-CN" dirty="0">
                        <a:solidFill>
                          <a:schemeClr val="tx1"/>
                        </a:solidFill>
                      </a:endParaRPr>
                    </a:p>
                    <a:p>
                      <a:pPr algn="l"/>
                      <a:r>
                        <a:rPr lang="zh-CN" altLang="en-US" sz="1100" b="0" dirty="0">
                          <a:solidFill>
                            <a:schemeClr val="tx1"/>
                          </a:solidFill>
                          <a:latin typeface="HarmonyOS Sans SC" panose="00000500000000000000" pitchFamily="2" charset="-122"/>
                          <a:ea typeface="HarmonyOS Sans SC" panose="00000500000000000000" pitchFamily="2" charset="-122"/>
                        </a:rPr>
                        <a:t>聚焦绿化与养护，多元化拓展，提供设计</a:t>
                      </a:r>
                      <a:r>
                        <a:rPr lang="en-US" altLang="zh-CN" sz="1100" b="0" dirty="0">
                          <a:solidFill>
                            <a:schemeClr val="tx1"/>
                          </a:solidFill>
                          <a:latin typeface="HarmonyOS Sans SC" panose="00000500000000000000" pitchFamily="2" charset="-122"/>
                          <a:ea typeface="HarmonyOS Sans SC" panose="00000500000000000000" pitchFamily="2" charset="-122"/>
                        </a:rPr>
                        <a:t>-</a:t>
                      </a:r>
                      <a:r>
                        <a:rPr lang="zh-CN" altLang="en-US" sz="1100" b="0" dirty="0">
                          <a:solidFill>
                            <a:schemeClr val="tx1"/>
                          </a:solidFill>
                          <a:latin typeface="HarmonyOS Sans SC" panose="00000500000000000000" pitchFamily="2" charset="-122"/>
                          <a:ea typeface="HarmonyOS Sans SC" panose="00000500000000000000" pitchFamily="2" charset="-122"/>
                        </a:rPr>
                        <a:t>研发</a:t>
                      </a:r>
                      <a:r>
                        <a:rPr lang="en-US" altLang="zh-CN" sz="1100" b="0" dirty="0">
                          <a:solidFill>
                            <a:schemeClr val="tx1"/>
                          </a:solidFill>
                          <a:latin typeface="HarmonyOS Sans SC" panose="00000500000000000000" pitchFamily="2" charset="-122"/>
                          <a:ea typeface="HarmonyOS Sans SC" panose="00000500000000000000" pitchFamily="2" charset="-122"/>
                        </a:rPr>
                        <a:t>-</a:t>
                      </a:r>
                      <a:r>
                        <a:rPr lang="zh-CN" altLang="en-US" sz="1100" b="0" dirty="0">
                          <a:solidFill>
                            <a:schemeClr val="tx1"/>
                          </a:solidFill>
                          <a:latin typeface="HarmonyOS Sans SC" panose="00000500000000000000" pitchFamily="2" charset="-122"/>
                          <a:ea typeface="HarmonyOS Sans SC" panose="00000500000000000000" pitchFamily="2" charset="-122"/>
                        </a:rPr>
                        <a:t>施工</a:t>
                      </a:r>
                      <a:r>
                        <a:rPr lang="en-US" altLang="zh-CN" sz="1100" b="0" dirty="0">
                          <a:solidFill>
                            <a:schemeClr val="tx1"/>
                          </a:solidFill>
                          <a:latin typeface="HarmonyOS Sans SC" panose="00000500000000000000" pitchFamily="2" charset="-122"/>
                          <a:ea typeface="HarmonyOS Sans SC" panose="00000500000000000000" pitchFamily="2" charset="-122"/>
                        </a:rPr>
                        <a:t>-</a:t>
                      </a:r>
                      <a:r>
                        <a:rPr lang="zh-CN" altLang="en-US" sz="1100" b="0" dirty="0">
                          <a:solidFill>
                            <a:schemeClr val="tx1"/>
                          </a:solidFill>
                          <a:latin typeface="HarmonyOS Sans SC" panose="00000500000000000000" pitchFamily="2" charset="-122"/>
                          <a:ea typeface="HarmonyOS Sans SC" panose="00000500000000000000" pitchFamily="2" charset="-122"/>
                        </a:rPr>
                        <a:t>养护</a:t>
                      </a:r>
                      <a:r>
                        <a:rPr lang="en-US" altLang="zh-CN" sz="1100" b="0" dirty="0">
                          <a:solidFill>
                            <a:schemeClr val="tx1"/>
                          </a:solidFill>
                          <a:latin typeface="HarmonyOS Sans SC" panose="00000500000000000000" pitchFamily="2" charset="-122"/>
                          <a:ea typeface="HarmonyOS Sans SC" panose="00000500000000000000" pitchFamily="2" charset="-122"/>
                        </a:rPr>
                        <a:t>-</a:t>
                      </a:r>
                      <a:r>
                        <a:rPr lang="zh-CN" altLang="en-US" sz="1100" b="0" dirty="0">
                          <a:solidFill>
                            <a:schemeClr val="tx1"/>
                          </a:solidFill>
                          <a:latin typeface="HarmonyOS Sans SC" panose="00000500000000000000" pitchFamily="2" charset="-122"/>
                          <a:ea typeface="HarmonyOS Sans SC" panose="00000500000000000000" pitchFamily="2" charset="-122"/>
                        </a:rPr>
                        <a:t>再生一站式服务</a:t>
                      </a:r>
                      <a:endParaRPr lang="zh-CN" altLang="en-US" sz="1100" b="0" dirty="0">
                        <a:solidFill>
                          <a:schemeClr val="tx1"/>
                        </a:solidFill>
                        <a:latin typeface="HarmonyOS Sans SC" panose="00000500000000000000" pitchFamily="2" charset="-122"/>
                        <a:ea typeface="HarmonyOS Sans SC" panose="00000500000000000000" pitchFamily="2" charset="-122"/>
                      </a:endParaRPr>
                    </a:p>
                  </a:txBody>
                  <a:tcPr marL="90000" marR="90000">
                    <a:lnL w="12700" cmpd="sng">
                      <a:noFill/>
                    </a:lnL>
                    <a:lnR w="381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alpha val="70000"/>
                      </a:schemeClr>
                    </a:solidFill>
                  </a:tcPr>
                </a:tc>
                <a:tc>
                  <a:txBody>
                    <a:bodyPr/>
                    <a:lstStyle/>
                    <a:p>
                      <a:pPr algn="ctr"/>
                      <a:r>
                        <a:rPr lang="zh-CN" altLang="en-US" dirty="0">
                          <a:solidFill>
                            <a:schemeClr val="tx1"/>
                          </a:solidFill>
                          <a:latin typeface="HarmonyOS Sans SC" panose="00000500000000000000" pitchFamily="2" charset="-122"/>
                          <a:ea typeface="HarmonyOS Sans SC" panose="00000500000000000000" pitchFamily="2" charset="-122"/>
                        </a:rPr>
                        <a:t>做精文旅商业运营</a:t>
                      </a:r>
                      <a:endParaRPr lang="en-US" altLang="zh-CN" dirty="0">
                        <a:solidFill>
                          <a:schemeClr val="tx1"/>
                        </a:solidFill>
                      </a:endParaRPr>
                    </a:p>
                    <a:p>
                      <a:pPr algn="ctr"/>
                      <a:r>
                        <a:rPr lang="zh-CN" altLang="en-US" sz="1100" b="0" dirty="0">
                          <a:solidFill>
                            <a:schemeClr val="tx1"/>
                          </a:solidFill>
                          <a:latin typeface="HarmonyOS Sans SC" panose="00000500000000000000" pitchFamily="2" charset="-122"/>
                          <a:ea typeface="HarmonyOS Sans SC" panose="00000500000000000000" pitchFamily="2" charset="-122"/>
                        </a:rPr>
                        <a:t>创新文商旅融合模式，持续拓展业态边界，打造文商旅融合地标</a:t>
                      </a:r>
                      <a:endParaRPr lang="zh-CN" altLang="en-US" sz="1100" b="0" dirty="0">
                        <a:solidFill>
                          <a:schemeClr val="tx1"/>
                        </a:solidFill>
                        <a:latin typeface="HarmonyOS Sans SC" panose="00000500000000000000" pitchFamily="2" charset="-122"/>
                        <a:ea typeface="HarmonyOS Sans SC" panose="00000500000000000000" pitchFamily="2" charset="-122"/>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alpha val="70000"/>
                      </a:schemeClr>
                    </a:solidFill>
                  </a:tcPr>
                </a:tc>
              </a:tr>
            </a:tbl>
          </a:graphicData>
        </a:graphic>
      </p:graphicFrame>
      <p:graphicFrame>
        <p:nvGraphicFramePr>
          <p:cNvPr id="78" name="表格 77"/>
          <p:cNvGraphicFramePr>
            <a:graphicFrameLocks noGrp="1"/>
          </p:cNvGraphicFramePr>
          <p:nvPr/>
        </p:nvGraphicFramePr>
        <p:xfrm>
          <a:off x="9959341" y="5034924"/>
          <a:ext cx="1623060" cy="1200776"/>
        </p:xfrm>
        <a:graphic>
          <a:graphicData uri="http://schemas.openxmlformats.org/drawingml/2006/table">
            <a:tbl>
              <a:tblPr firstRow="1" bandRow="1">
                <a:tableStyleId>{5C22544A-7EE6-4342-B048-85BDC9FD1C3A}</a:tableStyleId>
              </a:tblPr>
              <a:tblGrid>
                <a:gridCol w="1623060"/>
              </a:tblGrid>
              <a:tr h="600388">
                <a:tc>
                  <a:txBody>
                    <a:bodyPr/>
                    <a:lstStyle/>
                    <a:p>
                      <a:pPr algn="ctr"/>
                      <a:r>
                        <a:rPr lang="zh-CN" altLang="en-US" sz="1200" b="1">
                          <a:solidFill>
                            <a:schemeClr val="bg1"/>
                          </a:solidFill>
                          <a:latin typeface="HarmonyOS Sans SC" panose="00000500000000000000" pitchFamily="2" charset="-122"/>
                          <a:ea typeface="HarmonyOS Sans SC" panose="00000500000000000000" pitchFamily="2" charset="-122"/>
                        </a:rPr>
                        <a:t>生态景观公司</a:t>
                      </a:r>
                      <a:endParaRPr lang="zh-CN" altLang="en-US" sz="1200" b="1">
                        <a:solidFill>
                          <a:schemeClr val="bg1"/>
                        </a:solidFill>
                        <a:latin typeface="HarmonyOS Sans SC" panose="00000500000000000000" pitchFamily="2" charset="-122"/>
                        <a:ea typeface="HarmonyOS Sans SC" panose="00000500000000000000" pitchFamily="2" charset="-122"/>
                      </a:endParaRPr>
                    </a:p>
                  </a:txBody>
                  <a:tcPr marL="0" marR="0" marT="0" marB="0"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r>
              <a:tr h="600388">
                <a:tc>
                  <a:txBody>
                    <a:bodyPr/>
                    <a:lstStyle/>
                    <a:p>
                      <a:pPr algn="ctr"/>
                      <a:r>
                        <a:rPr lang="zh-CN" altLang="en-US" sz="1200" b="1">
                          <a:solidFill>
                            <a:schemeClr val="bg1"/>
                          </a:solidFill>
                          <a:latin typeface="HarmonyOS Sans SC" panose="00000500000000000000" pitchFamily="2" charset="-122"/>
                          <a:ea typeface="HarmonyOS Sans SC" panose="00000500000000000000" pitchFamily="2" charset="-122"/>
                        </a:rPr>
                        <a:t>瑶溪文投公司</a:t>
                      </a:r>
                      <a:endParaRPr lang="zh-CN" altLang="en-US" sz="1200" b="1">
                        <a:solidFill>
                          <a:schemeClr val="bg1"/>
                        </a:solidFill>
                        <a:latin typeface="HarmonyOS Sans SC" panose="00000500000000000000" pitchFamily="2" charset="-122"/>
                        <a:ea typeface="HarmonyOS Sans SC" panose="00000500000000000000" pitchFamily="2" charset="-122"/>
                      </a:endParaRPr>
                    </a:p>
                  </a:txBody>
                  <a:tcPr marL="0" marR="0" marT="0" marB="0"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r>
            </a:tbl>
          </a:graphicData>
        </a:graphic>
      </p:graphicFrame>
      <p:sp>
        <p:nvSpPr>
          <p:cNvPr id="97" name="文本框 96"/>
          <p:cNvSpPr txBox="1"/>
          <p:nvPr/>
        </p:nvSpPr>
        <p:spPr>
          <a:xfrm>
            <a:off x="1698413" y="1795795"/>
            <a:ext cx="933450" cy="11969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具身智能</a:t>
            </a:r>
            <a:endPar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低空经济</a:t>
            </a:r>
            <a:endPar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智能制造</a:t>
            </a:r>
            <a:endPar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rPr>
              <a:t>AI</a:t>
            </a:r>
            <a:r>
              <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智能终端</a:t>
            </a:r>
            <a:endPar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rPr>
              <a:t>…</a:t>
            </a:r>
            <a:endPar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p:txBody>
      </p:sp>
      <p:sp>
        <p:nvSpPr>
          <p:cNvPr id="98" name="文本框 97"/>
          <p:cNvSpPr txBox="1"/>
          <p:nvPr/>
        </p:nvSpPr>
        <p:spPr>
          <a:xfrm>
            <a:off x="3880905" y="1795795"/>
            <a:ext cx="1097280" cy="11969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空间智能</a:t>
            </a:r>
            <a:endPar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量子计算</a:t>
            </a:r>
            <a:endPar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脑机接口</a:t>
            </a:r>
            <a:endPar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新型算力芯片</a:t>
            </a:r>
            <a:endPar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lang="en-US" altLang="zh-CN" sz="1200" dirty="0">
                <a:solidFill>
                  <a:srgbClr val="64A1D7"/>
                </a:solidFill>
                <a:latin typeface="HarmonyOS Sans SC" panose="00000500000000000000" pitchFamily="2" charset="-122"/>
                <a:ea typeface="HarmonyOS Sans SC" panose="00000500000000000000" pitchFamily="2" charset="-122"/>
              </a:rPr>
              <a:t>…</a:t>
            </a:r>
            <a:endPar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p:txBody>
      </p:sp>
      <p:sp>
        <p:nvSpPr>
          <p:cNvPr id="99" name="文本框 98"/>
          <p:cNvSpPr txBox="1"/>
          <p:nvPr/>
        </p:nvSpPr>
        <p:spPr>
          <a:xfrm>
            <a:off x="5733028" y="1795795"/>
            <a:ext cx="792480" cy="97663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硬件做硬</a:t>
            </a:r>
            <a:endPar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107950" marR="0" lvl="0" indent="-1079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9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琶洲模方</a:t>
            </a:r>
            <a:endParaRPr kumimoji="0" lang="en-US" altLang="zh-CN" sz="9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107950" marR="0" lvl="0" indent="-1079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9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算力中心</a:t>
            </a:r>
            <a:endParaRPr kumimoji="0" lang="en-US" altLang="zh-CN" sz="9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107950" marR="0" lvl="0" indent="-1079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9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训练场</a:t>
            </a:r>
            <a:endParaRPr kumimoji="0" lang="en-US" altLang="zh-CN" sz="9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107950" marR="0" lvl="0" indent="-1079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9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创新中心</a:t>
            </a:r>
            <a:endParaRPr kumimoji="0" lang="zh-CN" altLang="en-US" sz="9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p:txBody>
      </p:sp>
      <p:sp>
        <p:nvSpPr>
          <p:cNvPr id="100" name="文本框 99"/>
          <p:cNvSpPr txBox="1"/>
          <p:nvPr/>
        </p:nvSpPr>
        <p:spPr>
          <a:xfrm>
            <a:off x="8256825" y="1795795"/>
            <a:ext cx="1085850" cy="11969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rPr>
              <a:t>AI</a:t>
            </a:r>
            <a:r>
              <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＋城市物流</a:t>
            </a:r>
            <a:endPar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rPr>
              <a:t>AI</a:t>
            </a:r>
            <a:r>
              <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＋智慧零售</a:t>
            </a:r>
            <a:endPar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rPr>
              <a:t>AI</a:t>
            </a:r>
            <a:r>
              <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＋智能餐饮</a:t>
            </a:r>
            <a:endPar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rPr>
              <a:t>AI</a:t>
            </a:r>
            <a:r>
              <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＋智慧酒店</a:t>
            </a:r>
            <a:endPar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rPr>
              <a:t>AI</a:t>
            </a:r>
            <a:r>
              <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＋智能安防</a:t>
            </a:r>
            <a:endPar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p:txBody>
      </p:sp>
      <p:sp>
        <p:nvSpPr>
          <p:cNvPr id="101" name="文本框 100"/>
          <p:cNvSpPr txBox="1"/>
          <p:nvPr/>
        </p:nvSpPr>
        <p:spPr>
          <a:xfrm>
            <a:off x="1373612" y="3934565"/>
            <a:ext cx="1249680" cy="75501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96EB1"/>
                </a:solidFill>
                <a:effectLst/>
                <a:uLnTx/>
                <a:uFillTx/>
                <a:latin typeface="HarmonyOS Sans SC" panose="00000500000000000000" pitchFamily="2" charset="-122"/>
                <a:ea typeface="HarmonyOS Sans SC" panose="00000500000000000000" pitchFamily="2" charset="-122"/>
                <a:cs typeface="+mn-cs"/>
              </a:rPr>
              <a:t>升级改造园区</a:t>
            </a:r>
            <a:endParaRPr kumimoji="0" lang="en-US" altLang="zh-CN"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96EB1"/>
                </a:solidFill>
                <a:effectLst/>
                <a:uLnTx/>
                <a:uFillTx/>
                <a:latin typeface="HarmonyOS Sans SC" panose="00000500000000000000" pitchFamily="2" charset="-122"/>
                <a:ea typeface="HarmonyOS Sans SC" panose="00000500000000000000" pitchFamily="2" charset="-122"/>
                <a:cs typeface="+mn-cs"/>
              </a:rPr>
              <a:t>联合打造孵化器</a:t>
            </a:r>
            <a:endParaRPr kumimoji="0" lang="en-US" altLang="zh-CN"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96EB1"/>
                </a:solidFill>
                <a:effectLst/>
                <a:uLnTx/>
                <a:uFillTx/>
                <a:latin typeface="HarmonyOS Sans SC" panose="00000500000000000000" pitchFamily="2" charset="-122"/>
                <a:ea typeface="HarmonyOS Sans SC" panose="00000500000000000000" pitchFamily="2" charset="-122"/>
                <a:cs typeface="+mn-cs"/>
              </a:rPr>
              <a:t>购置优质物业</a:t>
            </a:r>
            <a:endParaRPr kumimoji="0" lang="en-US" altLang="zh-CN"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endParaRPr>
          </a:p>
        </p:txBody>
      </p:sp>
      <p:sp>
        <p:nvSpPr>
          <p:cNvPr id="102" name="文本框 101"/>
          <p:cNvSpPr txBox="1"/>
          <p:nvPr/>
        </p:nvSpPr>
        <p:spPr>
          <a:xfrm>
            <a:off x="3073829" y="3934565"/>
            <a:ext cx="1402080" cy="75501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96EB1"/>
                </a:solidFill>
                <a:effectLst/>
                <a:uLnTx/>
                <a:uFillTx/>
                <a:latin typeface="HarmonyOS Sans SC" panose="00000500000000000000" pitchFamily="2" charset="-122"/>
                <a:ea typeface="HarmonyOS Sans SC" panose="00000500000000000000" pitchFamily="2" charset="-122"/>
                <a:cs typeface="+mn-cs"/>
              </a:rPr>
              <a:t>打造智慧园区标杆</a:t>
            </a:r>
            <a:endParaRPr kumimoji="0" lang="en-US" altLang="zh-CN"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96EB1"/>
                </a:solidFill>
                <a:effectLst/>
                <a:uLnTx/>
                <a:uFillTx/>
                <a:latin typeface="HarmonyOS Sans SC" panose="00000500000000000000" pitchFamily="2" charset="-122"/>
                <a:ea typeface="HarmonyOS Sans SC" panose="00000500000000000000" pitchFamily="2" charset="-122"/>
                <a:cs typeface="+mn-cs"/>
              </a:rPr>
              <a:t>资质申报</a:t>
            </a:r>
            <a:endParaRPr kumimoji="0" lang="en-US" altLang="zh-CN"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96EB1"/>
                </a:solidFill>
                <a:effectLst/>
                <a:uLnTx/>
                <a:uFillTx/>
                <a:latin typeface="HarmonyOS Sans SC" panose="00000500000000000000" pitchFamily="2" charset="-122"/>
                <a:ea typeface="HarmonyOS Sans SC" panose="00000500000000000000" pitchFamily="2" charset="-122"/>
                <a:cs typeface="+mn-cs"/>
              </a:rPr>
              <a:t>深化数字应用</a:t>
            </a:r>
            <a:endParaRPr kumimoji="0" lang="en-US" altLang="zh-CN"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endParaRPr>
          </a:p>
        </p:txBody>
      </p:sp>
      <p:sp>
        <p:nvSpPr>
          <p:cNvPr id="103" name="文本框 102"/>
          <p:cNvSpPr txBox="1"/>
          <p:nvPr/>
        </p:nvSpPr>
        <p:spPr>
          <a:xfrm>
            <a:off x="4753612" y="3933091"/>
            <a:ext cx="1554480" cy="75501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96EB1"/>
                </a:solidFill>
                <a:effectLst/>
                <a:uLnTx/>
                <a:uFillTx/>
                <a:latin typeface="HarmonyOS Sans SC" panose="00000500000000000000" pitchFamily="2" charset="-122"/>
                <a:ea typeface="HarmonyOS Sans SC" panose="00000500000000000000" pitchFamily="2" charset="-122"/>
                <a:cs typeface="+mn-cs"/>
              </a:rPr>
              <a:t>资质提升</a:t>
            </a:r>
            <a:endParaRPr kumimoji="0" lang="en-US" altLang="zh-CN"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96EB1"/>
                </a:solidFill>
                <a:effectLst/>
                <a:uLnTx/>
                <a:uFillTx/>
                <a:latin typeface="HarmonyOS Sans SC" panose="00000500000000000000" pitchFamily="2" charset="-122"/>
                <a:ea typeface="HarmonyOS Sans SC" panose="00000500000000000000" pitchFamily="2" charset="-122"/>
                <a:cs typeface="+mn-cs"/>
              </a:rPr>
              <a:t>搭建数字化管理系统</a:t>
            </a:r>
            <a:endParaRPr kumimoji="0" lang="en-US" altLang="zh-CN"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96EB1"/>
                </a:solidFill>
                <a:effectLst/>
                <a:uLnTx/>
                <a:uFillTx/>
                <a:latin typeface="HarmonyOS Sans SC" panose="00000500000000000000" pitchFamily="2" charset="-122"/>
                <a:ea typeface="HarmonyOS Sans SC" panose="00000500000000000000" pitchFamily="2" charset="-122"/>
                <a:cs typeface="+mn-cs"/>
              </a:rPr>
              <a:t>拓展区外重点工程</a:t>
            </a:r>
            <a:endParaRPr kumimoji="0" lang="en-US" altLang="zh-CN"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endParaRPr>
          </a:p>
        </p:txBody>
      </p:sp>
      <p:sp>
        <p:nvSpPr>
          <p:cNvPr id="104" name="文本框 103"/>
          <p:cNvSpPr txBox="1"/>
          <p:nvPr/>
        </p:nvSpPr>
        <p:spPr>
          <a:xfrm>
            <a:off x="6561057" y="4009291"/>
            <a:ext cx="1415772" cy="739433"/>
          </a:xfrm>
          <a:prstGeom prst="rect">
            <a:avLst/>
          </a:prstGeom>
          <a:noFill/>
        </p:spPr>
        <p:txBody>
          <a:bodyPr wrap="none" rtlCol="0">
            <a:spAutoFit/>
          </a:bodyPr>
          <a:lstStyle/>
          <a:p>
            <a:pPr algn="ctr">
              <a:lnSpc>
                <a:spcPct val="120000"/>
              </a:lnSpc>
              <a:defRPr/>
            </a:pPr>
            <a:r>
              <a:rPr lang="zh-CN" altLang="en-US" sz="1200" dirty="0">
                <a:solidFill>
                  <a:srgbClr val="296EB1"/>
                </a:solidFill>
                <a:latin typeface="HarmonyOS Sans SC" panose="00000500000000000000" pitchFamily="2" charset="-122"/>
                <a:ea typeface="HarmonyOS Sans SC" panose="00000500000000000000" pitchFamily="2" charset="-122"/>
              </a:rPr>
              <a:t>进出口业务</a:t>
            </a:r>
            <a:endParaRPr lang="en-US" altLang="zh-CN" sz="1200" dirty="0">
              <a:solidFill>
                <a:srgbClr val="296EB1"/>
              </a:solidFill>
              <a:latin typeface="HarmonyOS Sans SC" panose="00000500000000000000" pitchFamily="2" charset="-122"/>
              <a:ea typeface="HarmonyOS Sans SC" panose="00000500000000000000" pitchFamily="2" charset="-122"/>
            </a:endParaRPr>
          </a:p>
          <a:p>
            <a:pPr algn="ctr">
              <a:lnSpc>
                <a:spcPct val="120000"/>
              </a:lnSpc>
              <a:defRPr/>
            </a:pPr>
            <a:r>
              <a:rPr kumimoji="0" lang="zh-CN" altLang="en-US"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rPr>
              <a:t>数字营销</a:t>
            </a:r>
            <a:endParaRPr kumimoji="0" lang="en-US" altLang="zh-CN"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endParaRPr>
          </a:p>
          <a:p>
            <a:pPr algn="ctr">
              <a:lnSpc>
                <a:spcPct val="120000"/>
              </a:lnSpc>
              <a:defRPr/>
            </a:pPr>
            <a:r>
              <a:rPr lang="zh-CN" altLang="en-US" sz="1200" dirty="0">
                <a:solidFill>
                  <a:srgbClr val="296EB1"/>
                </a:solidFill>
                <a:latin typeface="HarmonyOS Sans SC" panose="00000500000000000000" pitchFamily="2" charset="-122"/>
                <a:ea typeface="HarmonyOS Sans SC" panose="00000500000000000000" pitchFamily="2" charset="-122"/>
              </a:rPr>
              <a:t>拓展重点终端客户</a:t>
            </a:r>
            <a:endParaRPr kumimoji="0" lang="en-US" altLang="zh-CN"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endParaRPr>
          </a:p>
        </p:txBody>
      </p:sp>
      <p:sp>
        <p:nvSpPr>
          <p:cNvPr id="105" name="文本框 104"/>
          <p:cNvSpPr txBox="1"/>
          <p:nvPr/>
        </p:nvSpPr>
        <p:spPr>
          <a:xfrm>
            <a:off x="8639350" y="3937119"/>
            <a:ext cx="800219" cy="961032"/>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rPr>
              <a:t>劳务派遣</a:t>
            </a:r>
            <a:endParaRPr kumimoji="0" lang="en-US" altLang="zh-CN"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rPr>
              <a:t>服务外包</a:t>
            </a:r>
            <a:endParaRPr kumimoji="0" lang="zh-CN" altLang="en-US"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rPr>
              <a:t>人才公寓</a:t>
            </a:r>
            <a:endParaRPr kumimoji="0" lang="zh-CN" altLang="en-US"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rPr>
              <a:t>海外引才</a:t>
            </a:r>
            <a:endParaRPr kumimoji="0" lang="zh-CN" altLang="en-US" sz="1200" b="0" i="0" u="none" strike="noStrike" kern="1200" cap="none" spc="0" normalizeH="0" baseline="0" noProof="0" dirty="0">
              <a:ln>
                <a:noFill/>
              </a:ln>
              <a:solidFill>
                <a:srgbClr val="296EB1"/>
              </a:solidFill>
              <a:effectLst/>
              <a:uLnTx/>
              <a:uFillTx/>
              <a:latin typeface="HarmonyOS Sans SC" panose="00000500000000000000" pitchFamily="2" charset="-122"/>
              <a:ea typeface="HarmonyOS Sans SC" panose="00000500000000000000" pitchFamily="2" charset="-122"/>
              <a:cs typeface="+mn-cs"/>
            </a:endParaRPr>
          </a:p>
        </p:txBody>
      </p:sp>
      <p:sp>
        <p:nvSpPr>
          <p:cNvPr id="106" name="文本框 105"/>
          <p:cNvSpPr txBox="1"/>
          <p:nvPr/>
        </p:nvSpPr>
        <p:spPr>
          <a:xfrm>
            <a:off x="1253018" y="5631548"/>
            <a:ext cx="1554480" cy="53340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B579A"/>
                </a:solidFill>
                <a:effectLst/>
                <a:uLnTx/>
                <a:uFillTx/>
                <a:latin typeface="HarmonyOS Sans SC" panose="00000500000000000000" pitchFamily="2" charset="-122"/>
                <a:ea typeface="HarmonyOS Sans SC" panose="00000500000000000000" pitchFamily="2" charset="-122"/>
                <a:cs typeface="+mn-cs"/>
              </a:rPr>
              <a:t>林业林调，植物保护</a:t>
            </a:r>
            <a:endParaRPr kumimoji="0" lang="en-US" altLang="zh-CN" sz="1200" b="0" i="0" u="none" strike="noStrike" kern="1200" cap="none" spc="0" normalizeH="0" baseline="0" noProof="0" dirty="0">
              <a:ln>
                <a:noFill/>
              </a:ln>
              <a:solidFill>
                <a:srgbClr val="2B579A"/>
              </a:solidFill>
              <a:effectLst/>
              <a:uLnTx/>
              <a:uFillTx/>
              <a:latin typeface="HarmonyOS Sans SC" panose="00000500000000000000" pitchFamily="2" charset="-122"/>
              <a:ea typeface="HarmonyOS Sans SC" panose="00000500000000000000" pitchFamily="2"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B579A"/>
                </a:solidFill>
                <a:effectLst/>
                <a:uLnTx/>
                <a:uFillTx/>
                <a:latin typeface="HarmonyOS Sans SC" panose="00000500000000000000" pitchFamily="2" charset="-122"/>
                <a:ea typeface="HarmonyOS Sans SC" panose="00000500000000000000" pitchFamily="2" charset="-122"/>
                <a:cs typeface="+mn-cs"/>
              </a:rPr>
              <a:t>树木迁移，生态修复</a:t>
            </a:r>
            <a:endParaRPr kumimoji="0" lang="en-US" altLang="zh-CN" sz="1200" b="0" i="0" u="none" strike="noStrike" kern="1200" cap="none" spc="0" normalizeH="0" baseline="0" noProof="0" dirty="0">
              <a:ln>
                <a:noFill/>
              </a:ln>
              <a:solidFill>
                <a:srgbClr val="2B579A"/>
              </a:solidFill>
              <a:effectLst/>
              <a:uLnTx/>
              <a:uFillTx/>
              <a:latin typeface="HarmonyOS Sans SC" panose="00000500000000000000" pitchFamily="2" charset="-122"/>
              <a:ea typeface="HarmonyOS Sans SC" panose="00000500000000000000" pitchFamily="2" charset="-122"/>
              <a:cs typeface="+mn-cs"/>
            </a:endParaRPr>
          </a:p>
        </p:txBody>
      </p:sp>
      <p:sp>
        <p:nvSpPr>
          <p:cNvPr id="107" name="文本框 106"/>
          <p:cNvSpPr txBox="1"/>
          <p:nvPr/>
        </p:nvSpPr>
        <p:spPr>
          <a:xfrm>
            <a:off x="2978909" y="5631548"/>
            <a:ext cx="2621280" cy="53340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B579A"/>
                </a:solidFill>
                <a:effectLst/>
                <a:uLnTx/>
                <a:uFillTx/>
                <a:latin typeface="HarmonyOS Sans SC" panose="00000500000000000000" pitchFamily="2" charset="-122"/>
                <a:ea typeface="HarmonyOS Sans SC" panose="00000500000000000000" pitchFamily="2" charset="-122"/>
                <a:cs typeface="+mn-cs"/>
              </a:rPr>
              <a:t>与高校、科研机构开展创新技术合作</a:t>
            </a:r>
            <a:endParaRPr kumimoji="0" lang="en-US" altLang="zh-CN" sz="1200" b="0" i="0" u="none" strike="noStrike" kern="1200" cap="none" spc="0" normalizeH="0" baseline="0" noProof="0" dirty="0">
              <a:ln>
                <a:noFill/>
              </a:ln>
              <a:solidFill>
                <a:srgbClr val="2B579A"/>
              </a:solidFill>
              <a:effectLst/>
              <a:uLnTx/>
              <a:uFillTx/>
              <a:latin typeface="HarmonyOS Sans SC" panose="00000500000000000000" pitchFamily="2" charset="-122"/>
              <a:ea typeface="HarmonyOS Sans SC" panose="00000500000000000000" pitchFamily="2"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B579A"/>
                </a:solidFill>
                <a:effectLst/>
                <a:uLnTx/>
                <a:uFillTx/>
                <a:latin typeface="HarmonyOS Sans SC" panose="00000500000000000000" pitchFamily="2" charset="-122"/>
                <a:ea typeface="HarmonyOS Sans SC" panose="00000500000000000000" pitchFamily="2" charset="-122"/>
                <a:cs typeface="+mn-cs"/>
              </a:rPr>
              <a:t>积极加入企业平台供应商库</a:t>
            </a:r>
            <a:endParaRPr kumimoji="0" lang="en-US" altLang="zh-CN" sz="1200" b="0" i="0" u="none" strike="noStrike" kern="1200" cap="none" spc="0" normalizeH="0" baseline="0" noProof="0" dirty="0">
              <a:ln>
                <a:noFill/>
              </a:ln>
              <a:solidFill>
                <a:srgbClr val="2B579A"/>
              </a:solidFill>
              <a:effectLst/>
              <a:uLnTx/>
              <a:uFillTx/>
              <a:latin typeface="HarmonyOS Sans SC" panose="00000500000000000000" pitchFamily="2" charset="-122"/>
              <a:ea typeface="HarmonyOS Sans SC" panose="00000500000000000000" pitchFamily="2" charset="-122"/>
              <a:cs typeface="+mn-cs"/>
            </a:endParaRPr>
          </a:p>
        </p:txBody>
      </p:sp>
      <p:sp>
        <p:nvSpPr>
          <p:cNvPr id="108" name="文本框 107"/>
          <p:cNvSpPr txBox="1"/>
          <p:nvPr/>
        </p:nvSpPr>
        <p:spPr>
          <a:xfrm>
            <a:off x="6629546" y="5631548"/>
            <a:ext cx="1097280" cy="53340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B579A"/>
                </a:solidFill>
                <a:effectLst/>
                <a:uLnTx/>
                <a:uFillTx/>
                <a:latin typeface="HarmonyOS Sans SC" panose="00000500000000000000" pitchFamily="2" charset="-122"/>
                <a:ea typeface="HarmonyOS Sans SC" panose="00000500000000000000" pitchFamily="2" charset="-122"/>
                <a:cs typeface="+mn-cs"/>
              </a:rPr>
              <a:t>宝悦坊项目</a:t>
            </a:r>
            <a:endParaRPr kumimoji="0" lang="en-US" altLang="zh-CN" sz="1200" b="0" i="0" u="none" strike="noStrike" kern="1200" cap="none" spc="0" normalizeH="0" baseline="0" noProof="0" dirty="0">
              <a:ln>
                <a:noFill/>
              </a:ln>
              <a:solidFill>
                <a:srgbClr val="2B579A"/>
              </a:solidFill>
              <a:effectLst/>
              <a:uLnTx/>
              <a:uFillTx/>
              <a:latin typeface="HarmonyOS Sans SC" panose="00000500000000000000" pitchFamily="2" charset="-122"/>
              <a:ea typeface="HarmonyOS Sans SC" panose="00000500000000000000" pitchFamily="2"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B579A"/>
                </a:solidFill>
                <a:effectLst/>
                <a:uLnTx/>
                <a:uFillTx/>
                <a:latin typeface="HarmonyOS Sans SC" panose="00000500000000000000" pitchFamily="2" charset="-122"/>
                <a:ea typeface="HarmonyOS Sans SC" panose="00000500000000000000" pitchFamily="2" charset="-122"/>
                <a:cs typeface="+mn-cs"/>
              </a:rPr>
              <a:t>宝岗大道项目</a:t>
            </a:r>
            <a:endParaRPr kumimoji="0" lang="en-US" altLang="zh-CN" sz="1200" b="0" i="0" u="none" strike="noStrike" kern="1200" cap="none" spc="0" normalizeH="0" baseline="0" noProof="0" dirty="0">
              <a:ln>
                <a:noFill/>
              </a:ln>
              <a:solidFill>
                <a:srgbClr val="2B579A"/>
              </a:solidFill>
              <a:effectLst/>
              <a:uLnTx/>
              <a:uFillTx/>
              <a:latin typeface="HarmonyOS Sans SC" panose="00000500000000000000" pitchFamily="2" charset="-122"/>
              <a:ea typeface="HarmonyOS Sans SC" panose="00000500000000000000" pitchFamily="2" charset="-122"/>
              <a:cs typeface="+mn-cs"/>
            </a:endParaRPr>
          </a:p>
        </p:txBody>
      </p:sp>
      <p:sp>
        <p:nvSpPr>
          <p:cNvPr id="109" name="文本框 108"/>
          <p:cNvSpPr txBox="1"/>
          <p:nvPr/>
        </p:nvSpPr>
        <p:spPr>
          <a:xfrm>
            <a:off x="8019169" y="5631548"/>
            <a:ext cx="792480" cy="53340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B579A"/>
                </a:solidFill>
                <a:effectLst/>
                <a:uLnTx/>
                <a:uFillTx/>
                <a:latin typeface="HarmonyOS Sans SC" panose="00000500000000000000" pitchFamily="2" charset="-122"/>
                <a:ea typeface="HarmonyOS Sans SC" panose="00000500000000000000" pitchFamily="2" charset="-122"/>
                <a:cs typeface="+mn-cs"/>
              </a:rPr>
              <a:t>酒店运营</a:t>
            </a:r>
            <a:endParaRPr kumimoji="0" lang="en-US" altLang="zh-CN" sz="1200" b="0" i="0" u="none" strike="noStrike" kern="1200" cap="none" spc="0" normalizeH="0" baseline="0" noProof="0" dirty="0">
              <a:ln>
                <a:noFill/>
              </a:ln>
              <a:solidFill>
                <a:srgbClr val="2B579A"/>
              </a:solidFill>
              <a:effectLst/>
              <a:uLnTx/>
              <a:uFillTx/>
              <a:latin typeface="HarmonyOS Sans SC" panose="00000500000000000000" pitchFamily="2" charset="-122"/>
              <a:ea typeface="HarmonyOS Sans SC" panose="00000500000000000000" pitchFamily="2"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2B579A"/>
                </a:solidFill>
                <a:effectLst/>
                <a:uLnTx/>
                <a:uFillTx/>
                <a:latin typeface="HarmonyOS Sans SC" panose="00000500000000000000" pitchFamily="2" charset="-122"/>
                <a:ea typeface="HarmonyOS Sans SC" panose="00000500000000000000" pitchFamily="2" charset="-122"/>
                <a:cs typeface="+mn-cs"/>
              </a:rPr>
              <a:t>国际会展</a:t>
            </a:r>
            <a:endParaRPr kumimoji="0" lang="en-US" altLang="zh-CN" sz="1200" b="0" i="0" u="none" strike="noStrike" kern="1200" cap="none" spc="0" normalizeH="0" baseline="0" noProof="0" dirty="0">
              <a:ln>
                <a:noFill/>
              </a:ln>
              <a:solidFill>
                <a:srgbClr val="2B579A"/>
              </a:solidFill>
              <a:effectLst/>
              <a:uLnTx/>
              <a:uFillTx/>
              <a:latin typeface="HarmonyOS Sans SC" panose="00000500000000000000" pitchFamily="2" charset="-122"/>
              <a:ea typeface="HarmonyOS Sans SC" panose="00000500000000000000" pitchFamily="2" charset="-122"/>
              <a:cs typeface="+mn-cs"/>
            </a:endParaRPr>
          </a:p>
        </p:txBody>
      </p:sp>
      <p:sp>
        <p:nvSpPr>
          <p:cNvPr id="2" name="文本框 1"/>
          <p:cNvSpPr txBox="1"/>
          <p:nvPr/>
        </p:nvSpPr>
        <p:spPr>
          <a:xfrm>
            <a:off x="6629546" y="1795795"/>
            <a:ext cx="792480" cy="114300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软件做优</a:t>
            </a:r>
            <a:endParaRPr kumimoji="0" lang="en-US" altLang="zh-CN" sz="12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107950" marR="0" lvl="0" indent="-1079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9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算法大赛</a:t>
            </a:r>
            <a:endParaRPr kumimoji="0" lang="en-US" altLang="zh-CN" sz="9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107950" marR="0" lvl="0" indent="-1079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9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行业峰会</a:t>
            </a:r>
            <a:endParaRPr kumimoji="0" lang="en-US" altLang="zh-CN" sz="9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107950" marR="0" lvl="0" indent="-1079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9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项目参展</a:t>
            </a:r>
            <a:endParaRPr kumimoji="0" lang="en-US" altLang="zh-CN" sz="9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107950" marR="0" lvl="0" indent="-1079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9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算法社区</a:t>
            </a:r>
            <a:endParaRPr kumimoji="0" lang="en-US" altLang="zh-CN" sz="900" b="0" i="0" u="none" strike="noStrike" kern="1200" cap="none" spc="0" normalizeH="0" baseline="0" noProof="0" dirty="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a:p>
            <a:pPr marL="107950" marR="0" lvl="0" indent="-1079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9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rPr>
              <a:t>开源数据</a:t>
            </a:r>
            <a:endParaRPr kumimoji="0" lang="zh-CN" altLang="en-US" sz="900" b="0" i="0" u="none" strike="noStrike" kern="1200" cap="none" spc="0" normalizeH="0" baseline="0" noProof="0">
              <a:ln>
                <a:noFill/>
              </a:ln>
              <a:solidFill>
                <a:srgbClr val="64A1D7"/>
              </a:solidFill>
              <a:effectLst/>
              <a:uLnTx/>
              <a:uFillTx/>
              <a:latin typeface="HarmonyOS Sans SC" panose="00000500000000000000" pitchFamily="2" charset="-122"/>
              <a:ea typeface="HarmonyOS Sans SC" panose="00000500000000000000" pitchFamily="2" charset="-122"/>
              <a:cs typeface="+mn-cs"/>
            </a:endParaRPr>
          </a:p>
        </p:txBody>
      </p:sp>
    </p:spTree>
    <p:custDataLst>
      <p:tags r:id="rId1"/>
    </p:custData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073943" y="312796"/>
            <a:ext cx="1508994" cy="430887"/>
          </a:xfrm>
        </p:spPr>
        <p:txBody>
          <a:bodyPr/>
          <a:lstStyle/>
          <a:p>
            <a:r>
              <a:rPr lang="zh-CN" altLang="en-US"/>
              <a:t>组织架构</a:t>
            </a:r>
            <a:endParaRPr lang="zh-CN" altLang="en-US"/>
          </a:p>
        </p:txBody>
      </p:sp>
      <p:sp>
        <p:nvSpPr>
          <p:cNvPr id="4" name="梯形 3"/>
          <p:cNvSpPr/>
          <p:nvPr/>
        </p:nvSpPr>
        <p:spPr>
          <a:xfrm>
            <a:off x="695325" y="3627931"/>
            <a:ext cx="10801350" cy="307777"/>
          </a:xfrm>
          <a:prstGeom prst="trapezoid">
            <a:avLst>
              <a:gd name="adj" fmla="val 146311"/>
            </a:avLst>
          </a:prstGeom>
          <a:gradFill flip="none" rotWithShape="1">
            <a:gsLst>
              <a:gs pos="0">
                <a:schemeClr val="accent1">
                  <a:lumMod val="20000"/>
                  <a:lumOff val="80000"/>
                  <a:alpha val="0"/>
                </a:schemeClr>
              </a:gs>
              <a:gs pos="100000">
                <a:schemeClr val="accent1">
                  <a:lumMod val="20000"/>
                  <a:lumOff val="80000"/>
                </a:schemeClr>
              </a:gs>
            </a:gsLst>
            <a:lin ang="5400000" scaled="1"/>
            <a:tileRect/>
          </a:gradFill>
          <a:ln w="9525" cap="rnd">
            <a:gradFill>
              <a:gsLst>
                <a:gs pos="0">
                  <a:schemeClr val="accent1">
                    <a:lumMod val="20000"/>
                    <a:lumOff val="80000"/>
                    <a:alpha val="0"/>
                  </a:schemeClr>
                </a:gs>
                <a:gs pos="100000">
                  <a:schemeClr val="accent1"/>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5" name="矩形 4"/>
          <p:cNvSpPr>
            <a:spLocks noGrp="1" noRot="1" noMove="1" noResize="1" noEditPoints="1" noAdjustHandles="1" noChangeArrowheads="1" noChangeShapeType="1"/>
          </p:cNvSpPr>
          <p:nvPr/>
        </p:nvSpPr>
        <p:spPr>
          <a:xfrm>
            <a:off x="694946" y="3940109"/>
            <a:ext cx="10810609" cy="2300404"/>
          </a:xfrm>
          <a:prstGeom prst="rect">
            <a:avLst/>
          </a:prstGeom>
          <a:gradFill flip="none" rotWithShape="1">
            <a:gsLst>
              <a:gs pos="0">
                <a:schemeClr val="accent1"/>
              </a:gs>
              <a:gs pos="100000">
                <a:schemeClr val="accent1">
                  <a:lumMod val="75000"/>
                  <a:lumOff val="25000"/>
                </a:schemeClr>
              </a:gs>
            </a:gsLst>
            <a:lin ang="5400000" scaled="1"/>
            <a:tileRect/>
          </a:gradFill>
          <a:ln w="12700" cap="flat" cmpd="sng" algn="ctr">
            <a:gradFill flip="none" rotWithShape="1">
              <a:gsLst>
                <a:gs pos="0">
                  <a:schemeClr val="accent1"/>
                </a:gs>
                <a:gs pos="100000">
                  <a:schemeClr val="accent1">
                    <a:lumMod val="60000"/>
                    <a:lumOff val="40000"/>
                  </a:schemeClr>
                </a:gs>
              </a:gsLst>
              <a:lin ang="5400000" scaled="1"/>
              <a:tileRect/>
            </a:gra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161925" rtl="0" eaLnBrk="1" fontAlgn="auto" latinLnBrk="0" hangingPunct="0">
              <a:lnSpc>
                <a:spcPct val="100000"/>
              </a:lnSpc>
              <a:spcBef>
                <a:spcPts val="0"/>
              </a:spcBef>
              <a:spcAft>
                <a:spcPts val="0"/>
              </a:spcAft>
              <a:buClrTx/>
              <a:buSzTx/>
              <a:buFontTx/>
              <a:buNone/>
              <a:defRPr/>
            </a:pPr>
            <a:endParaRPr kumimoji="0" lang="zh-CN" altLang="en-US" sz="1200" b="1" i="0" u="none" strike="noStrike" kern="0" cap="none" spc="0" normalizeH="0" baseline="0" noProof="0" dirty="0">
              <a:ln>
                <a:noFill/>
              </a:ln>
              <a:solidFill>
                <a:srgbClr val="53585F"/>
              </a:solidFill>
              <a:effectLst/>
              <a:uLnTx/>
              <a:uFillTx/>
              <a:latin typeface="HarmonyOS Sans SC" panose="00000500000000000000" pitchFamily="2" charset="-122"/>
              <a:ea typeface="HarmonyOS Sans SC" panose="00000500000000000000" pitchFamily="2" charset="-122"/>
              <a:cs typeface="+mn-cs"/>
            </a:endParaRPr>
          </a:p>
        </p:txBody>
      </p:sp>
      <p:sp>
        <p:nvSpPr>
          <p:cNvPr id="6" name="梯形 5"/>
          <p:cNvSpPr/>
          <p:nvPr/>
        </p:nvSpPr>
        <p:spPr>
          <a:xfrm>
            <a:off x="695325" y="1964544"/>
            <a:ext cx="10801350" cy="307777"/>
          </a:xfrm>
          <a:prstGeom prst="trapezoid">
            <a:avLst>
              <a:gd name="adj" fmla="val 146311"/>
            </a:avLst>
          </a:prstGeom>
          <a:gradFill flip="none" rotWithShape="1">
            <a:gsLst>
              <a:gs pos="0">
                <a:schemeClr val="accent1">
                  <a:lumMod val="20000"/>
                  <a:lumOff val="80000"/>
                  <a:alpha val="0"/>
                </a:schemeClr>
              </a:gs>
              <a:gs pos="100000">
                <a:schemeClr val="accent1">
                  <a:lumMod val="20000"/>
                  <a:lumOff val="80000"/>
                </a:schemeClr>
              </a:gs>
            </a:gsLst>
            <a:lin ang="5400000" scaled="1"/>
            <a:tileRect/>
          </a:gradFill>
          <a:ln w="9525" cap="rnd">
            <a:gradFill>
              <a:gsLst>
                <a:gs pos="0">
                  <a:schemeClr val="accent1">
                    <a:lumMod val="20000"/>
                    <a:lumOff val="80000"/>
                    <a:alpha val="0"/>
                  </a:schemeClr>
                </a:gs>
                <a:gs pos="100000">
                  <a:schemeClr val="accent1"/>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7" name="矩形 6"/>
          <p:cNvSpPr/>
          <p:nvPr/>
        </p:nvSpPr>
        <p:spPr>
          <a:xfrm>
            <a:off x="690696" y="2271909"/>
            <a:ext cx="10810609" cy="1128949"/>
          </a:xfrm>
          <a:prstGeom prst="rect">
            <a:avLst/>
          </a:prstGeom>
          <a:gradFill flip="none" rotWithShape="1">
            <a:gsLst>
              <a:gs pos="0">
                <a:schemeClr val="accent1"/>
              </a:gs>
              <a:gs pos="100000">
                <a:schemeClr val="accent1">
                  <a:alpha val="75000"/>
                </a:schemeClr>
              </a:gs>
            </a:gsLst>
            <a:lin ang="5400000" scaled="1"/>
            <a:tileRect/>
          </a:gradFill>
          <a:ln w="12700" cap="flat" cmpd="sng" algn="ctr">
            <a:gradFill flip="none" rotWithShape="1">
              <a:gsLst>
                <a:gs pos="0">
                  <a:schemeClr val="accent1"/>
                </a:gs>
                <a:gs pos="100000">
                  <a:schemeClr val="accent1">
                    <a:lumMod val="60000"/>
                    <a:lumOff val="40000"/>
                  </a:schemeClr>
                </a:gs>
              </a:gsLst>
              <a:lin ang="5400000" scaled="1"/>
              <a:tileRect/>
            </a:gradFill>
            <a:prstDash val="solid"/>
          </a:ln>
          <a:effectLst/>
        </p:spPr>
        <p:txBody>
          <a:bodyPr wrap="square" rtlCol="0" anchor="ctr"/>
          <a:lstStyle/>
          <a:p>
            <a:pPr marL="0" marR="0" lvl="0" indent="0" algn="ctr" defTabSz="161925" rtl="0" eaLnBrk="1" fontAlgn="auto" latinLnBrk="0" hangingPunct="0">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rgbClr val="53585F"/>
              </a:solidFill>
              <a:effectLst/>
              <a:uLnTx/>
              <a:uFillTx/>
              <a:latin typeface="HarmonyOS Sans SC" panose="00000500000000000000" pitchFamily="2" charset="-122"/>
              <a:ea typeface="HarmonyOS Sans SC" panose="00000500000000000000" pitchFamily="2" charset="-122"/>
              <a:cs typeface="+mn-cs"/>
            </a:endParaRPr>
          </a:p>
        </p:txBody>
      </p:sp>
      <p:sp>
        <p:nvSpPr>
          <p:cNvPr id="8" name="梯形 7"/>
          <p:cNvSpPr/>
          <p:nvPr/>
        </p:nvSpPr>
        <p:spPr>
          <a:xfrm>
            <a:off x="695325" y="1134075"/>
            <a:ext cx="10801350" cy="705629"/>
          </a:xfrm>
          <a:prstGeom prst="trapezoid">
            <a:avLst>
              <a:gd name="adj" fmla="val 174000"/>
            </a:avLst>
          </a:prstGeom>
          <a:gradFill flip="none" rotWithShape="1">
            <a:gsLst>
              <a:gs pos="0">
                <a:schemeClr val="accent1">
                  <a:lumMod val="20000"/>
                  <a:lumOff val="80000"/>
                  <a:alpha val="0"/>
                </a:schemeClr>
              </a:gs>
              <a:gs pos="100000">
                <a:schemeClr val="accent1">
                  <a:lumMod val="20000"/>
                  <a:lumOff val="80000"/>
                  <a:alpha val="39000"/>
                </a:schemeClr>
              </a:gs>
            </a:gsLst>
            <a:lin ang="5400000" scaled="1"/>
            <a:tileRect/>
          </a:gradFill>
          <a:ln w="9525" cap="rnd">
            <a:gradFill>
              <a:gsLst>
                <a:gs pos="0">
                  <a:schemeClr val="accent1">
                    <a:lumMod val="20000"/>
                    <a:lumOff val="80000"/>
                    <a:alpha val="0"/>
                  </a:schemeClr>
                </a:gs>
                <a:gs pos="100000">
                  <a:schemeClr val="accent1"/>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grpSp>
        <p:nvGrpSpPr>
          <p:cNvPr id="9" name="组合 8"/>
          <p:cNvGrpSpPr/>
          <p:nvPr/>
        </p:nvGrpSpPr>
        <p:grpSpPr>
          <a:xfrm>
            <a:off x="4722679" y="1028700"/>
            <a:ext cx="2689148" cy="530728"/>
            <a:chOff x="4722679" y="1505336"/>
            <a:chExt cx="2689148" cy="530728"/>
          </a:xfrm>
          <a:effectLst>
            <a:reflection blurRad="25400" stA="42000" endPos="35000" dir="5400000" sy="-100000" algn="bl" rotWithShape="0"/>
          </a:effectLst>
        </p:grpSpPr>
        <p:grpSp>
          <p:nvGrpSpPr>
            <p:cNvPr id="10" name="组合 9"/>
            <p:cNvGrpSpPr/>
            <p:nvPr/>
          </p:nvGrpSpPr>
          <p:grpSpPr>
            <a:xfrm>
              <a:off x="4722679" y="1505336"/>
              <a:ext cx="2689148" cy="530728"/>
              <a:chOff x="4830872" y="1569720"/>
              <a:chExt cx="1842628" cy="401960"/>
            </a:xfrm>
          </p:grpSpPr>
          <p:sp>
            <p:nvSpPr>
              <p:cNvPr id="12" name="矩形 20"/>
              <p:cNvSpPr/>
              <p:nvPr/>
            </p:nvSpPr>
            <p:spPr>
              <a:xfrm>
                <a:off x="4830872" y="1569720"/>
                <a:ext cx="1842628" cy="386750"/>
              </a:xfrm>
              <a:custGeom>
                <a:avLst/>
                <a:gdLst>
                  <a:gd name="connsiteX0" fmla="*/ 72000 w 1842628"/>
                  <a:gd name="connsiteY0" fmla="*/ 0 h 386750"/>
                  <a:gd name="connsiteX1" fmla="*/ 1770628 w 1842628"/>
                  <a:gd name="connsiteY1" fmla="*/ 0 h 386750"/>
                  <a:gd name="connsiteX2" fmla="*/ 1842628 w 1842628"/>
                  <a:gd name="connsiteY2" fmla="*/ 72000 h 386750"/>
                  <a:gd name="connsiteX3" fmla="*/ 1842628 w 1842628"/>
                  <a:gd name="connsiteY3" fmla="*/ 314750 h 386750"/>
                  <a:gd name="connsiteX4" fmla="*/ 1770628 w 1842628"/>
                  <a:gd name="connsiteY4" fmla="*/ 386750 h 386750"/>
                  <a:gd name="connsiteX5" fmla="*/ 72000 w 1842628"/>
                  <a:gd name="connsiteY5" fmla="*/ 386750 h 386750"/>
                  <a:gd name="connsiteX6" fmla="*/ 0 w 1842628"/>
                  <a:gd name="connsiteY6" fmla="*/ 314750 h 386750"/>
                  <a:gd name="connsiteX7" fmla="*/ 0 w 1842628"/>
                  <a:gd name="connsiteY7" fmla="*/ 72000 h 386750"/>
                  <a:gd name="connsiteX8" fmla="*/ 72000 w 1842628"/>
                  <a:gd name="connsiteY8" fmla="*/ 0 h 38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2628" h="386750">
                    <a:moveTo>
                      <a:pt x="72000" y="0"/>
                    </a:moveTo>
                    <a:lnTo>
                      <a:pt x="1770628" y="0"/>
                    </a:lnTo>
                    <a:cubicBezTo>
                      <a:pt x="1810372" y="0"/>
                      <a:pt x="1842628" y="32256"/>
                      <a:pt x="1842628" y="72000"/>
                    </a:cubicBezTo>
                    <a:lnTo>
                      <a:pt x="1842628" y="314750"/>
                    </a:lnTo>
                    <a:cubicBezTo>
                      <a:pt x="1842628" y="354494"/>
                      <a:pt x="1810372" y="386750"/>
                      <a:pt x="1770628" y="386750"/>
                    </a:cubicBezTo>
                    <a:lnTo>
                      <a:pt x="72000" y="386750"/>
                    </a:lnTo>
                    <a:cubicBezTo>
                      <a:pt x="32256" y="386750"/>
                      <a:pt x="0" y="354494"/>
                      <a:pt x="0" y="314750"/>
                    </a:cubicBezTo>
                    <a:lnTo>
                      <a:pt x="0" y="72000"/>
                    </a:lnTo>
                    <a:cubicBezTo>
                      <a:pt x="0" y="32256"/>
                      <a:pt x="32256" y="0"/>
                      <a:pt x="72000" y="0"/>
                    </a:cubicBezTo>
                  </a:path>
                </a:pathLst>
              </a:custGeom>
              <a:gradFill flip="none" rotWithShape="1">
                <a:gsLst>
                  <a:gs pos="0">
                    <a:schemeClr val="accent1">
                      <a:lumMod val="60000"/>
                      <a:lumOff val="40000"/>
                    </a:schemeClr>
                  </a:gs>
                  <a:gs pos="48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13" name="矩形 20"/>
              <p:cNvSpPr/>
              <p:nvPr/>
            </p:nvSpPr>
            <p:spPr>
              <a:xfrm>
                <a:off x="4830872" y="1584930"/>
                <a:ext cx="1842628" cy="386750"/>
              </a:xfrm>
              <a:custGeom>
                <a:avLst/>
                <a:gdLst>
                  <a:gd name="connsiteX0" fmla="*/ 72000 w 1842628"/>
                  <a:gd name="connsiteY0" fmla="*/ 0 h 386750"/>
                  <a:gd name="connsiteX1" fmla="*/ 1770628 w 1842628"/>
                  <a:gd name="connsiteY1" fmla="*/ 0 h 386750"/>
                  <a:gd name="connsiteX2" fmla="*/ 1842628 w 1842628"/>
                  <a:gd name="connsiteY2" fmla="*/ 72000 h 386750"/>
                  <a:gd name="connsiteX3" fmla="*/ 1842628 w 1842628"/>
                  <a:gd name="connsiteY3" fmla="*/ 314750 h 386750"/>
                  <a:gd name="connsiteX4" fmla="*/ 1770628 w 1842628"/>
                  <a:gd name="connsiteY4" fmla="*/ 386750 h 386750"/>
                  <a:gd name="connsiteX5" fmla="*/ 72000 w 1842628"/>
                  <a:gd name="connsiteY5" fmla="*/ 386750 h 386750"/>
                  <a:gd name="connsiteX6" fmla="*/ 0 w 1842628"/>
                  <a:gd name="connsiteY6" fmla="*/ 314750 h 386750"/>
                  <a:gd name="connsiteX7" fmla="*/ 0 w 1842628"/>
                  <a:gd name="connsiteY7" fmla="*/ 72000 h 386750"/>
                  <a:gd name="connsiteX8" fmla="*/ 72000 w 1842628"/>
                  <a:gd name="connsiteY8" fmla="*/ 0 h 38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2628" h="386750">
                    <a:moveTo>
                      <a:pt x="72000" y="0"/>
                    </a:moveTo>
                    <a:lnTo>
                      <a:pt x="1770628" y="0"/>
                    </a:lnTo>
                    <a:cubicBezTo>
                      <a:pt x="1810372" y="0"/>
                      <a:pt x="1842628" y="32256"/>
                      <a:pt x="1842628" y="72000"/>
                    </a:cubicBezTo>
                    <a:lnTo>
                      <a:pt x="1842628" y="314750"/>
                    </a:lnTo>
                    <a:cubicBezTo>
                      <a:pt x="1842628" y="354494"/>
                      <a:pt x="1810372" y="386750"/>
                      <a:pt x="1770628" y="386750"/>
                    </a:cubicBezTo>
                    <a:lnTo>
                      <a:pt x="72000" y="386750"/>
                    </a:lnTo>
                    <a:cubicBezTo>
                      <a:pt x="32256" y="386750"/>
                      <a:pt x="0" y="354494"/>
                      <a:pt x="0" y="314750"/>
                    </a:cubicBezTo>
                    <a:lnTo>
                      <a:pt x="0" y="72000"/>
                    </a:lnTo>
                    <a:cubicBezTo>
                      <a:pt x="0" y="32256"/>
                      <a:pt x="32256" y="0"/>
                      <a:pt x="72000" y="0"/>
                    </a:cubicBezTo>
                  </a:path>
                </a:pathLst>
              </a:custGeom>
              <a:gradFill flip="none" rotWithShape="1">
                <a:gsLst>
                  <a:gs pos="0">
                    <a:schemeClr val="accent1">
                      <a:lumMod val="60000"/>
                      <a:lumOff val="40000"/>
                    </a:schemeClr>
                  </a:gs>
                  <a:gs pos="91000">
                    <a:schemeClr val="accent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grpSp>
        <p:sp>
          <p:nvSpPr>
            <p:cNvPr id="11" name="文本框 10"/>
            <p:cNvSpPr txBox="1"/>
            <p:nvPr/>
          </p:nvSpPr>
          <p:spPr>
            <a:xfrm>
              <a:off x="4819306" y="1536377"/>
              <a:ext cx="2495894"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rPr>
                <a:t>海珠城发集团</a:t>
              </a:r>
              <a:endParaRPr kumimoji="0" lang="zh-CN" altLang="en-US" sz="2400" b="1"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grpSp>
      <p:grpSp>
        <p:nvGrpSpPr>
          <p:cNvPr id="14" name="组合 13"/>
          <p:cNvGrpSpPr/>
          <p:nvPr/>
        </p:nvGrpSpPr>
        <p:grpSpPr>
          <a:xfrm>
            <a:off x="8972442" y="1028700"/>
            <a:ext cx="1705154" cy="530728"/>
            <a:chOff x="4722679" y="1505336"/>
            <a:chExt cx="2689148" cy="530728"/>
          </a:xfrm>
          <a:effectLst>
            <a:reflection blurRad="25400" stA="42000" endPos="35000" dir="5400000" sy="-100000" algn="bl" rotWithShape="0"/>
          </a:effectLst>
        </p:grpSpPr>
        <p:grpSp>
          <p:nvGrpSpPr>
            <p:cNvPr id="15" name="组合 14"/>
            <p:cNvGrpSpPr/>
            <p:nvPr/>
          </p:nvGrpSpPr>
          <p:grpSpPr>
            <a:xfrm>
              <a:off x="4722679" y="1505336"/>
              <a:ext cx="2689148" cy="530728"/>
              <a:chOff x="4830872" y="1569720"/>
              <a:chExt cx="1842628" cy="401960"/>
            </a:xfrm>
          </p:grpSpPr>
          <p:sp>
            <p:nvSpPr>
              <p:cNvPr id="17" name="矩形 20"/>
              <p:cNvSpPr/>
              <p:nvPr/>
            </p:nvSpPr>
            <p:spPr>
              <a:xfrm>
                <a:off x="4830872" y="1569720"/>
                <a:ext cx="1842628" cy="386750"/>
              </a:xfrm>
              <a:custGeom>
                <a:avLst/>
                <a:gdLst>
                  <a:gd name="connsiteX0" fmla="*/ 72000 w 1842628"/>
                  <a:gd name="connsiteY0" fmla="*/ 0 h 386750"/>
                  <a:gd name="connsiteX1" fmla="*/ 1770628 w 1842628"/>
                  <a:gd name="connsiteY1" fmla="*/ 0 h 386750"/>
                  <a:gd name="connsiteX2" fmla="*/ 1842628 w 1842628"/>
                  <a:gd name="connsiteY2" fmla="*/ 72000 h 386750"/>
                  <a:gd name="connsiteX3" fmla="*/ 1842628 w 1842628"/>
                  <a:gd name="connsiteY3" fmla="*/ 314750 h 386750"/>
                  <a:gd name="connsiteX4" fmla="*/ 1770628 w 1842628"/>
                  <a:gd name="connsiteY4" fmla="*/ 386750 h 386750"/>
                  <a:gd name="connsiteX5" fmla="*/ 72000 w 1842628"/>
                  <a:gd name="connsiteY5" fmla="*/ 386750 h 386750"/>
                  <a:gd name="connsiteX6" fmla="*/ 0 w 1842628"/>
                  <a:gd name="connsiteY6" fmla="*/ 314750 h 386750"/>
                  <a:gd name="connsiteX7" fmla="*/ 0 w 1842628"/>
                  <a:gd name="connsiteY7" fmla="*/ 72000 h 386750"/>
                  <a:gd name="connsiteX8" fmla="*/ 72000 w 1842628"/>
                  <a:gd name="connsiteY8" fmla="*/ 0 h 38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2628" h="386750">
                    <a:moveTo>
                      <a:pt x="72000" y="0"/>
                    </a:moveTo>
                    <a:lnTo>
                      <a:pt x="1770628" y="0"/>
                    </a:lnTo>
                    <a:cubicBezTo>
                      <a:pt x="1810372" y="0"/>
                      <a:pt x="1842628" y="32256"/>
                      <a:pt x="1842628" y="72000"/>
                    </a:cubicBezTo>
                    <a:lnTo>
                      <a:pt x="1842628" y="314750"/>
                    </a:lnTo>
                    <a:cubicBezTo>
                      <a:pt x="1842628" y="354494"/>
                      <a:pt x="1810372" y="386750"/>
                      <a:pt x="1770628" y="386750"/>
                    </a:cubicBezTo>
                    <a:lnTo>
                      <a:pt x="72000" y="386750"/>
                    </a:lnTo>
                    <a:cubicBezTo>
                      <a:pt x="32256" y="386750"/>
                      <a:pt x="0" y="354494"/>
                      <a:pt x="0" y="314750"/>
                    </a:cubicBezTo>
                    <a:lnTo>
                      <a:pt x="0" y="72000"/>
                    </a:lnTo>
                    <a:cubicBezTo>
                      <a:pt x="0" y="32256"/>
                      <a:pt x="32256" y="0"/>
                      <a:pt x="72000" y="0"/>
                    </a:cubicBezTo>
                  </a:path>
                </a:pathLst>
              </a:custGeom>
              <a:gradFill flip="none" rotWithShape="1">
                <a:gsLst>
                  <a:gs pos="0">
                    <a:schemeClr val="accent1">
                      <a:lumMod val="60000"/>
                      <a:lumOff val="40000"/>
                    </a:schemeClr>
                  </a:gs>
                  <a:gs pos="48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18" name="矩形 20"/>
              <p:cNvSpPr/>
              <p:nvPr/>
            </p:nvSpPr>
            <p:spPr>
              <a:xfrm>
                <a:off x="4830872" y="1584930"/>
                <a:ext cx="1842628" cy="386750"/>
              </a:xfrm>
              <a:custGeom>
                <a:avLst/>
                <a:gdLst>
                  <a:gd name="connsiteX0" fmla="*/ 72000 w 1842628"/>
                  <a:gd name="connsiteY0" fmla="*/ 0 h 386750"/>
                  <a:gd name="connsiteX1" fmla="*/ 1770628 w 1842628"/>
                  <a:gd name="connsiteY1" fmla="*/ 0 h 386750"/>
                  <a:gd name="connsiteX2" fmla="*/ 1842628 w 1842628"/>
                  <a:gd name="connsiteY2" fmla="*/ 72000 h 386750"/>
                  <a:gd name="connsiteX3" fmla="*/ 1842628 w 1842628"/>
                  <a:gd name="connsiteY3" fmla="*/ 314750 h 386750"/>
                  <a:gd name="connsiteX4" fmla="*/ 1770628 w 1842628"/>
                  <a:gd name="connsiteY4" fmla="*/ 386750 h 386750"/>
                  <a:gd name="connsiteX5" fmla="*/ 72000 w 1842628"/>
                  <a:gd name="connsiteY5" fmla="*/ 386750 h 386750"/>
                  <a:gd name="connsiteX6" fmla="*/ 0 w 1842628"/>
                  <a:gd name="connsiteY6" fmla="*/ 314750 h 386750"/>
                  <a:gd name="connsiteX7" fmla="*/ 0 w 1842628"/>
                  <a:gd name="connsiteY7" fmla="*/ 72000 h 386750"/>
                  <a:gd name="connsiteX8" fmla="*/ 72000 w 1842628"/>
                  <a:gd name="connsiteY8" fmla="*/ 0 h 38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2628" h="386750">
                    <a:moveTo>
                      <a:pt x="72000" y="0"/>
                    </a:moveTo>
                    <a:lnTo>
                      <a:pt x="1770628" y="0"/>
                    </a:lnTo>
                    <a:cubicBezTo>
                      <a:pt x="1810372" y="0"/>
                      <a:pt x="1842628" y="32256"/>
                      <a:pt x="1842628" y="72000"/>
                    </a:cubicBezTo>
                    <a:lnTo>
                      <a:pt x="1842628" y="314750"/>
                    </a:lnTo>
                    <a:cubicBezTo>
                      <a:pt x="1842628" y="354494"/>
                      <a:pt x="1810372" y="386750"/>
                      <a:pt x="1770628" y="386750"/>
                    </a:cubicBezTo>
                    <a:lnTo>
                      <a:pt x="72000" y="386750"/>
                    </a:lnTo>
                    <a:cubicBezTo>
                      <a:pt x="32256" y="386750"/>
                      <a:pt x="0" y="354494"/>
                      <a:pt x="0" y="314750"/>
                    </a:cubicBezTo>
                    <a:lnTo>
                      <a:pt x="0" y="72000"/>
                    </a:lnTo>
                    <a:cubicBezTo>
                      <a:pt x="0" y="32256"/>
                      <a:pt x="32256" y="0"/>
                      <a:pt x="72000" y="0"/>
                    </a:cubicBezTo>
                  </a:path>
                </a:pathLst>
              </a:custGeom>
              <a:gradFill flip="none" rotWithShape="1">
                <a:gsLst>
                  <a:gs pos="0">
                    <a:schemeClr val="accent1">
                      <a:lumMod val="60000"/>
                      <a:lumOff val="40000"/>
                    </a:schemeClr>
                  </a:gs>
                  <a:gs pos="91000">
                    <a:schemeClr val="accent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grpSp>
        <p:sp>
          <p:nvSpPr>
            <p:cNvPr id="16" name="文本框 15"/>
            <p:cNvSpPr txBox="1"/>
            <p:nvPr/>
          </p:nvSpPr>
          <p:spPr>
            <a:xfrm>
              <a:off x="4819306" y="1586034"/>
              <a:ext cx="24958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rPr>
                <a:t>董事会</a:t>
              </a:r>
              <a:endParaRPr kumimoji="0" lang="zh-CN" altLang="en-US" sz="16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grpSp>
      <p:grpSp>
        <p:nvGrpSpPr>
          <p:cNvPr id="19" name="组合 18"/>
          <p:cNvGrpSpPr/>
          <p:nvPr/>
        </p:nvGrpSpPr>
        <p:grpSpPr>
          <a:xfrm>
            <a:off x="1514404" y="1028700"/>
            <a:ext cx="1705154" cy="530728"/>
            <a:chOff x="4722679" y="1505336"/>
            <a:chExt cx="2689148" cy="530728"/>
          </a:xfrm>
          <a:effectLst>
            <a:reflection blurRad="25400" stA="42000" endPos="35000" dir="5400000" sy="-100000" algn="bl" rotWithShape="0"/>
          </a:effectLst>
        </p:grpSpPr>
        <p:grpSp>
          <p:nvGrpSpPr>
            <p:cNvPr id="20" name="组合 19"/>
            <p:cNvGrpSpPr/>
            <p:nvPr/>
          </p:nvGrpSpPr>
          <p:grpSpPr>
            <a:xfrm>
              <a:off x="4722679" y="1505336"/>
              <a:ext cx="2689148" cy="530728"/>
              <a:chOff x="4830872" y="1569720"/>
              <a:chExt cx="1842628" cy="401960"/>
            </a:xfrm>
          </p:grpSpPr>
          <p:sp>
            <p:nvSpPr>
              <p:cNvPr id="22" name="矩形 20"/>
              <p:cNvSpPr/>
              <p:nvPr/>
            </p:nvSpPr>
            <p:spPr>
              <a:xfrm>
                <a:off x="4830872" y="1569720"/>
                <a:ext cx="1842628" cy="386750"/>
              </a:xfrm>
              <a:custGeom>
                <a:avLst/>
                <a:gdLst>
                  <a:gd name="connsiteX0" fmla="*/ 72000 w 1842628"/>
                  <a:gd name="connsiteY0" fmla="*/ 0 h 386750"/>
                  <a:gd name="connsiteX1" fmla="*/ 1770628 w 1842628"/>
                  <a:gd name="connsiteY1" fmla="*/ 0 h 386750"/>
                  <a:gd name="connsiteX2" fmla="*/ 1842628 w 1842628"/>
                  <a:gd name="connsiteY2" fmla="*/ 72000 h 386750"/>
                  <a:gd name="connsiteX3" fmla="*/ 1842628 w 1842628"/>
                  <a:gd name="connsiteY3" fmla="*/ 314750 h 386750"/>
                  <a:gd name="connsiteX4" fmla="*/ 1770628 w 1842628"/>
                  <a:gd name="connsiteY4" fmla="*/ 386750 h 386750"/>
                  <a:gd name="connsiteX5" fmla="*/ 72000 w 1842628"/>
                  <a:gd name="connsiteY5" fmla="*/ 386750 h 386750"/>
                  <a:gd name="connsiteX6" fmla="*/ 0 w 1842628"/>
                  <a:gd name="connsiteY6" fmla="*/ 314750 h 386750"/>
                  <a:gd name="connsiteX7" fmla="*/ 0 w 1842628"/>
                  <a:gd name="connsiteY7" fmla="*/ 72000 h 386750"/>
                  <a:gd name="connsiteX8" fmla="*/ 72000 w 1842628"/>
                  <a:gd name="connsiteY8" fmla="*/ 0 h 38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2628" h="386750">
                    <a:moveTo>
                      <a:pt x="72000" y="0"/>
                    </a:moveTo>
                    <a:lnTo>
                      <a:pt x="1770628" y="0"/>
                    </a:lnTo>
                    <a:cubicBezTo>
                      <a:pt x="1810372" y="0"/>
                      <a:pt x="1842628" y="32256"/>
                      <a:pt x="1842628" y="72000"/>
                    </a:cubicBezTo>
                    <a:lnTo>
                      <a:pt x="1842628" y="314750"/>
                    </a:lnTo>
                    <a:cubicBezTo>
                      <a:pt x="1842628" y="354494"/>
                      <a:pt x="1810372" y="386750"/>
                      <a:pt x="1770628" y="386750"/>
                    </a:cubicBezTo>
                    <a:lnTo>
                      <a:pt x="72000" y="386750"/>
                    </a:lnTo>
                    <a:cubicBezTo>
                      <a:pt x="32256" y="386750"/>
                      <a:pt x="0" y="354494"/>
                      <a:pt x="0" y="314750"/>
                    </a:cubicBezTo>
                    <a:lnTo>
                      <a:pt x="0" y="72000"/>
                    </a:lnTo>
                    <a:cubicBezTo>
                      <a:pt x="0" y="32256"/>
                      <a:pt x="32256" y="0"/>
                      <a:pt x="72000" y="0"/>
                    </a:cubicBezTo>
                  </a:path>
                </a:pathLst>
              </a:custGeom>
              <a:gradFill flip="none" rotWithShape="1">
                <a:gsLst>
                  <a:gs pos="0">
                    <a:schemeClr val="accent1">
                      <a:lumMod val="60000"/>
                      <a:lumOff val="40000"/>
                    </a:schemeClr>
                  </a:gs>
                  <a:gs pos="48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23" name="矩形 20"/>
              <p:cNvSpPr/>
              <p:nvPr/>
            </p:nvSpPr>
            <p:spPr>
              <a:xfrm>
                <a:off x="4830872" y="1584930"/>
                <a:ext cx="1842628" cy="386750"/>
              </a:xfrm>
              <a:custGeom>
                <a:avLst/>
                <a:gdLst>
                  <a:gd name="connsiteX0" fmla="*/ 72000 w 1842628"/>
                  <a:gd name="connsiteY0" fmla="*/ 0 h 386750"/>
                  <a:gd name="connsiteX1" fmla="*/ 1770628 w 1842628"/>
                  <a:gd name="connsiteY1" fmla="*/ 0 h 386750"/>
                  <a:gd name="connsiteX2" fmla="*/ 1842628 w 1842628"/>
                  <a:gd name="connsiteY2" fmla="*/ 72000 h 386750"/>
                  <a:gd name="connsiteX3" fmla="*/ 1842628 w 1842628"/>
                  <a:gd name="connsiteY3" fmla="*/ 314750 h 386750"/>
                  <a:gd name="connsiteX4" fmla="*/ 1770628 w 1842628"/>
                  <a:gd name="connsiteY4" fmla="*/ 386750 h 386750"/>
                  <a:gd name="connsiteX5" fmla="*/ 72000 w 1842628"/>
                  <a:gd name="connsiteY5" fmla="*/ 386750 h 386750"/>
                  <a:gd name="connsiteX6" fmla="*/ 0 w 1842628"/>
                  <a:gd name="connsiteY6" fmla="*/ 314750 h 386750"/>
                  <a:gd name="connsiteX7" fmla="*/ 0 w 1842628"/>
                  <a:gd name="connsiteY7" fmla="*/ 72000 h 386750"/>
                  <a:gd name="connsiteX8" fmla="*/ 72000 w 1842628"/>
                  <a:gd name="connsiteY8" fmla="*/ 0 h 38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2628" h="386750">
                    <a:moveTo>
                      <a:pt x="72000" y="0"/>
                    </a:moveTo>
                    <a:lnTo>
                      <a:pt x="1770628" y="0"/>
                    </a:lnTo>
                    <a:cubicBezTo>
                      <a:pt x="1810372" y="0"/>
                      <a:pt x="1842628" y="32256"/>
                      <a:pt x="1842628" y="72000"/>
                    </a:cubicBezTo>
                    <a:lnTo>
                      <a:pt x="1842628" y="314750"/>
                    </a:lnTo>
                    <a:cubicBezTo>
                      <a:pt x="1842628" y="354494"/>
                      <a:pt x="1810372" y="386750"/>
                      <a:pt x="1770628" y="386750"/>
                    </a:cubicBezTo>
                    <a:lnTo>
                      <a:pt x="72000" y="386750"/>
                    </a:lnTo>
                    <a:cubicBezTo>
                      <a:pt x="32256" y="386750"/>
                      <a:pt x="0" y="354494"/>
                      <a:pt x="0" y="314750"/>
                    </a:cubicBezTo>
                    <a:lnTo>
                      <a:pt x="0" y="72000"/>
                    </a:lnTo>
                    <a:cubicBezTo>
                      <a:pt x="0" y="32256"/>
                      <a:pt x="32256" y="0"/>
                      <a:pt x="72000" y="0"/>
                    </a:cubicBezTo>
                  </a:path>
                </a:pathLst>
              </a:custGeom>
              <a:gradFill flip="none" rotWithShape="1">
                <a:gsLst>
                  <a:gs pos="0">
                    <a:schemeClr val="accent1">
                      <a:lumMod val="60000"/>
                      <a:lumOff val="40000"/>
                    </a:schemeClr>
                  </a:gs>
                  <a:gs pos="91000">
                    <a:schemeClr val="accent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grpSp>
        <p:sp>
          <p:nvSpPr>
            <p:cNvPr id="21" name="文本框 20"/>
            <p:cNvSpPr txBox="1"/>
            <p:nvPr/>
          </p:nvSpPr>
          <p:spPr>
            <a:xfrm>
              <a:off x="4819306" y="1532536"/>
              <a:ext cx="2495894" cy="49244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rPr>
                <a:t>党委</a:t>
              </a:r>
              <a:endParaRPr kumimoji="0" lang="en-US" altLang="zh-CN" sz="16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a:ln>
                    <a:noFill/>
                  </a:ln>
                  <a:solidFill>
                    <a:prstClr val="white"/>
                  </a:solidFill>
                  <a:effectLst/>
                  <a:uLnTx/>
                  <a:uFillTx/>
                  <a:latin typeface="微软雅黑 Light" panose="020B0502040204020203" pitchFamily="34" charset="-122"/>
                  <a:ea typeface="微软雅黑 Light" panose="020B0502040204020203" pitchFamily="34" charset="-122"/>
                  <a:cs typeface="+mn-cs"/>
                </a:rPr>
                <a:t>（ 纪委  工会 ）</a:t>
              </a:r>
              <a:endParaRPr kumimoji="0" lang="zh-CN" altLang="en-US" sz="1000" b="0" i="0" u="none" strike="noStrike" kern="1200" cap="none" spc="0" normalizeH="0" baseline="0" noProof="0" dirty="0">
                <a:ln>
                  <a:noFill/>
                </a:ln>
                <a:solidFill>
                  <a:prstClr val="white"/>
                </a:solidFill>
                <a:effectLst/>
                <a:uLnTx/>
                <a:uFillTx/>
                <a:latin typeface="微软雅黑 Light" panose="020B0502040204020203" pitchFamily="34" charset="-122"/>
                <a:ea typeface="微软雅黑 Light" panose="020B0502040204020203" pitchFamily="34" charset="-122"/>
                <a:cs typeface="+mn-cs"/>
              </a:endParaRPr>
            </a:p>
          </p:txBody>
        </p:sp>
      </p:grpSp>
      <p:sp>
        <p:nvSpPr>
          <p:cNvPr id="24" name="任意多边形: 形状 23"/>
          <p:cNvSpPr/>
          <p:nvPr/>
        </p:nvSpPr>
        <p:spPr>
          <a:xfrm>
            <a:off x="3259016" y="1227118"/>
            <a:ext cx="1383323" cy="78154"/>
          </a:xfrm>
          <a:custGeom>
            <a:avLst/>
            <a:gdLst>
              <a:gd name="connsiteX0" fmla="*/ 0 w 1383323"/>
              <a:gd name="connsiteY0" fmla="*/ 78154 h 78154"/>
              <a:gd name="connsiteX1" fmla="*/ 1383323 w 1383323"/>
              <a:gd name="connsiteY1" fmla="*/ 78154 h 78154"/>
              <a:gd name="connsiteX2" fmla="*/ 1305169 w 1383323"/>
              <a:gd name="connsiteY2" fmla="*/ 0 h 78154"/>
            </a:gdLst>
            <a:ahLst/>
            <a:cxnLst>
              <a:cxn ang="0">
                <a:pos x="connsiteX0" y="connsiteY0"/>
              </a:cxn>
              <a:cxn ang="0">
                <a:pos x="connsiteX1" y="connsiteY1"/>
              </a:cxn>
              <a:cxn ang="0">
                <a:pos x="connsiteX2" y="connsiteY2"/>
              </a:cxn>
            </a:cxnLst>
            <a:rect l="l" t="t" r="r" b="b"/>
            <a:pathLst>
              <a:path w="1383323" h="78154">
                <a:moveTo>
                  <a:pt x="0" y="78154"/>
                </a:moveTo>
                <a:lnTo>
                  <a:pt x="1383323" y="78154"/>
                </a:lnTo>
                <a:lnTo>
                  <a:pt x="1305169" y="0"/>
                </a:lnTo>
              </a:path>
            </a:pathLst>
          </a:custGeom>
          <a:noFill/>
          <a:ln>
            <a:gradFill flip="none" rotWithShape="1">
              <a:gsLst>
                <a:gs pos="0">
                  <a:schemeClr val="accent1">
                    <a:alpha val="0"/>
                  </a:schemeClr>
                </a:gs>
                <a:gs pos="100000">
                  <a:schemeClr val="accent1"/>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25" name="任意多边形: 形状 24"/>
          <p:cNvSpPr/>
          <p:nvPr/>
        </p:nvSpPr>
        <p:spPr>
          <a:xfrm flipH="1">
            <a:off x="7508454" y="1227118"/>
            <a:ext cx="1383323" cy="78154"/>
          </a:xfrm>
          <a:custGeom>
            <a:avLst/>
            <a:gdLst>
              <a:gd name="connsiteX0" fmla="*/ 0 w 1383323"/>
              <a:gd name="connsiteY0" fmla="*/ 78154 h 78154"/>
              <a:gd name="connsiteX1" fmla="*/ 1383323 w 1383323"/>
              <a:gd name="connsiteY1" fmla="*/ 78154 h 78154"/>
              <a:gd name="connsiteX2" fmla="*/ 1305169 w 1383323"/>
              <a:gd name="connsiteY2" fmla="*/ 0 h 78154"/>
            </a:gdLst>
            <a:ahLst/>
            <a:cxnLst>
              <a:cxn ang="0">
                <a:pos x="connsiteX0" y="connsiteY0"/>
              </a:cxn>
              <a:cxn ang="0">
                <a:pos x="connsiteX1" y="connsiteY1"/>
              </a:cxn>
              <a:cxn ang="0">
                <a:pos x="connsiteX2" y="connsiteY2"/>
              </a:cxn>
            </a:cxnLst>
            <a:rect l="l" t="t" r="r" b="b"/>
            <a:pathLst>
              <a:path w="1383323" h="78154">
                <a:moveTo>
                  <a:pt x="0" y="78154"/>
                </a:moveTo>
                <a:lnTo>
                  <a:pt x="1383323" y="78154"/>
                </a:lnTo>
                <a:lnTo>
                  <a:pt x="1305169" y="0"/>
                </a:lnTo>
              </a:path>
            </a:pathLst>
          </a:custGeom>
          <a:noFill/>
          <a:ln>
            <a:gradFill flip="none" rotWithShape="1">
              <a:gsLst>
                <a:gs pos="0">
                  <a:schemeClr val="accent1">
                    <a:alpha val="0"/>
                  </a:schemeClr>
                </a:gs>
                <a:gs pos="100000">
                  <a:schemeClr val="accent1"/>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grpSp>
        <p:nvGrpSpPr>
          <p:cNvPr id="37" name="组合 36"/>
          <p:cNvGrpSpPr/>
          <p:nvPr/>
        </p:nvGrpSpPr>
        <p:grpSpPr>
          <a:xfrm flipV="1">
            <a:off x="6011630" y="3394591"/>
            <a:ext cx="162550" cy="508026"/>
            <a:chOff x="17909936" y="4979588"/>
            <a:chExt cx="483870" cy="1512261"/>
          </a:xfrm>
        </p:grpSpPr>
        <p:cxnSp>
          <p:nvCxnSpPr>
            <p:cNvPr id="38" name="直接连接符 37"/>
            <p:cNvCxnSpPr/>
            <p:nvPr/>
          </p:nvCxnSpPr>
          <p:spPr>
            <a:xfrm>
              <a:off x="18188066" y="4979588"/>
              <a:ext cx="0" cy="904240"/>
            </a:xfrm>
            <a:prstGeom prst="line">
              <a:avLst/>
            </a:prstGeom>
            <a:ln w="19050">
              <a:gradFill>
                <a:gsLst>
                  <a:gs pos="0">
                    <a:schemeClr val="accent1">
                      <a:lumMod val="60000"/>
                      <a:lumOff val="40000"/>
                    </a:schemeClr>
                  </a:gs>
                  <a:gs pos="100000">
                    <a:schemeClr val="accent1">
                      <a:lumMod val="60000"/>
                      <a:lumOff val="40000"/>
                      <a:alpha val="0"/>
                    </a:schemeClr>
                  </a:gs>
                  <a:gs pos="44000">
                    <a:schemeClr val="accent1">
                      <a:lumMod val="60000"/>
                      <a:lumOff val="40000"/>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7909936" y="5320469"/>
              <a:ext cx="0" cy="714571"/>
            </a:xfrm>
            <a:prstGeom prst="line">
              <a:avLst/>
            </a:prstGeom>
            <a:ln w="19050">
              <a:gradFill>
                <a:gsLst>
                  <a:gs pos="0">
                    <a:schemeClr val="accent1">
                      <a:lumMod val="60000"/>
                      <a:lumOff val="40000"/>
                    </a:schemeClr>
                  </a:gs>
                  <a:gs pos="100000">
                    <a:schemeClr val="accent1">
                      <a:lumMod val="60000"/>
                      <a:lumOff val="40000"/>
                      <a:alpha val="0"/>
                    </a:schemeClr>
                  </a:gs>
                  <a:gs pos="44000">
                    <a:schemeClr val="accent1">
                      <a:lumMod val="60000"/>
                      <a:lumOff val="40000"/>
                      <a:alpha val="80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18393806" y="5777278"/>
              <a:ext cx="0" cy="714571"/>
            </a:xfrm>
            <a:prstGeom prst="line">
              <a:avLst/>
            </a:prstGeom>
            <a:ln w="19050">
              <a:gradFill>
                <a:gsLst>
                  <a:gs pos="0">
                    <a:schemeClr val="accent1">
                      <a:lumMod val="60000"/>
                      <a:lumOff val="40000"/>
                    </a:schemeClr>
                  </a:gs>
                  <a:gs pos="100000">
                    <a:schemeClr val="accent1">
                      <a:lumMod val="60000"/>
                      <a:lumOff val="40000"/>
                      <a:alpha val="0"/>
                    </a:schemeClr>
                  </a:gs>
                  <a:gs pos="44000">
                    <a:schemeClr val="accent1">
                      <a:lumMod val="60000"/>
                      <a:lumOff val="40000"/>
                      <a:alpha val="64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grpSp>
      <p:sp>
        <p:nvSpPr>
          <p:cNvPr id="32" name="矩形 20"/>
          <p:cNvSpPr/>
          <p:nvPr/>
        </p:nvSpPr>
        <p:spPr>
          <a:xfrm>
            <a:off x="3739131"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rPr>
              <a:t>科技园公司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62" name="矩形 20"/>
          <p:cNvSpPr/>
          <p:nvPr/>
        </p:nvSpPr>
        <p:spPr>
          <a:xfrm>
            <a:off x="4213947"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rPr>
              <a:t>城商置业公司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63" name="矩形 20"/>
          <p:cNvSpPr/>
          <p:nvPr/>
        </p:nvSpPr>
        <p:spPr>
          <a:xfrm>
            <a:off x="4688764"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rPr>
              <a:t>瑶溪文投公司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64" name="矩形 20"/>
          <p:cNvSpPr/>
          <p:nvPr/>
        </p:nvSpPr>
        <p:spPr>
          <a:xfrm>
            <a:off x="983711"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rPr>
              <a:t>数字经济公司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65" name="矩形 20"/>
          <p:cNvSpPr/>
          <p:nvPr/>
        </p:nvSpPr>
        <p:spPr>
          <a:xfrm>
            <a:off x="1496661"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rPr>
              <a:t>琶洲资本公司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66" name="矩形 20"/>
          <p:cNvSpPr/>
          <p:nvPr/>
        </p:nvSpPr>
        <p:spPr>
          <a:xfrm>
            <a:off x="2522561"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rPr>
              <a:t>低空经济公司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67" name="矩形 20"/>
          <p:cNvSpPr/>
          <p:nvPr/>
        </p:nvSpPr>
        <p:spPr>
          <a:xfrm>
            <a:off x="3035512"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rPr>
              <a:t>海珠基金公司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68" name="矩形 20"/>
          <p:cNvSpPr/>
          <p:nvPr/>
        </p:nvSpPr>
        <p:spPr>
          <a:xfrm>
            <a:off x="6893100"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rPr>
              <a:t>城更公司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69" name="矩形 20"/>
          <p:cNvSpPr/>
          <p:nvPr/>
        </p:nvSpPr>
        <p:spPr>
          <a:xfrm>
            <a:off x="6392861"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rPr>
              <a:t>新中轴公司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74" name="矩形 20"/>
          <p:cNvSpPr/>
          <p:nvPr/>
        </p:nvSpPr>
        <p:spPr>
          <a:xfrm>
            <a:off x="10903222"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rPr>
              <a:t>海保公司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70" name="矩形 20"/>
          <p:cNvSpPr/>
          <p:nvPr/>
        </p:nvSpPr>
        <p:spPr>
          <a:xfrm>
            <a:off x="5892622"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rPr>
              <a:t>生态景观公司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72" name="矩形 20"/>
          <p:cNvSpPr/>
          <p:nvPr/>
        </p:nvSpPr>
        <p:spPr>
          <a:xfrm>
            <a:off x="5392383"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rPr>
              <a:t>南中轴公司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grpSp>
        <p:nvGrpSpPr>
          <p:cNvPr id="84" name="组合 83"/>
          <p:cNvGrpSpPr/>
          <p:nvPr/>
        </p:nvGrpSpPr>
        <p:grpSpPr>
          <a:xfrm flipV="1">
            <a:off x="6005061" y="1711221"/>
            <a:ext cx="162550" cy="508026"/>
            <a:chOff x="17909936" y="4979588"/>
            <a:chExt cx="483870" cy="1512261"/>
          </a:xfrm>
        </p:grpSpPr>
        <p:cxnSp>
          <p:nvCxnSpPr>
            <p:cNvPr id="85" name="直接连接符 84"/>
            <p:cNvCxnSpPr/>
            <p:nvPr/>
          </p:nvCxnSpPr>
          <p:spPr>
            <a:xfrm>
              <a:off x="18188066" y="4979588"/>
              <a:ext cx="0" cy="904240"/>
            </a:xfrm>
            <a:prstGeom prst="line">
              <a:avLst/>
            </a:prstGeom>
            <a:ln w="19050">
              <a:gradFill>
                <a:gsLst>
                  <a:gs pos="0">
                    <a:schemeClr val="accent1">
                      <a:lumMod val="60000"/>
                      <a:lumOff val="40000"/>
                    </a:schemeClr>
                  </a:gs>
                  <a:gs pos="100000">
                    <a:schemeClr val="accent1">
                      <a:lumMod val="60000"/>
                      <a:lumOff val="40000"/>
                      <a:alpha val="0"/>
                    </a:schemeClr>
                  </a:gs>
                  <a:gs pos="44000">
                    <a:schemeClr val="accent1">
                      <a:lumMod val="60000"/>
                      <a:lumOff val="40000"/>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17909936" y="5320469"/>
              <a:ext cx="0" cy="714571"/>
            </a:xfrm>
            <a:prstGeom prst="line">
              <a:avLst/>
            </a:prstGeom>
            <a:ln w="19050">
              <a:gradFill>
                <a:gsLst>
                  <a:gs pos="0">
                    <a:schemeClr val="accent1">
                      <a:lumMod val="60000"/>
                      <a:lumOff val="40000"/>
                    </a:schemeClr>
                  </a:gs>
                  <a:gs pos="100000">
                    <a:schemeClr val="accent1">
                      <a:lumMod val="60000"/>
                      <a:lumOff val="40000"/>
                      <a:alpha val="0"/>
                    </a:schemeClr>
                  </a:gs>
                  <a:gs pos="44000">
                    <a:schemeClr val="accent1">
                      <a:lumMod val="60000"/>
                      <a:lumOff val="40000"/>
                      <a:alpha val="80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18393806" y="5777278"/>
              <a:ext cx="0" cy="714571"/>
            </a:xfrm>
            <a:prstGeom prst="line">
              <a:avLst/>
            </a:prstGeom>
            <a:ln w="19050">
              <a:gradFill>
                <a:gsLst>
                  <a:gs pos="0">
                    <a:schemeClr val="accent1">
                      <a:lumMod val="60000"/>
                      <a:lumOff val="40000"/>
                    </a:schemeClr>
                  </a:gs>
                  <a:gs pos="100000">
                    <a:schemeClr val="accent1">
                      <a:lumMod val="60000"/>
                      <a:lumOff val="40000"/>
                      <a:alpha val="0"/>
                    </a:schemeClr>
                  </a:gs>
                  <a:gs pos="44000">
                    <a:schemeClr val="accent1">
                      <a:lumMod val="60000"/>
                      <a:lumOff val="40000"/>
                      <a:alpha val="64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grpSp>
      <p:graphicFrame>
        <p:nvGraphicFramePr>
          <p:cNvPr id="88" name="表格 87"/>
          <p:cNvGraphicFramePr>
            <a:graphicFrameLocks noGrp="1"/>
          </p:cNvGraphicFramePr>
          <p:nvPr/>
        </p:nvGraphicFramePr>
        <p:xfrm>
          <a:off x="690694" y="2470311"/>
          <a:ext cx="10801350" cy="764640"/>
        </p:xfrm>
        <a:graphic>
          <a:graphicData uri="http://schemas.openxmlformats.org/drawingml/2006/table">
            <a:tbl>
              <a:tblPr firstRow="1" bandRow="1">
                <a:tableStyleId>{5C22544A-7EE6-4342-B048-85BDC9FD1C3A}</a:tableStyleId>
              </a:tblPr>
              <a:tblGrid>
                <a:gridCol w="771525"/>
                <a:gridCol w="771525"/>
                <a:gridCol w="771525"/>
                <a:gridCol w="771525"/>
                <a:gridCol w="771525"/>
                <a:gridCol w="771525"/>
                <a:gridCol w="771525"/>
                <a:gridCol w="771525"/>
                <a:gridCol w="771525"/>
                <a:gridCol w="771525"/>
                <a:gridCol w="771525"/>
                <a:gridCol w="771525"/>
                <a:gridCol w="771525"/>
                <a:gridCol w="771525"/>
              </a:tblGrid>
              <a:tr h="370840">
                <a:tc>
                  <a:txBody>
                    <a:bodyPr/>
                    <a:lstStyle/>
                    <a:p>
                      <a:pPr algn="ctr"/>
                      <a:r>
                        <a:rPr lang="zh-CN" altLang="en-US" sz="1200" b="0" dirty="0">
                          <a:solidFill>
                            <a:schemeClr val="bg1"/>
                          </a:solidFill>
                          <a:latin typeface="HarmonyOS Sans SC" panose="00000500000000000000" pitchFamily="2" charset="-122"/>
                          <a:ea typeface="HarmonyOS Sans SC" panose="00000500000000000000" pitchFamily="2" charset="-122"/>
                        </a:rPr>
                        <a:t>集团</a:t>
                      </a:r>
                      <a:endParaRPr lang="en-US" altLang="zh-CN" sz="1200" b="0" dirty="0">
                        <a:solidFill>
                          <a:schemeClr val="bg1"/>
                        </a:solidFill>
                      </a:endParaRPr>
                    </a:p>
                    <a:p>
                      <a:pPr algn="ctr"/>
                      <a:r>
                        <a:rPr lang="zh-CN" altLang="en-US" sz="1200" b="0" dirty="0">
                          <a:solidFill>
                            <a:schemeClr val="bg1"/>
                          </a:solidFill>
                        </a:rPr>
                        <a:t>办公室</a:t>
                      </a:r>
                      <a:endParaRPr lang="zh-CN" altLang="en-US" sz="1200" b="0" dirty="0">
                        <a:solidFill>
                          <a:schemeClr val="bg1"/>
                        </a:solidFill>
                      </a:endParaRPr>
                    </a:p>
                  </a:txBody>
                  <a:tcPr marL="72000" marR="72000" marT="108000" marB="108000" anchor="ctr">
                    <a:lnL w="12700" cmpd="sng">
                      <a:noFill/>
                    </a:lnL>
                    <a:lnR w="9525" cap="flat" cmpd="sng" algn="ctr">
                      <a:solidFill>
                        <a:srgbClr val="CEDCF1">
                          <a:alpha val="40000"/>
                        </a:srgb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zh-CN" altLang="en-US" sz="1200" b="0" dirty="0">
                          <a:solidFill>
                            <a:schemeClr val="bg1"/>
                          </a:solidFill>
                        </a:rPr>
                        <a:t>党群</a:t>
                      </a:r>
                      <a:endParaRPr lang="en-US" altLang="zh-CN" sz="1200" b="0" dirty="0">
                        <a:solidFill>
                          <a:schemeClr val="bg1"/>
                        </a:solidFill>
                      </a:endParaRPr>
                    </a:p>
                    <a:p>
                      <a:pPr algn="ctr"/>
                      <a:r>
                        <a:rPr lang="zh-CN" altLang="en-US" sz="1200" b="0" dirty="0">
                          <a:solidFill>
                            <a:schemeClr val="bg1"/>
                          </a:solidFill>
                        </a:rPr>
                        <a:t>工作部</a:t>
                      </a:r>
                      <a:endParaRPr lang="zh-CN" altLang="en-US" sz="1200" b="0" dirty="0">
                        <a:solidFill>
                          <a:schemeClr val="bg1"/>
                        </a:solidFill>
                      </a:endParaRPr>
                    </a:p>
                  </a:txBody>
                  <a:tcPr marL="72000" marR="72000" marT="108000" marB="108000" anchor="ctr">
                    <a:lnL w="9525" cap="flat" cmpd="sng" algn="ctr">
                      <a:solidFill>
                        <a:srgbClr val="CEDCF1">
                          <a:alpha val="40000"/>
                        </a:srgbClr>
                      </a:solidFill>
                      <a:prstDash val="solid"/>
                      <a:round/>
                      <a:headEnd type="none" w="med" len="med"/>
                      <a:tailEnd type="none" w="med" len="med"/>
                    </a:lnL>
                    <a:lnR w="9525" cap="flat" cmpd="sng" algn="ctr">
                      <a:solidFill>
                        <a:srgbClr val="CEDCF1">
                          <a:alpha val="40000"/>
                        </a:srgb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zh-CN" altLang="en-US" sz="1200" b="0" dirty="0">
                          <a:solidFill>
                            <a:schemeClr val="bg1"/>
                          </a:solidFill>
                          <a:latin typeface="HarmonyOS Sans SC" panose="00000500000000000000" pitchFamily="2" charset="-122"/>
                          <a:ea typeface="HarmonyOS Sans SC" panose="00000500000000000000" pitchFamily="2" charset="-122"/>
                        </a:rPr>
                        <a:t>组织</a:t>
                      </a:r>
                      <a:endParaRPr lang="en-US" altLang="zh-CN" sz="1200" b="0" dirty="0">
                        <a:solidFill>
                          <a:schemeClr val="bg1"/>
                        </a:solidFill>
                        <a:latin typeface="HarmonyOS Sans SC" panose="00000500000000000000" pitchFamily="2" charset="-122"/>
                        <a:ea typeface="HarmonyOS Sans SC" panose="00000500000000000000" pitchFamily="2" charset="-122"/>
                      </a:endParaRPr>
                    </a:p>
                    <a:p>
                      <a:pPr algn="ctr"/>
                      <a:r>
                        <a:rPr lang="zh-CN" altLang="en-US" sz="1200" b="0" dirty="0">
                          <a:solidFill>
                            <a:schemeClr val="bg1"/>
                          </a:solidFill>
                          <a:latin typeface="HarmonyOS Sans SC" panose="00000500000000000000" pitchFamily="2" charset="-122"/>
                          <a:ea typeface="HarmonyOS Sans SC" panose="00000500000000000000" pitchFamily="2" charset="-122"/>
                        </a:rPr>
                        <a:t>人事</a:t>
                      </a:r>
                      <a:r>
                        <a:rPr lang="zh-CN" altLang="en-US" sz="1200" b="0" dirty="0">
                          <a:solidFill>
                            <a:schemeClr val="bg1"/>
                          </a:solidFill>
                        </a:rPr>
                        <a:t>部</a:t>
                      </a:r>
                      <a:endParaRPr lang="zh-CN" altLang="en-US" sz="1200" b="0" dirty="0">
                        <a:solidFill>
                          <a:schemeClr val="bg1"/>
                        </a:solidFill>
                      </a:endParaRPr>
                    </a:p>
                  </a:txBody>
                  <a:tcPr marL="72000" marR="72000" marT="108000" marB="108000" anchor="ctr">
                    <a:lnL w="9525" cap="flat" cmpd="sng" algn="ctr">
                      <a:solidFill>
                        <a:srgbClr val="CEDCF1">
                          <a:alpha val="40000"/>
                        </a:srgbClr>
                      </a:solidFill>
                      <a:prstDash val="solid"/>
                      <a:round/>
                      <a:headEnd type="none" w="med" len="med"/>
                      <a:tailEnd type="none" w="med" len="med"/>
                    </a:lnL>
                    <a:lnR w="9525" cap="flat" cmpd="sng" algn="ctr">
                      <a:solidFill>
                        <a:srgbClr val="CEDCF1">
                          <a:alpha val="40000"/>
                        </a:srgb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zh-CN" altLang="en-US" sz="1200" b="0" dirty="0">
                          <a:solidFill>
                            <a:schemeClr val="bg1"/>
                          </a:solidFill>
                          <a:latin typeface="HarmonyOS Sans SC" panose="00000500000000000000" pitchFamily="2" charset="-122"/>
                          <a:ea typeface="HarmonyOS Sans SC" panose="00000500000000000000" pitchFamily="2" charset="-122"/>
                        </a:rPr>
                        <a:t>财务管理</a:t>
                      </a:r>
                      <a:r>
                        <a:rPr lang="en-US" altLang="zh-CN" sz="1200" b="0" dirty="0">
                          <a:solidFill>
                            <a:schemeClr val="bg1"/>
                          </a:solidFill>
                        </a:rPr>
                        <a:t>(</a:t>
                      </a:r>
                      <a:r>
                        <a:rPr lang="zh-CN" altLang="en-US" sz="1200" b="0" dirty="0">
                          <a:solidFill>
                            <a:schemeClr val="bg1"/>
                          </a:solidFill>
                        </a:rPr>
                        <a:t>资本运营）部</a:t>
                      </a:r>
                      <a:endParaRPr lang="zh-CN" altLang="en-US" sz="1200" b="0" dirty="0">
                        <a:solidFill>
                          <a:schemeClr val="bg1"/>
                        </a:solidFill>
                      </a:endParaRPr>
                    </a:p>
                  </a:txBody>
                  <a:tcPr marL="72000" marR="72000" marT="108000" marB="108000" anchor="ctr">
                    <a:lnL w="9525" cap="flat" cmpd="sng" algn="ctr">
                      <a:solidFill>
                        <a:srgbClr val="CEDCF1">
                          <a:alpha val="40000"/>
                        </a:srgbClr>
                      </a:solidFill>
                      <a:prstDash val="solid"/>
                      <a:round/>
                      <a:headEnd type="none" w="med" len="med"/>
                      <a:tailEnd type="none" w="med" len="med"/>
                    </a:lnL>
                    <a:lnR w="9525" cap="flat" cmpd="sng" algn="ctr">
                      <a:solidFill>
                        <a:srgbClr val="CEDCF1">
                          <a:alpha val="40000"/>
                        </a:srgb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zh-CN" altLang="en-US" sz="1200" b="0">
                          <a:solidFill>
                            <a:schemeClr val="bg1"/>
                          </a:solidFill>
                          <a:latin typeface="HarmonyOS Sans SC" panose="00000500000000000000" pitchFamily="2" charset="-122"/>
                          <a:ea typeface="HarmonyOS Sans SC" panose="00000500000000000000" pitchFamily="2" charset="-122"/>
                        </a:rPr>
                        <a:t>财务管理二部</a:t>
                      </a:r>
                      <a:endParaRPr lang="zh-CN" altLang="en-US" sz="1200" b="0">
                        <a:solidFill>
                          <a:schemeClr val="bg1"/>
                        </a:solidFill>
                        <a:latin typeface="HarmonyOS Sans SC" panose="00000500000000000000" pitchFamily="2" charset="-122"/>
                        <a:ea typeface="HarmonyOS Sans SC" panose="00000500000000000000" pitchFamily="2" charset="-122"/>
                      </a:endParaRPr>
                    </a:p>
                  </a:txBody>
                  <a:tcPr marL="72000" marR="72000" marT="108000" marB="108000" anchor="ctr">
                    <a:lnL w="9525" cap="flat" cmpd="sng" algn="ctr">
                      <a:solidFill>
                        <a:srgbClr val="CEDCF1">
                          <a:alpha val="40000"/>
                        </a:srgbClr>
                      </a:solidFill>
                      <a:prstDash val="solid"/>
                      <a:round/>
                      <a:headEnd type="none" w="med" len="med"/>
                      <a:tailEnd type="none" w="med" len="med"/>
                    </a:lnL>
                    <a:lnR w="9525" cap="flat" cmpd="sng" algn="ctr">
                      <a:solidFill>
                        <a:srgbClr val="CEDCF1">
                          <a:alpha val="40000"/>
                        </a:srgb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zh-CN" altLang="en-US" sz="1200" b="0" dirty="0">
                          <a:solidFill>
                            <a:schemeClr val="bg1"/>
                          </a:solidFill>
                          <a:latin typeface="HarmonyOS Sans SC" panose="00000500000000000000" pitchFamily="2" charset="-122"/>
                          <a:ea typeface="HarmonyOS Sans SC" panose="00000500000000000000" pitchFamily="2" charset="-122"/>
                        </a:rPr>
                        <a:t>战略发展</a:t>
                      </a:r>
                      <a:r>
                        <a:rPr lang="en-US" altLang="zh-CN" sz="1200" b="0" dirty="0">
                          <a:solidFill>
                            <a:schemeClr val="bg1"/>
                          </a:solidFill>
                        </a:rPr>
                        <a:t>(</a:t>
                      </a:r>
                      <a:r>
                        <a:rPr lang="zh-CN" altLang="en-US" sz="1200" b="0" dirty="0">
                          <a:solidFill>
                            <a:schemeClr val="bg1"/>
                          </a:solidFill>
                        </a:rPr>
                        <a:t>产业招商）部</a:t>
                      </a:r>
                      <a:endParaRPr lang="zh-CN" altLang="en-US" sz="1200" b="0" dirty="0">
                        <a:solidFill>
                          <a:schemeClr val="bg1"/>
                        </a:solidFill>
                      </a:endParaRPr>
                    </a:p>
                  </a:txBody>
                  <a:tcPr marL="72000" marR="72000" marT="108000" marB="108000" anchor="ctr">
                    <a:lnL w="9525" cap="flat" cmpd="sng" algn="ctr">
                      <a:solidFill>
                        <a:srgbClr val="CEDCF1">
                          <a:alpha val="40000"/>
                        </a:srgbClr>
                      </a:solidFill>
                      <a:prstDash val="solid"/>
                      <a:round/>
                      <a:headEnd type="none" w="med" len="med"/>
                      <a:tailEnd type="none" w="med" len="med"/>
                    </a:lnL>
                    <a:lnR w="9525" cap="flat" cmpd="sng" algn="ctr">
                      <a:solidFill>
                        <a:srgbClr val="CEDCF1">
                          <a:alpha val="40000"/>
                        </a:srgb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zh-CN" altLang="en-US" sz="1200" b="0" dirty="0">
                          <a:solidFill>
                            <a:schemeClr val="bg1"/>
                          </a:solidFill>
                          <a:latin typeface="HarmonyOS Sans SC" panose="00000500000000000000" pitchFamily="2" charset="-122"/>
                          <a:ea typeface="HarmonyOS Sans SC" panose="00000500000000000000" pitchFamily="2" charset="-122"/>
                        </a:rPr>
                        <a:t>运营管理</a:t>
                      </a:r>
                      <a:r>
                        <a:rPr lang="en-US" altLang="zh-CN" sz="1200" b="0" dirty="0">
                          <a:solidFill>
                            <a:schemeClr val="bg1"/>
                          </a:solidFill>
                        </a:rPr>
                        <a:t>(</a:t>
                      </a:r>
                      <a:r>
                        <a:rPr lang="zh-CN" altLang="en-US" sz="1200" b="0" dirty="0">
                          <a:solidFill>
                            <a:schemeClr val="bg1"/>
                          </a:solidFill>
                        </a:rPr>
                        <a:t>资产管理</a:t>
                      </a:r>
                      <a:r>
                        <a:rPr lang="en-US" altLang="zh-CN" sz="1200" b="0" dirty="0">
                          <a:solidFill>
                            <a:schemeClr val="bg1"/>
                          </a:solidFill>
                        </a:rPr>
                        <a:t>)</a:t>
                      </a:r>
                      <a:r>
                        <a:rPr lang="zh-CN" altLang="en-US" sz="1200" b="0" dirty="0">
                          <a:solidFill>
                            <a:schemeClr val="bg1"/>
                          </a:solidFill>
                        </a:rPr>
                        <a:t>部</a:t>
                      </a:r>
                      <a:endParaRPr lang="zh-CN" altLang="en-US" sz="1200" b="0" dirty="0">
                        <a:solidFill>
                          <a:schemeClr val="bg1"/>
                        </a:solidFill>
                      </a:endParaRPr>
                    </a:p>
                  </a:txBody>
                  <a:tcPr marL="72000" marR="72000" marT="108000" marB="108000" anchor="ctr">
                    <a:lnL w="9525" cap="flat" cmpd="sng" algn="ctr">
                      <a:solidFill>
                        <a:srgbClr val="CEDCF1">
                          <a:alpha val="40000"/>
                        </a:srgbClr>
                      </a:solidFill>
                      <a:prstDash val="solid"/>
                      <a:round/>
                      <a:headEnd type="none" w="med" len="med"/>
                      <a:tailEnd type="none" w="med" len="med"/>
                    </a:lnL>
                    <a:lnR w="9525" cap="flat" cmpd="sng" algn="ctr">
                      <a:solidFill>
                        <a:srgbClr val="CEDCF1">
                          <a:alpha val="40000"/>
                        </a:srgb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zh-CN" altLang="en-US" sz="1200" b="0">
                          <a:solidFill>
                            <a:schemeClr val="bg1"/>
                          </a:solidFill>
                          <a:latin typeface="HarmonyOS Sans SC" panose="00000500000000000000" pitchFamily="2" charset="-122"/>
                          <a:ea typeface="HarmonyOS Sans SC" panose="00000500000000000000" pitchFamily="2" charset="-122"/>
                        </a:rPr>
                        <a:t>运营管理二部</a:t>
                      </a:r>
                      <a:endParaRPr lang="zh-CN" altLang="en-US" sz="1200" b="0">
                        <a:solidFill>
                          <a:schemeClr val="bg1"/>
                        </a:solidFill>
                        <a:latin typeface="HarmonyOS Sans SC" panose="00000500000000000000" pitchFamily="2" charset="-122"/>
                        <a:ea typeface="HarmonyOS Sans SC" panose="00000500000000000000" pitchFamily="2" charset="-122"/>
                      </a:endParaRPr>
                    </a:p>
                  </a:txBody>
                  <a:tcPr marL="72000" marR="72000" marT="108000" marB="108000" anchor="ctr">
                    <a:lnL w="9525" cap="flat" cmpd="sng" algn="ctr">
                      <a:solidFill>
                        <a:srgbClr val="CEDCF1">
                          <a:alpha val="40000"/>
                        </a:srgbClr>
                      </a:solidFill>
                      <a:prstDash val="solid"/>
                      <a:round/>
                      <a:headEnd type="none" w="med" len="med"/>
                      <a:tailEnd type="none" w="med" len="med"/>
                    </a:lnL>
                    <a:lnR w="9525" cap="flat" cmpd="sng" algn="ctr">
                      <a:solidFill>
                        <a:srgbClr val="CEDCF1">
                          <a:alpha val="40000"/>
                        </a:srgb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zh-CN" altLang="en-US" sz="1200" b="0" dirty="0">
                          <a:solidFill>
                            <a:schemeClr val="bg1"/>
                          </a:solidFill>
                          <a:latin typeface="HarmonyOS Sans SC" panose="00000500000000000000" pitchFamily="2" charset="-122"/>
                          <a:ea typeface="HarmonyOS Sans SC" panose="00000500000000000000" pitchFamily="2" charset="-122"/>
                        </a:rPr>
                        <a:t>城市更新</a:t>
                      </a:r>
                      <a:endParaRPr lang="en-US" altLang="zh-CN" sz="1200" b="0" dirty="0">
                        <a:solidFill>
                          <a:schemeClr val="bg1"/>
                        </a:solidFill>
                      </a:endParaRPr>
                    </a:p>
                    <a:p>
                      <a:pPr algn="ctr"/>
                      <a:r>
                        <a:rPr lang="en-US" altLang="zh-CN" sz="1200" b="0" dirty="0">
                          <a:solidFill>
                            <a:schemeClr val="bg1"/>
                          </a:solidFill>
                        </a:rPr>
                        <a:t>(</a:t>
                      </a:r>
                      <a:r>
                        <a:rPr lang="zh-CN" altLang="en-US" sz="1200" b="0" dirty="0">
                          <a:solidFill>
                            <a:schemeClr val="bg1"/>
                          </a:solidFill>
                        </a:rPr>
                        <a:t>安全生产）部</a:t>
                      </a:r>
                      <a:endParaRPr lang="zh-CN" altLang="en-US" sz="1200" b="0" dirty="0">
                        <a:solidFill>
                          <a:schemeClr val="bg1"/>
                        </a:solidFill>
                      </a:endParaRPr>
                    </a:p>
                  </a:txBody>
                  <a:tcPr marL="72000" marR="72000" marT="108000" marB="108000" anchor="ctr">
                    <a:lnL w="9525" cap="flat" cmpd="sng" algn="ctr">
                      <a:solidFill>
                        <a:srgbClr val="CEDCF1">
                          <a:alpha val="40000"/>
                        </a:srgbClr>
                      </a:solidFill>
                      <a:prstDash val="solid"/>
                      <a:round/>
                      <a:headEnd type="none" w="med" len="med"/>
                      <a:tailEnd type="none" w="med" len="med"/>
                    </a:lnL>
                    <a:lnR w="9525" cap="flat" cmpd="sng" algn="ctr">
                      <a:solidFill>
                        <a:srgbClr val="CEDCF1">
                          <a:alpha val="40000"/>
                        </a:srgb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zh-CN" altLang="en-US" sz="1200" b="0">
                          <a:solidFill>
                            <a:schemeClr val="bg1"/>
                          </a:solidFill>
                          <a:latin typeface="HarmonyOS Sans SC" panose="00000500000000000000" pitchFamily="2" charset="-122"/>
                          <a:ea typeface="HarmonyOS Sans SC" panose="00000500000000000000" pitchFamily="2" charset="-122"/>
                        </a:rPr>
                        <a:t>工程</a:t>
                      </a:r>
                      <a:endParaRPr lang="en-US" altLang="zh-CN" sz="1200" b="0" dirty="0">
                        <a:solidFill>
                          <a:schemeClr val="bg1"/>
                        </a:solidFill>
                      </a:endParaRPr>
                    </a:p>
                    <a:p>
                      <a:pPr algn="ctr"/>
                      <a:r>
                        <a:rPr lang="zh-CN" altLang="en-US" sz="1200" b="0">
                          <a:solidFill>
                            <a:schemeClr val="bg1"/>
                          </a:solidFill>
                        </a:rPr>
                        <a:t>管理部</a:t>
                      </a:r>
                      <a:endParaRPr lang="zh-CN" altLang="en-US" sz="1200" b="0">
                        <a:solidFill>
                          <a:schemeClr val="bg1"/>
                        </a:solidFill>
                      </a:endParaRPr>
                    </a:p>
                  </a:txBody>
                  <a:tcPr marL="72000" marR="72000" marT="108000" marB="108000" anchor="ctr">
                    <a:lnL w="9525" cap="flat" cmpd="sng" algn="ctr">
                      <a:solidFill>
                        <a:srgbClr val="CEDCF1">
                          <a:alpha val="40000"/>
                        </a:srgbClr>
                      </a:solidFill>
                      <a:prstDash val="solid"/>
                      <a:round/>
                      <a:headEnd type="none" w="med" len="med"/>
                      <a:tailEnd type="none" w="med" len="med"/>
                    </a:lnL>
                    <a:lnR w="9525" cap="flat" cmpd="sng" algn="ctr">
                      <a:solidFill>
                        <a:srgbClr val="CEDCF1">
                          <a:alpha val="40000"/>
                        </a:srgb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zh-CN" altLang="en-US" sz="1200" b="0">
                          <a:solidFill>
                            <a:schemeClr val="bg1"/>
                          </a:solidFill>
                          <a:latin typeface="HarmonyOS Sans SC" panose="00000500000000000000" pitchFamily="2" charset="-122"/>
                          <a:ea typeface="HarmonyOS Sans SC" panose="00000500000000000000" pitchFamily="2" charset="-122"/>
                        </a:rPr>
                        <a:t>成本</a:t>
                      </a:r>
                      <a:endParaRPr lang="en-US" altLang="zh-CN" sz="1200" b="0" dirty="0">
                        <a:solidFill>
                          <a:schemeClr val="bg1"/>
                        </a:solidFill>
                      </a:endParaRPr>
                    </a:p>
                    <a:p>
                      <a:pPr algn="ctr"/>
                      <a:r>
                        <a:rPr lang="zh-CN" altLang="en-US" sz="1200" b="0">
                          <a:solidFill>
                            <a:schemeClr val="bg1"/>
                          </a:solidFill>
                        </a:rPr>
                        <a:t>管理部</a:t>
                      </a:r>
                      <a:endParaRPr lang="zh-CN" altLang="en-US" sz="1200" b="0">
                        <a:solidFill>
                          <a:schemeClr val="bg1"/>
                        </a:solidFill>
                      </a:endParaRPr>
                    </a:p>
                  </a:txBody>
                  <a:tcPr marL="72000" marR="72000" marT="108000" marB="108000" anchor="ctr">
                    <a:lnL w="9525" cap="flat" cmpd="sng" algn="ctr">
                      <a:solidFill>
                        <a:srgbClr val="CEDCF1">
                          <a:alpha val="40000"/>
                        </a:srgbClr>
                      </a:solidFill>
                      <a:prstDash val="solid"/>
                      <a:round/>
                      <a:headEnd type="none" w="med" len="med"/>
                      <a:tailEnd type="none" w="med" len="med"/>
                    </a:lnL>
                    <a:lnR w="9525" cap="flat" cmpd="sng" algn="ctr">
                      <a:solidFill>
                        <a:srgbClr val="CEDCF1">
                          <a:alpha val="40000"/>
                        </a:srgb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zh-CN" altLang="en-US" sz="1200" b="0">
                          <a:solidFill>
                            <a:schemeClr val="bg1"/>
                          </a:solidFill>
                          <a:latin typeface="HarmonyOS Sans SC" panose="00000500000000000000" pitchFamily="2" charset="-122"/>
                          <a:ea typeface="HarmonyOS Sans SC" panose="00000500000000000000" pitchFamily="2" charset="-122"/>
                        </a:rPr>
                        <a:t>风控法务</a:t>
                      </a:r>
                      <a:r>
                        <a:rPr lang="en-US" altLang="zh-CN" sz="1200" b="0" dirty="0">
                          <a:solidFill>
                            <a:schemeClr val="bg1"/>
                          </a:solidFill>
                        </a:rPr>
                        <a:t>(</a:t>
                      </a:r>
                      <a:r>
                        <a:rPr lang="zh-CN" altLang="en-US" sz="1200" b="0">
                          <a:solidFill>
                            <a:schemeClr val="bg1"/>
                          </a:solidFill>
                        </a:rPr>
                        <a:t>审计</a:t>
                      </a:r>
                      <a:r>
                        <a:rPr lang="en-US" altLang="zh-CN" sz="1200" b="0" dirty="0">
                          <a:solidFill>
                            <a:schemeClr val="bg1"/>
                          </a:solidFill>
                        </a:rPr>
                        <a:t>) </a:t>
                      </a:r>
                      <a:r>
                        <a:rPr lang="zh-CN" altLang="en-US" sz="1200" b="0">
                          <a:solidFill>
                            <a:schemeClr val="bg1"/>
                          </a:solidFill>
                        </a:rPr>
                        <a:t>部</a:t>
                      </a:r>
                      <a:endParaRPr lang="zh-CN" altLang="en-US" sz="1200" b="0">
                        <a:solidFill>
                          <a:schemeClr val="bg1"/>
                        </a:solidFill>
                      </a:endParaRPr>
                    </a:p>
                  </a:txBody>
                  <a:tcPr marL="72000" marR="72000" marT="108000" marB="108000" anchor="ctr">
                    <a:lnL w="9525" cap="flat" cmpd="sng" algn="ctr">
                      <a:solidFill>
                        <a:srgbClr val="CEDCF1">
                          <a:alpha val="40000"/>
                        </a:srgbClr>
                      </a:solidFill>
                      <a:prstDash val="solid"/>
                      <a:round/>
                      <a:headEnd type="none" w="med" len="med"/>
                      <a:tailEnd type="none" w="med" len="med"/>
                    </a:lnL>
                    <a:lnR w="9525" cap="flat" cmpd="sng" algn="ctr">
                      <a:solidFill>
                        <a:srgbClr val="CEDCF1">
                          <a:alpha val="40000"/>
                        </a:srgb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zh-CN" altLang="en-US" sz="1200" b="0">
                          <a:solidFill>
                            <a:schemeClr val="bg1"/>
                          </a:solidFill>
                          <a:latin typeface="HarmonyOS Sans SC" panose="00000500000000000000" pitchFamily="2" charset="-122"/>
                          <a:ea typeface="HarmonyOS Sans SC" panose="00000500000000000000" pitchFamily="2" charset="-122"/>
                        </a:rPr>
                        <a:t>风控合规二部</a:t>
                      </a:r>
                      <a:endParaRPr lang="zh-CN" altLang="en-US" sz="1200" b="0">
                        <a:solidFill>
                          <a:schemeClr val="bg1"/>
                        </a:solidFill>
                        <a:latin typeface="HarmonyOS Sans SC" panose="00000500000000000000" pitchFamily="2" charset="-122"/>
                        <a:ea typeface="HarmonyOS Sans SC" panose="00000500000000000000" pitchFamily="2" charset="-122"/>
                      </a:endParaRPr>
                    </a:p>
                  </a:txBody>
                  <a:tcPr marL="72000" marR="72000" marT="108000" marB="108000" anchor="ctr">
                    <a:lnL w="9525" cap="flat" cmpd="sng" algn="ctr">
                      <a:solidFill>
                        <a:srgbClr val="CEDCF1">
                          <a:alpha val="40000"/>
                        </a:srgbClr>
                      </a:solidFill>
                      <a:prstDash val="solid"/>
                      <a:round/>
                      <a:headEnd type="none" w="med" len="med"/>
                      <a:tailEnd type="none" w="med" len="med"/>
                    </a:lnL>
                    <a:lnR w="9525" cap="flat" cmpd="sng" algn="ctr">
                      <a:solidFill>
                        <a:srgbClr val="CEDCF1">
                          <a:alpha val="40000"/>
                        </a:srgb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zh-CN" altLang="en-US" sz="1200" b="0" dirty="0">
                          <a:solidFill>
                            <a:schemeClr val="bg1"/>
                          </a:solidFill>
                          <a:latin typeface="HarmonyOS Sans SC" panose="00000500000000000000" pitchFamily="2" charset="-122"/>
                          <a:ea typeface="HarmonyOS Sans SC" panose="00000500000000000000" pitchFamily="2" charset="-122"/>
                        </a:rPr>
                        <a:t>纪检</a:t>
                      </a:r>
                      <a:endParaRPr lang="en-US" altLang="zh-CN" sz="1200" b="0" dirty="0">
                        <a:solidFill>
                          <a:schemeClr val="bg1"/>
                        </a:solidFill>
                      </a:endParaRPr>
                    </a:p>
                    <a:p>
                      <a:pPr algn="ctr"/>
                      <a:r>
                        <a:rPr lang="zh-CN" altLang="en-US" sz="1200" b="0" dirty="0">
                          <a:solidFill>
                            <a:schemeClr val="bg1"/>
                          </a:solidFill>
                        </a:rPr>
                        <a:t>监察室</a:t>
                      </a:r>
                      <a:endParaRPr lang="zh-CN" altLang="en-US" sz="1200" b="0" dirty="0">
                        <a:solidFill>
                          <a:schemeClr val="bg1"/>
                        </a:solidFill>
                      </a:endParaRPr>
                    </a:p>
                  </a:txBody>
                  <a:tcPr marL="72000" marR="72000" marT="108000" marB="108000" anchor="ctr">
                    <a:lnL w="9525" cap="flat" cmpd="sng" algn="ctr">
                      <a:solidFill>
                        <a:srgbClr val="CEDCF1">
                          <a:alpha val="40000"/>
                        </a:srgb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bl>
          </a:graphicData>
        </a:graphic>
      </p:graphicFrame>
      <p:sp>
        <p:nvSpPr>
          <p:cNvPr id="73" name="矩形 20"/>
          <p:cNvSpPr/>
          <p:nvPr/>
        </p:nvSpPr>
        <p:spPr>
          <a:xfrm>
            <a:off x="7596719"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rPr>
              <a:t>数智未来公司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2" name="矩形 20"/>
          <p:cNvSpPr/>
          <p:nvPr/>
        </p:nvSpPr>
        <p:spPr>
          <a:xfrm>
            <a:off x="8109669"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rPr>
              <a:t>外综服公司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83" name="矩形 20"/>
          <p:cNvSpPr/>
          <p:nvPr/>
        </p:nvSpPr>
        <p:spPr>
          <a:xfrm>
            <a:off x="8622619"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rPr>
              <a:t>新材料公司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42" name="矩形 20"/>
          <p:cNvSpPr/>
          <p:nvPr/>
        </p:nvSpPr>
        <p:spPr>
          <a:xfrm>
            <a:off x="9135569"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rPr>
              <a:t>新消费公司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43" name="矩形 20"/>
          <p:cNvSpPr/>
          <p:nvPr/>
        </p:nvSpPr>
        <p:spPr>
          <a:xfrm>
            <a:off x="9648520"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rPr>
              <a:t>产投公司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35" name="矩形 20"/>
          <p:cNvSpPr/>
          <p:nvPr/>
        </p:nvSpPr>
        <p:spPr>
          <a:xfrm>
            <a:off x="2009611"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rPr>
              <a:t>大模型生态公司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
        <p:nvSpPr>
          <p:cNvPr id="45" name="矩形 20"/>
          <p:cNvSpPr/>
          <p:nvPr/>
        </p:nvSpPr>
        <p:spPr>
          <a:xfrm>
            <a:off x="10352139" y="4269817"/>
            <a:ext cx="305067" cy="1761483"/>
          </a:xfrm>
          <a:prstGeom prst="roundRect">
            <a:avLst>
              <a:gd name="adj" fmla="val 50000"/>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72000" tIns="144000" rIns="72000" bIns="144000" numCol="1" spcCol="0" rtlCol="0" fromWordArt="0" anchor="ctr" anchorCtr="1"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HarmonyOS Sans SC" panose="00000500000000000000" pitchFamily="2" charset="-122"/>
                <a:ea typeface="HarmonyOS Sans SC" panose="00000500000000000000" pitchFamily="2" charset="-122"/>
                <a:cs typeface="+mn-cs"/>
              </a:rPr>
              <a:t>人才公司</a:t>
            </a:r>
            <a:endParaRPr kumimoji="0" lang="zh-CN" altLang="en-US" sz="1400" b="0" i="0" u="none" strike="noStrike" kern="1200" cap="none" spc="0" normalizeH="0" baseline="0" noProof="0" dirty="0">
              <a:ln>
                <a:noFill/>
              </a:ln>
              <a:solidFill>
                <a:prstClr val="white"/>
              </a:solidFill>
              <a:effectLst/>
              <a:uLnTx/>
              <a:uFillTx/>
              <a:latin typeface="HarmonyOS Sans SC" panose="00000500000000000000" pitchFamily="2" charset="-122"/>
              <a:ea typeface="HarmonyOS Sans SC" panose="00000500000000000000" pitchFamily="2" charset="-122"/>
              <a:cs typeface="+mn-cs"/>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3943" y="312796"/>
            <a:ext cx="1541054" cy="430887"/>
          </a:xfrm>
        </p:spPr>
        <p:txBody>
          <a:bodyPr/>
          <a:lstStyle/>
          <a:p>
            <a:r>
              <a:rPr lang="zh-CN" altLang="en-US"/>
              <a:t>数说城发</a:t>
            </a:r>
            <a:endParaRPr lang="zh-CN" altLang="en-US"/>
          </a:p>
        </p:txBody>
      </p:sp>
      <p:sp>
        <p:nvSpPr>
          <p:cNvPr id="4" name="矩形 3"/>
          <p:cNvSpPr/>
          <p:nvPr/>
        </p:nvSpPr>
        <p:spPr>
          <a:xfrm>
            <a:off x="609600" y="1230177"/>
            <a:ext cx="3600000" cy="13966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panose="00000500000000000000" pitchFamily="2" charset="-122"/>
              <a:ea typeface="HarmonyOS Sans SC" panose="00000500000000000000" pitchFamily="2" charset="-122"/>
            </a:endParaRPr>
          </a:p>
        </p:txBody>
      </p:sp>
      <p:sp>
        <p:nvSpPr>
          <p:cNvPr id="5" name="矩形 4"/>
          <p:cNvSpPr/>
          <p:nvPr/>
        </p:nvSpPr>
        <p:spPr>
          <a:xfrm>
            <a:off x="4296000" y="1230177"/>
            <a:ext cx="3600000" cy="240202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panose="00000500000000000000" pitchFamily="2" charset="-122"/>
              <a:ea typeface="HarmonyOS Sans SC" panose="00000500000000000000" pitchFamily="2" charset="-122"/>
            </a:endParaRPr>
          </a:p>
        </p:txBody>
      </p:sp>
      <p:sp>
        <p:nvSpPr>
          <p:cNvPr id="6" name="矩形 5"/>
          <p:cNvSpPr/>
          <p:nvPr/>
        </p:nvSpPr>
        <p:spPr>
          <a:xfrm>
            <a:off x="7982400" y="1230177"/>
            <a:ext cx="3600000" cy="14446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panose="00000500000000000000" pitchFamily="2" charset="-122"/>
              <a:ea typeface="HarmonyOS Sans SC" panose="00000500000000000000" pitchFamily="2" charset="-122"/>
            </a:endParaRPr>
          </a:p>
        </p:txBody>
      </p:sp>
      <p:sp>
        <p:nvSpPr>
          <p:cNvPr id="7" name="文本框 6"/>
          <p:cNvSpPr txBox="1"/>
          <p:nvPr/>
        </p:nvSpPr>
        <p:spPr>
          <a:xfrm>
            <a:off x="651754" y="1328791"/>
            <a:ext cx="3227705" cy="1260475"/>
          </a:xfrm>
          <a:prstGeom prst="rect">
            <a:avLst/>
          </a:prstGeom>
          <a:noFill/>
        </p:spPr>
        <p:txBody>
          <a:bodyPr wrap="none" rtlCol="0">
            <a:spAutoFit/>
          </a:bodyPr>
          <a:lstStyle/>
          <a:p>
            <a:r>
              <a:rPr lang="zh-CN" altLang="en-US" sz="1200">
                <a:solidFill>
                  <a:schemeClr val="bg1"/>
                </a:solidFill>
                <a:latin typeface="HarmonyOS Sans SC" panose="00000500000000000000" pitchFamily="2" charset="-122"/>
                <a:ea typeface="HarmonyOS Sans SC" panose="00000500000000000000" pitchFamily="2" charset="-122"/>
              </a:rPr>
              <a:t>截至</a:t>
            </a:r>
            <a:r>
              <a:rPr lang="en-US" altLang="zh-CN" sz="1200" dirty="0">
                <a:solidFill>
                  <a:schemeClr val="bg1"/>
                </a:solidFill>
                <a:latin typeface="HarmonyOS Sans SC" panose="00000500000000000000" pitchFamily="2" charset="-122"/>
                <a:ea typeface="HarmonyOS Sans SC" panose="00000500000000000000" pitchFamily="2" charset="-122"/>
              </a:rPr>
              <a:t>2026</a:t>
            </a:r>
            <a:r>
              <a:rPr lang="zh-CN" altLang="en-US" sz="1200">
                <a:solidFill>
                  <a:schemeClr val="bg1"/>
                </a:solidFill>
                <a:latin typeface="HarmonyOS Sans SC" panose="00000500000000000000" pitchFamily="2" charset="-122"/>
                <a:ea typeface="HarmonyOS Sans SC" panose="00000500000000000000" pitchFamily="2" charset="-122"/>
              </a:rPr>
              <a:t>年上半年</a:t>
            </a:r>
            <a:endParaRPr lang="en-US" altLang="zh-CN" sz="1200" dirty="0">
              <a:solidFill>
                <a:schemeClr val="bg1"/>
              </a:solidFill>
              <a:latin typeface="HarmonyOS Sans SC" panose="00000500000000000000" pitchFamily="2" charset="-122"/>
              <a:ea typeface="HarmonyOS Sans SC" panose="00000500000000000000" pitchFamily="2" charset="-122"/>
            </a:endParaRPr>
          </a:p>
          <a:p>
            <a:r>
              <a:rPr lang="zh-CN" altLang="en-US" dirty="0">
                <a:solidFill>
                  <a:schemeClr val="bg1"/>
                </a:solidFill>
                <a:latin typeface="HarmonyOS Sans SC" panose="00000500000000000000" pitchFamily="2" charset="-122"/>
                <a:ea typeface="HarmonyOS Sans SC" panose="00000500000000000000" pitchFamily="2" charset="-122"/>
              </a:rPr>
              <a:t>在管</a:t>
            </a:r>
            <a:r>
              <a:rPr lang="zh-CN" altLang="en-US">
                <a:solidFill>
                  <a:schemeClr val="bg1"/>
                </a:solidFill>
                <a:latin typeface="HarmonyOS Sans SC" panose="00000500000000000000" pitchFamily="2" charset="-122"/>
                <a:ea typeface="HarmonyOS Sans SC" panose="00000500000000000000" pitchFamily="2" charset="-122"/>
              </a:rPr>
              <a:t>载体　</a:t>
            </a:r>
            <a:r>
              <a:rPr lang="zh-CN" altLang="en-US" sz="3200" b="1">
                <a:solidFill>
                  <a:schemeClr val="bg2"/>
                </a:solidFill>
                <a:latin typeface="HarmonyOS Sans SC" panose="00000500000000000000" pitchFamily="2" charset="-122"/>
                <a:ea typeface="HarmonyOS Sans SC" panose="00000500000000000000" pitchFamily="2" charset="-122"/>
              </a:rPr>
              <a:t>超</a:t>
            </a:r>
            <a:r>
              <a:rPr lang="en-US" altLang="zh-CN" sz="3200" b="1" dirty="0">
                <a:solidFill>
                  <a:schemeClr val="bg2"/>
                </a:solidFill>
                <a:latin typeface="HarmonyOS Sans SC" panose="00000500000000000000" pitchFamily="2" charset="-122"/>
                <a:ea typeface="HarmonyOS Sans SC" panose="00000500000000000000" pitchFamily="2" charset="-122"/>
              </a:rPr>
              <a:t>100</a:t>
            </a:r>
            <a:r>
              <a:rPr lang="zh-CN" altLang="en-US" sz="3200" b="1">
                <a:solidFill>
                  <a:schemeClr val="bg2"/>
                </a:solidFill>
                <a:latin typeface="HarmonyOS Sans SC" panose="00000500000000000000" pitchFamily="2" charset="-122"/>
                <a:ea typeface="HarmonyOS Sans SC" panose="00000500000000000000" pitchFamily="2" charset="-122"/>
              </a:rPr>
              <a:t>万</a:t>
            </a:r>
            <a:r>
              <a:rPr lang="zh-CN" altLang="en-US" sz="2800" b="1">
                <a:solidFill>
                  <a:schemeClr val="bg2"/>
                </a:solidFill>
                <a:latin typeface="HarmonyOS Sans SC" panose="00000500000000000000" pitchFamily="2" charset="-122"/>
                <a:ea typeface="HarmonyOS Sans SC" panose="00000500000000000000" pitchFamily="2" charset="-122"/>
              </a:rPr>
              <a:t>㎡</a:t>
            </a:r>
            <a:endParaRPr lang="en-US" altLang="zh-CN" b="1" dirty="0">
              <a:solidFill>
                <a:schemeClr val="bg2"/>
              </a:solidFill>
              <a:latin typeface="HarmonyOS Sans SC" panose="00000500000000000000" pitchFamily="2" charset="-122"/>
              <a:ea typeface="HarmonyOS Sans SC" panose="00000500000000000000" pitchFamily="2" charset="-122"/>
            </a:endParaRPr>
          </a:p>
          <a:p>
            <a:r>
              <a:rPr lang="zh-CN" altLang="en-US" dirty="0">
                <a:solidFill>
                  <a:schemeClr val="bg1"/>
                </a:solidFill>
                <a:latin typeface="HarmonyOS Sans SC" panose="00000500000000000000" pitchFamily="2" charset="-122"/>
                <a:ea typeface="HarmonyOS Sans SC" panose="00000500000000000000" pitchFamily="2" charset="-122"/>
              </a:rPr>
              <a:t>资产</a:t>
            </a:r>
            <a:r>
              <a:rPr lang="zh-CN" altLang="en-US">
                <a:solidFill>
                  <a:schemeClr val="bg1"/>
                </a:solidFill>
                <a:latin typeface="HarmonyOS Sans SC" panose="00000500000000000000" pitchFamily="2" charset="-122"/>
                <a:ea typeface="HarmonyOS Sans SC" panose="00000500000000000000" pitchFamily="2" charset="-122"/>
              </a:rPr>
              <a:t>规模　</a:t>
            </a:r>
            <a:r>
              <a:rPr lang="zh-CN" altLang="en-US" sz="2800" b="1">
                <a:solidFill>
                  <a:schemeClr val="bg2"/>
                </a:solidFill>
                <a:latin typeface="HarmonyOS Sans SC" panose="00000500000000000000" pitchFamily="2" charset="-122"/>
                <a:ea typeface="HarmonyOS Sans SC" panose="00000500000000000000" pitchFamily="2" charset="-122"/>
              </a:rPr>
              <a:t>超</a:t>
            </a:r>
            <a:r>
              <a:rPr lang="en-US" altLang="zh-CN" sz="3200" b="1" dirty="0">
                <a:solidFill>
                  <a:schemeClr val="bg2"/>
                </a:solidFill>
                <a:latin typeface="HarmonyOS Sans SC" panose="00000500000000000000" pitchFamily="2" charset="-122"/>
                <a:ea typeface="HarmonyOS Sans SC" panose="00000500000000000000" pitchFamily="2" charset="-122"/>
              </a:rPr>
              <a:t>220</a:t>
            </a:r>
            <a:r>
              <a:rPr lang="zh-CN" altLang="en-US" sz="3200" b="1">
                <a:solidFill>
                  <a:schemeClr val="bg2"/>
                </a:solidFill>
                <a:latin typeface="HarmonyOS Sans SC" panose="00000500000000000000" pitchFamily="2" charset="-122"/>
                <a:ea typeface="HarmonyOS Sans SC" panose="00000500000000000000" pitchFamily="2" charset="-122"/>
              </a:rPr>
              <a:t>亿</a:t>
            </a:r>
            <a:r>
              <a:rPr lang="zh-CN" altLang="en-US" sz="3200" b="1" dirty="0">
                <a:solidFill>
                  <a:schemeClr val="bg2"/>
                </a:solidFill>
                <a:latin typeface="HarmonyOS Sans SC" panose="00000500000000000000" pitchFamily="2" charset="-122"/>
                <a:ea typeface="HarmonyOS Sans SC" panose="00000500000000000000" pitchFamily="2" charset="-122"/>
              </a:rPr>
              <a:t>元</a:t>
            </a:r>
            <a:endParaRPr lang="zh-CN" altLang="en-US" b="1" dirty="0">
              <a:solidFill>
                <a:schemeClr val="bg2"/>
              </a:solidFill>
              <a:latin typeface="HarmonyOS Sans SC" panose="00000500000000000000" pitchFamily="2" charset="-122"/>
              <a:ea typeface="HarmonyOS Sans SC" panose="00000500000000000000" pitchFamily="2" charset="-122"/>
            </a:endParaRPr>
          </a:p>
        </p:txBody>
      </p:sp>
      <p:sp>
        <p:nvSpPr>
          <p:cNvPr id="8" name="矩形 7"/>
          <p:cNvSpPr/>
          <p:nvPr/>
        </p:nvSpPr>
        <p:spPr>
          <a:xfrm>
            <a:off x="609600" y="2674841"/>
            <a:ext cx="3600000" cy="957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panose="00000500000000000000" pitchFamily="2" charset="-122"/>
              <a:ea typeface="HarmonyOS Sans SC" panose="00000500000000000000" pitchFamily="2" charset="-122"/>
            </a:endParaRPr>
          </a:p>
        </p:txBody>
      </p:sp>
      <p:sp>
        <p:nvSpPr>
          <p:cNvPr id="9" name="文本框 8"/>
          <p:cNvSpPr txBox="1"/>
          <p:nvPr/>
        </p:nvSpPr>
        <p:spPr>
          <a:xfrm>
            <a:off x="651753" y="2752441"/>
            <a:ext cx="2125903" cy="804836"/>
          </a:xfrm>
          <a:prstGeom prst="rect">
            <a:avLst/>
          </a:prstGeom>
          <a:noFill/>
        </p:spPr>
        <p:txBody>
          <a:bodyPr wrap="none" rtlCol="0">
            <a:spAutoFit/>
          </a:bodyPr>
          <a:lstStyle/>
          <a:p>
            <a:r>
              <a:rPr lang="zh-CN" altLang="en-US" dirty="0">
                <a:solidFill>
                  <a:schemeClr val="bg1"/>
                </a:solidFill>
                <a:latin typeface="HarmonyOS Sans SC" panose="00000500000000000000" pitchFamily="2" charset="-122"/>
                <a:ea typeface="HarmonyOS Sans SC" panose="00000500000000000000" pitchFamily="2" charset="-122"/>
              </a:rPr>
              <a:t>收购产业园区</a:t>
            </a:r>
            <a:r>
              <a:rPr lang="en-US" altLang="zh-CN" dirty="0">
                <a:solidFill>
                  <a:schemeClr val="bg1"/>
                </a:solidFill>
                <a:latin typeface="HarmonyOS Sans SC" panose="00000500000000000000" pitchFamily="2" charset="-122"/>
                <a:ea typeface="HarmonyOS Sans SC" panose="00000500000000000000" pitchFamily="2" charset="-122"/>
              </a:rPr>
              <a:t>2</a:t>
            </a:r>
            <a:r>
              <a:rPr lang="zh-CN" altLang="en-US" dirty="0">
                <a:solidFill>
                  <a:schemeClr val="bg1"/>
                </a:solidFill>
                <a:latin typeface="HarmonyOS Sans SC" panose="00000500000000000000" pitchFamily="2" charset="-122"/>
                <a:ea typeface="HarmonyOS Sans SC" panose="00000500000000000000" pitchFamily="2" charset="-122"/>
              </a:rPr>
              <a:t>处</a:t>
            </a:r>
            <a:endParaRPr lang="en-US" altLang="zh-CN" b="1" dirty="0">
              <a:solidFill>
                <a:schemeClr val="bg1"/>
              </a:solidFill>
              <a:latin typeface="HarmonyOS Sans SC" panose="00000500000000000000" pitchFamily="2" charset="-122"/>
              <a:ea typeface="HarmonyOS Sans SC" panose="00000500000000000000" pitchFamily="2" charset="-122"/>
            </a:endParaRPr>
          </a:p>
          <a:p>
            <a:pPr>
              <a:lnSpc>
                <a:spcPct val="130000"/>
              </a:lnSpc>
            </a:pPr>
            <a:r>
              <a:rPr lang="zh-CN" altLang="en-US" sz="1200" dirty="0">
                <a:solidFill>
                  <a:schemeClr val="bg1"/>
                </a:solidFill>
                <a:latin typeface="HarmonyOS Sans SC" panose="00000500000000000000" pitchFamily="2" charset="-122"/>
                <a:ea typeface="HarmonyOS Sans SC" panose="00000500000000000000" pitchFamily="2" charset="-122"/>
              </a:rPr>
              <a:t>用地面积</a:t>
            </a:r>
            <a:r>
              <a:rPr lang="zh-CN" altLang="en-US" dirty="0">
                <a:solidFill>
                  <a:schemeClr val="bg1"/>
                </a:solidFill>
                <a:latin typeface="HarmonyOS Sans SC" panose="00000500000000000000" pitchFamily="2" charset="-122"/>
                <a:ea typeface="HarmonyOS Sans SC" panose="00000500000000000000" pitchFamily="2" charset="-122"/>
              </a:rPr>
              <a:t> </a:t>
            </a:r>
            <a:r>
              <a:rPr lang="en-US" altLang="zh-CN" sz="2400" b="1" dirty="0">
                <a:solidFill>
                  <a:schemeClr val="bg2"/>
                </a:solidFill>
                <a:latin typeface="HarmonyOS Sans SC" panose="00000500000000000000" pitchFamily="2" charset="-122"/>
                <a:ea typeface="HarmonyOS Sans SC" panose="00000500000000000000" pitchFamily="2" charset="-122"/>
              </a:rPr>
              <a:t>56,000</a:t>
            </a:r>
            <a:r>
              <a:rPr lang="zh-CN" altLang="en-US" sz="2000" b="1" dirty="0">
                <a:solidFill>
                  <a:schemeClr val="bg2"/>
                </a:solidFill>
                <a:latin typeface="HarmonyOS Sans SC" panose="00000500000000000000" pitchFamily="2" charset="-122"/>
                <a:ea typeface="HarmonyOS Sans SC" panose="00000500000000000000" pitchFamily="2" charset="-122"/>
              </a:rPr>
              <a:t>㎡</a:t>
            </a:r>
            <a:endParaRPr lang="zh-CN" altLang="en-US" b="1" dirty="0">
              <a:solidFill>
                <a:schemeClr val="bg2"/>
              </a:solidFill>
              <a:latin typeface="HarmonyOS Sans SC" panose="00000500000000000000" pitchFamily="2" charset="-122"/>
              <a:ea typeface="HarmonyOS Sans SC" panose="00000500000000000000" pitchFamily="2" charset="-122"/>
            </a:endParaRPr>
          </a:p>
        </p:txBody>
      </p:sp>
      <p:sp>
        <p:nvSpPr>
          <p:cNvPr id="10" name="文本框 9"/>
          <p:cNvSpPr txBox="1"/>
          <p:nvPr/>
        </p:nvSpPr>
        <p:spPr>
          <a:xfrm>
            <a:off x="2853674" y="2992629"/>
            <a:ext cx="1261884" cy="516423"/>
          </a:xfrm>
          <a:prstGeom prst="rect">
            <a:avLst/>
          </a:prstGeom>
          <a:noFill/>
        </p:spPr>
        <p:txBody>
          <a:bodyPr wrap="none" rtlCol="0">
            <a:spAutoFit/>
          </a:bodyPr>
          <a:lstStyle/>
          <a:p>
            <a:pPr algn="r">
              <a:lnSpc>
                <a:spcPct val="120000"/>
              </a:lnSpc>
            </a:pPr>
            <a:r>
              <a:rPr lang="zh-CN" altLang="en-US" sz="1200" b="1" dirty="0">
                <a:solidFill>
                  <a:schemeClr val="bg1"/>
                </a:solidFill>
                <a:latin typeface="HarmonyOS Sans SC" panose="00000500000000000000" pitchFamily="2" charset="-122"/>
                <a:ea typeface="HarmonyOS Sans SC" panose="00000500000000000000" pitchFamily="2" charset="-122"/>
              </a:rPr>
              <a:t>后航道智造园</a:t>
            </a:r>
            <a:endParaRPr lang="en-US" altLang="zh-CN" sz="1200" b="1" dirty="0">
              <a:solidFill>
                <a:schemeClr val="bg1"/>
              </a:solidFill>
              <a:latin typeface="HarmonyOS Sans SC" panose="00000500000000000000" pitchFamily="2" charset="-122"/>
              <a:ea typeface="HarmonyOS Sans SC" panose="00000500000000000000" pitchFamily="2" charset="-122"/>
            </a:endParaRPr>
          </a:p>
          <a:p>
            <a:pPr algn="r">
              <a:lnSpc>
                <a:spcPct val="120000"/>
              </a:lnSpc>
            </a:pPr>
            <a:r>
              <a:rPr lang="zh-CN" altLang="en-US" sz="1200" b="1" dirty="0">
                <a:solidFill>
                  <a:schemeClr val="bg1"/>
                </a:solidFill>
                <a:latin typeface="HarmonyOS Sans SC" panose="00000500000000000000" pitchFamily="2" charset="-122"/>
                <a:ea typeface="HarmonyOS Sans SC" panose="00000500000000000000" pitchFamily="2" charset="-122"/>
              </a:rPr>
              <a:t>湾区数智产业园</a:t>
            </a:r>
            <a:endParaRPr lang="zh-CN" altLang="en-US" sz="1200" b="1" dirty="0">
              <a:solidFill>
                <a:schemeClr val="bg1"/>
              </a:solidFill>
              <a:latin typeface="HarmonyOS Sans SC" panose="00000500000000000000" pitchFamily="2" charset="-122"/>
              <a:ea typeface="HarmonyOS Sans SC" panose="00000500000000000000" pitchFamily="2" charset="-122"/>
            </a:endParaRPr>
          </a:p>
        </p:txBody>
      </p:sp>
      <p:sp>
        <p:nvSpPr>
          <p:cNvPr id="11" name="矩形 10"/>
          <p:cNvSpPr/>
          <p:nvPr/>
        </p:nvSpPr>
        <p:spPr>
          <a:xfrm>
            <a:off x="609600" y="3680202"/>
            <a:ext cx="3600000" cy="957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panose="00000500000000000000" pitchFamily="2" charset="-122"/>
              <a:ea typeface="HarmonyOS Sans SC" panose="00000500000000000000" pitchFamily="2" charset="-122"/>
            </a:endParaRPr>
          </a:p>
        </p:txBody>
      </p:sp>
      <p:sp>
        <p:nvSpPr>
          <p:cNvPr id="12" name="文本框 11"/>
          <p:cNvSpPr txBox="1"/>
          <p:nvPr/>
        </p:nvSpPr>
        <p:spPr>
          <a:xfrm>
            <a:off x="651753" y="3757802"/>
            <a:ext cx="2310248" cy="804836"/>
          </a:xfrm>
          <a:prstGeom prst="rect">
            <a:avLst/>
          </a:prstGeom>
          <a:noFill/>
        </p:spPr>
        <p:txBody>
          <a:bodyPr wrap="none" rtlCol="0">
            <a:spAutoFit/>
          </a:bodyPr>
          <a:lstStyle/>
          <a:p>
            <a:r>
              <a:rPr lang="zh-CN" altLang="en-US" dirty="0">
                <a:solidFill>
                  <a:schemeClr val="bg1"/>
                </a:solidFill>
                <a:latin typeface="HarmonyOS Sans SC" panose="00000500000000000000" pitchFamily="2" charset="-122"/>
                <a:ea typeface="HarmonyOS Sans SC" panose="00000500000000000000" pitchFamily="2" charset="-122"/>
              </a:rPr>
              <a:t>收购朗豪酒店</a:t>
            </a:r>
            <a:endParaRPr lang="en-US" altLang="zh-CN" b="1" dirty="0">
              <a:solidFill>
                <a:schemeClr val="bg1"/>
              </a:solidFill>
              <a:latin typeface="HarmonyOS Sans SC" panose="00000500000000000000" pitchFamily="2" charset="-122"/>
              <a:ea typeface="HarmonyOS Sans SC" panose="00000500000000000000" pitchFamily="2" charset="-122"/>
            </a:endParaRPr>
          </a:p>
          <a:p>
            <a:pPr>
              <a:lnSpc>
                <a:spcPct val="130000"/>
              </a:lnSpc>
            </a:pPr>
            <a:r>
              <a:rPr lang="zh-CN" altLang="en-US" sz="1200" dirty="0">
                <a:solidFill>
                  <a:schemeClr val="bg1"/>
                </a:solidFill>
                <a:latin typeface="HarmonyOS Sans SC" panose="00000500000000000000" pitchFamily="2" charset="-122"/>
                <a:ea typeface="HarmonyOS Sans SC" panose="00000500000000000000" pitchFamily="2" charset="-122"/>
              </a:rPr>
              <a:t>建筑面积</a:t>
            </a:r>
            <a:r>
              <a:rPr lang="zh-CN" altLang="en-US" dirty="0">
                <a:solidFill>
                  <a:schemeClr val="bg1"/>
                </a:solidFill>
                <a:latin typeface="HarmonyOS Sans SC" panose="00000500000000000000" pitchFamily="2" charset="-122"/>
                <a:ea typeface="HarmonyOS Sans SC" panose="00000500000000000000" pitchFamily="2" charset="-122"/>
              </a:rPr>
              <a:t> </a:t>
            </a:r>
            <a:r>
              <a:rPr lang="en-US" altLang="zh-CN" sz="2400" b="1" dirty="0">
                <a:solidFill>
                  <a:schemeClr val="bg2"/>
                </a:solidFill>
                <a:latin typeface="HarmonyOS Sans SC" panose="00000500000000000000" pitchFamily="2" charset="-122"/>
                <a:ea typeface="HarmonyOS Sans SC" panose="00000500000000000000" pitchFamily="2" charset="-122"/>
              </a:rPr>
              <a:t>149,000</a:t>
            </a:r>
            <a:r>
              <a:rPr lang="zh-CN" altLang="en-US" sz="2000" b="1" dirty="0">
                <a:solidFill>
                  <a:schemeClr val="bg2"/>
                </a:solidFill>
                <a:latin typeface="HarmonyOS Sans SC" panose="00000500000000000000" pitchFamily="2" charset="-122"/>
                <a:ea typeface="HarmonyOS Sans SC" panose="00000500000000000000" pitchFamily="2" charset="-122"/>
              </a:rPr>
              <a:t>㎡</a:t>
            </a:r>
            <a:endParaRPr lang="zh-CN" altLang="en-US" b="1" dirty="0">
              <a:solidFill>
                <a:schemeClr val="bg2"/>
              </a:solidFill>
              <a:latin typeface="HarmonyOS Sans SC" panose="00000500000000000000" pitchFamily="2" charset="-122"/>
              <a:ea typeface="HarmonyOS Sans SC" panose="00000500000000000000" pitchFamily="2" charset="-122"/>
            </a:endParaRPr>
          </a:p>
        </p:txBody>
      </p:sp>
      <p:pic>
        <p:nvPicPr>
          <p:cNvPr id="13" name="图形 1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233226" y="3824496"/>
            <a:ext cx="693099" cy="693099"/>
          </a:xfrm>
          <a:prstGeom prst="rect">
            <a:avLst/>
          </a:prstGeom>
        </p:spPr>
      </p:pic>
      <p:sp>
        <p:nvSpPr>
          <p:cNvPr id="14" name="矩形 13"/>
          <p:cNvSpPr/>
          <p:nvPr/>
        </p:nvSpPr>
        <p:spPr>
          <a:xfrm>
            <a:off x="609600" y="4685562"/>
            <a:ext cx="3600000" cy="1291645"/>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panose="00000500000000000000" pitchFamily="2" charset="-122"/>
              <a:ea typeface="HarmonyOS Sans SC" panose="00000500000000000000" pitchFamily="2" charset="-122"/>
            </a:endParaRPr>
          </a:p>
        </p:txBody>
      </p:sp>
      <p:sp>
        <p:nvSpPr>
          <p:cNvPr id="57" name="矩形 56"/>
          <p:cNvSpPr/>
          <p:nvPr/>
        </p:nvSpPr>
        <p:spPr>
          <a:xfrm>
            <a:off x="4296000" y="3680202"/>
            <a:ext cx="3600000" cy="22970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panose="00000500000000000000" pitchFamily="2" charset="-122"/>
              <a:ea typeface="HarmonyOS Sans SC" panose="00000500000000000000" pitchFamily="2" charset="-122"/>
            </a:endParaRPr>
          </a:p>
        </p:txBody>
      </p:sp>
      <p:sp>
        <p:nvSpPr>
          <p:cNvPr id="58" name="文本框 57"/>
          <p:cNvSpPr txBox="1"/>
          <p:nvPr/>
        </p:nvSpPr>
        <p:spPr>
          <a:xfrm>
            <a:off x="4299269" y="3626563"/>
            <a:ext cx="3593465" cy="570865"/>
          </a:xfrm>
          <a:prstGeom prst="rect">
            <a:avLst/>
          </a:prstGeom>
          <a:noFill/>
        </p:spPr>
        <p:txBody>
          <a:bodyPr wrap="none" rtlCol="0">
            <a:spAutoFit/>
          </a:bodyPr>
          <a:lstStyle/>
          <a:p>
            <a:pPr algn="ctr">
              <a:lnSpc>
                <a:spcPct val="130000"/>
              </a:lnSpc>
            </a:pPr>
            <a:r>
              <a:rPr lang="zh-CN" altLang="en-US" sz="1200" dirty="0">
                <a:solidFill>
                  <a:schemeClr val="bg1"/>
                </a:solidFill>
                <a:latin typeface="HarmonyOS Sans SC" panose="00000500000000000000" pitchFamily="2" charset="-122"/>
                <a:ea typeface="HarmonyOS Sans SC" panose="00000500000000000000" pitchFamily="2" charset="-122"/>
              </a:rPr>
              <a:t>产业投资项目 </a:t>
            </a:r>
            <a:r>
              <a:rPr lang="en-US" altLang="zh-CN" sz="2400" b="1" dirty="0">
                <a:solidFill>
                  <a:schemeClr val="bg2"/>
                </a:solidFill>
                <a:latin typeface="HarmonyOS Sans SC" panose="00000500000000000000" pitchFamily="2" charset="-122"/>
                <a:ea typeface="HarmonyOS Sans SC" panose="00000500000000000000" pitchFamily="2" charset="-122"/>
              </a:rPr>
              <a:t>36</a:t>
            </a:r>
            <a:r>
              <a:rPr lang="zh-CN" altLang="en-US" sz="2000" b="1" dirty="0">
                <a:solidFill>
                  <a:schemeClr val="bg2"/>
                </a:solidFill>
                <a:latin typeface="HarmonyOS Sans SC" panose="00000500000000000000" pitchFamily="2" charset="-122"/>
                <a:ea typeface="HarmonyOS Sans SC" panose="00000500000000000000" pitchFamily="2" charset="-122"/>
              </a:rPr>
              <a:t>个</a:t>
            </a:r>
            <a:r>
              <a:rPr lang="zh-CN" altLang="en-US" sz="1200" dirty="0">
                <a:solidFill>
                  <a:schemeClr val="bg1"/>
                </a:solidFill>
                <a:latin typeface="HarmonyOS Sans SC" panose="00000500000000000000" pitchFamily="2" charset="-122"/>
                <a:ea typeface="HarmonyOS Sans SC" panose="00000500000000000000" pitchFamily="2" charset="-122"/>
              </a:rPr>
              <a:t>，投资金额约 </a:t>
            </a:r>
            <a:r>
              <a:rPr lang="en-US" sz="2000" b="1" dirty="0">
                <a:solidFill>
                  <a:schemeClr val="bg2"/>
                </a:solidFill>
                <a:latin typeface="HarmonyOS Sans SC" panose="00000500000000000000" pitchFamily="2" charset="-122"/>
                <a:ea typeface="HarmonyOS Sans SC" panose="00000500000000000000" pitchFamily="2" charset="-122"/>
              </a:rPr>
              <a:t>8.7</a:t>
            </a:r>
            <a:r>
              <a:rPr lang="zh-CN" altLang="en-US" sz="2000" b="1" dirty="0">
                <a:solidFill>
                  <a:schemeClr val="bg2"/>
                </a:solidFill>
                <a:latin typeface="HarmonyOS Sans SC" panose="00000500000000000000" pitchFamily="2" charset="-122"/>
                <a:ea typeface="HarmonyOS Sans SC" panose="00000500000000000000" pitchFamily="2" charset="-122"/>
              </a:rPr>
              <a:t>亿元</a:t>
            </a:r>
            <a:endParaRPr lang="zh-CN" altLang="en-US" b="1" dirty="0">
              <a:solidFill>
                <a:schemeClr val="bg2"/>
              </a:solidFill>
              <a:latin typeface="HarmonyOS Sans SC" panose="00000500000000000000" pitchFamily="2" charset="-122"/>
              <a:ea typeface="HarmonyOS Sans SC" panose="00000500000000000000" pitchFamily="2" charset="-122"/>
            </a:endParaRPr>
          </a:p>
        </p:txBody>
      </p:sp>
      <p:sp>
        <p:nvSpPr>
          <p:cNvPr id="59" name="文本框 58"/>
          <p:cNvSpPr txBox="1"/>
          <p:nvPr/>
        </p:nvSpPr>
        <p:spPr>
          <a:xfrm>
            <a:off x="4439136" y="4371867"/>
            <a:ext cx="3313728" cy="527837"/>
          </a:xfrm>
          <a:prstGeom prst="rect">
            <a:avLst/>
          </a:prstGeom>
          <a:noFill/>
        </p:spPr>
        <p:txBody>
          <a:bodyPr wrap="none" rtlCol="0">
            <a:spAutoFit/>
          </a:bodyPr>
          <a:lstStyle/>
          <a:p>
            <a:pPr algn="ctr">
              <a:lnSpc>
                <a:spcPct val="130000"/>
              </a:lnSpc>
            </a:pPr>
            <a:r>
              <a:rPr lang="zh-CN" altLang="en-US" sz="1200" dirty="0">
                <a:solidFill>
                  <a:schemeClr val="bg1"/>
                </a:solidFill>
                <a:latin typeface="HarmonyOS Sans SC" panose="00000500000000000000" pitchFamily="2" charset="-122"/>
                <a:ea typeface="HarmonyOS Sans SC" panose="00000500000000000000" pitchFamily="2" charset="-122"/>
              </a:rPr>
              <a:t>搭建基金 </a:t>
            </a:r>
            <a:r>
              <a:rPr lang="en-US" altLang="zh-CN" sz="2400" b="1" dirty="0">
                <a:solidFill>
                  <a:schemeClr val="bg2"/>
                </a:solidFill>
                <a:latin typeface="HarmonyOS Sans SC" panose="00000500000000000000" pitchFamily="2" charset="-122"/>
                <a:ea typeface="HarmonyOS Sans SC" panose="00000500000000000000" pitchFamily="2" charset="-122"/>
              </a:rPr>
              <a:t>26</a:t>
            </a:r>
            <a:r>
              <a:rPr lang="zh-CN" altLang="en-US" sz="2000" b="1" dirty="0">
                <a:solidFill>
                  <a:schemeClr val="bg2"/>
                </a:solidFill>
                <a:latin typeface="HarmonyOS Sans SC" panose="00000500000000000000" pitchFamily="2" charset="-122"/>
                <a:ea typeface="HarmonyOS Sans SC" panose="00000500000000000000" pitchFamily="2" charset="-122"/>
              </a:rPr>
              <a:t>支</a:t>
            </a:r>
            <a:r>
              <a:rPr lang="zh-CN" altLang="en-US" sz="1200" dirty="0">
                <a:solidFill>
                  <a:schemeClr val="bg1"/>
                </a:solidFill>
                <a:latin typeface="HarmonyOS Sans SC" panose="00000500000000000000" pitchFamily="2" charset="-122"/>
                <a:ea typeface="HarmonyOS Sans SC" panose="00000500000000000000" pitchFamily="2" charset="-122"/>
              </a:rPr>
              <a:t>，基金规模约 </a:t>
            </a:r>
            <a:r>
              <a:rPr lang="en-US" altLang="zh-CN" sz="2400" b="1" dirty="0">
                <a:solidFill>
                  <a:schemeClr val="bg2"/>
                </a:solidFill>
                <a:latin typeface="HarmonyOS Sans SC" panose="00000500000000000000" pitchFamily="2" charset="-122"/>
                <a:ea typeface="HarmonyOS Sans SC" panose="00000500000000000000" pitchFamily="2" charset="-122"/>
              </a:rPr>
              <a:t>81</a:t>
            </a:r>
            <a:r>
              <a:rPr lang="zh-CN" altLang="en-US" sz="2000" b="1" dirty="0">
                <a:solidFill>
                  <a:schemeClr val="bg2"/>
                </a:solidFill>
                <a:latin typeface="HarmonyOS Sans SC" panose="00000500000000000000" pitchFamily="2" charset="-122"/>
                <a:ea typeface="HarmonyOS Sans SC" panose="00000500000000000000" pitchFamily="2" charset="-122"/>
              </a:rPr>
              <a:t>亿元</a:t>
            </a:r>
            <a:endParaRPr lang="zh-CN" altLang="en-US" b="1" dirty="0">
              <a:solidFill>
                <a:schemeClr val="bg2"/>
              </a:solidFill>
              <a:latin typeface="HarmonyOS Sans SC" panose="00000500000000000000" pitchFamily="2" charset="-122"/>
              <a:ea typeface="HarmonyOS Sans SC" panose="00000500000000000000" pitchFamily="2" charset="-122"/>
            </a:endParaRPr>
          </a:p>
        </p:txBody>
      </p:sp>
      <p:sp>
        <p:nvSpPr>
          <p:cNvPr id="60" name="文本框 59"/>
          <p:cNvSpPr txBox="1"/>
          <p:nvPr/>
        </p:nvSpPr>
        <p:spPr>
          <a:xfrm>
            <a:off x="4322447" y="5144769"/>
            <a:ext cx="3547110" cy="570865"/>
          </a:xfrm>
          <a:prstGeom prst="rect">
            <a:avLst/>
          </a:prstGeom>
          <a:noFill/>
        </p:spPr>
        <p:txBody>
          <a:bodyPr wrap="none" rtlCol="0">
            <a:spAutoFit/>
          </a:bodyPr>
          <a:lstStyle/>
          <a:p>
            <a:pPr algn="ctr">
              <a:lnSpc>
                <a:spcPct val="130000"/>
              </a:lnSpc>
            </a:pPr>
            <a:r>
              <a:rPr lang="zh-CN" altLang="en-US" sz="1200">
                <a:solidFill>
                  <a:schemeClr val="bg1"/>
                </a:solidFill>
                <a:latin typeface="HarmonyOS Sans SC" panose="00000500000000000000" pitchFamily="2" charset="-122"/>
                <a:ea typeface="HarmonyOS Sans SC" panose="00000500000000000000" pitchFamily="2" charset="-122"/>
              </a:rPr>
              <a:t>洽谈项目超 </a:t>
            </a:r>
            <a:r>
              <a:rPr lang="en-US" altLang="zh-CN" sz="2400" b="1" dirty="0">
                <a:solidFill>
                  <a:schemeClr val="bg2"/>
                </a:solidFill>
                <a:latin typeface="HarmonyOS Sans SC" panose="00000500000000000000" pitchFamily="2" charset="-122"/>
                <a:ea typeface="HarmonyOS Sans SC" panose="00000500000000000000" pitchFamily="2" charset="-122"/>
              </a:rPr>
              <a:t>500</a:t>
            </a:r>
            <a:r>
              <a:rPr lang="zh-CN" altLang="en-US" sz="2000" b="1" dirty="0">
                <a:solidFill>
                  <a:schemeClr val="bg2"/>
                </a:solidFill>
                <a:latin typeface="HarmonyOS Sans SC" panose="00000500000000000000" pitchFamily="2" charset="-122"/>
                <a:ea typeface="HarmonyOS Sans SC" panose="00000500000000000000" pitchFamily="2" charset="-122"/>
              </a:rPr>
              <a:t>个</a:t>
            </a:r>
            <a:r>
              <a:rPr lang="zh-CN" altLang="en-US" sz="1200" dirty="0">
                <a:solidFill>
                  <a:schemeClr val="bg1"/>
                </a:solidFill>
                <a:latin typeface="HarmonyOS Sans SC" panose="00000500000000000000" pitchFamily="2" charset="-122"/>
                <a:ea typeface="HarmonyOS Sans SC" panose="00000500000000000000" pitchFamily="2" charset="-122"/>
              </a:rPr>
              <a:t>，</a:t>
            </a:r>
            <a:r>
              <a:rPr lang="zh-CN" altLang="en-US" sz="1200">
                <a:solidFill>
                  <a:schemeClr val="bg1"/>
                </a:solidFill>
                <a:latin typeface="HarmonyOS Sans SC" panose="00000500000000000000" pitchFamily="2" charset="-122"/>
                <a:ea typeface="HarmonyOS Sans SC" panose="00000500000000000000" pitchFamily="2" charset="-122"/>
              </a:rPr>
              <a:t>招商落地超 </a:t>
            </a:r>
            <a:r>
              <a:rPr lang="en-US" altLang="zh-CN" sz="2400" b="1" dirty="0">
                <a:solidFill>
                  <a:schemeClr val="bg2"/>
                </a:solidFill>
                <a:latin typeface="HarmonyOS Sans SC" panose="00000500000000000000" pitchFamily="2" charset="-122"/>
                <a:ea typeface="HarmonyOS Sans SC" panose="00000500000000000000" pitchFamily="2" charset="-122"/>
              </a:rPr>
              <a:t>160</a:t>
            </a:r>
            <a:r>
              <a:rPr lang="zh-CN" altLang="en-US" sz="2000" b="1">
                <a:solidFill>
                  <a:schemeClr val="bg2"/>
                </a:solidFill>
                <a:latin typeface="HarmonyOS Sans SC" panose="00000500000000000000" pitchFamily="2" charset="-122"/>
                <a:ea typeface="HarmonyOS Sans SC" panose="00000500000000000000" pitchFamily="2" charset="-122"/>
              </a:rPr>
              <a:t>个</a:t>
            </a:r>
            <a:endParaRPr lang="zh-CN" altLang="en-US" b="1" dirty="0">
              <a:solidFill>
                <a:schemeClr val="bg2"/>
              </a:solidFill>
              <a:latin typeface="HarmonyOS Sans SC" panose="00000500000000000000" pitchFamily="2" charset="-122"/>
              <a:ea typeface="HarmonyOS Sans SC" panose="00000500000000000000" pitchFamily="2" charset="-122"/>
            </a:endParaRPr>
          </a:p>
        </p:txBody>
      </p:sp>
      <p:sp>
        <p:nvSpPr>
          <p:cNvPr id="61" name="矩形: 圆角 64"/>
          <p:cNvSpPr/>
          <p:nvPr/>
        </p:nvSpPr>
        <p:spPr>
          <a:xfrm>
            <a:off x="4384992" y="4147903"/>
            <a:ext cx="771695" cy="180000"/>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rPr>
              <a:t>中科通量</a:t>
            </a:r>
            <a:endPar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endParaRPr>
          </a:p>
        </p:txBody>
      </p:sp>
      <p:sp>
        <p:nvSpPr>
          <p:cNvPr id="62" name="矩形: 圆角 65"/>
          <p:cNvSpPr/>
          <p:nvPr/>
        </p:nvSpPr>
        <p:spPr>
          <a:xfrm>
            <a:off x="5268433" y="4147903"/>
            <a:ext cx="771695" cy="180000"/>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a:ln>
                  <a:noFill/>
                </a:ln>
                <a:solidFill>
                  <a:schemeClr val="accent1"/>
                </a:solidFill>
                <a:effectLst/>
                <a:uLnTx/>
                <a:uFillTx/>
                <a:latin typeface="HarmonyOS Sans SC" panose="00000500000000000000" pitchFamily="2" charset="-122"/>
                <a:ea typeface="HarmonyOS Sans SC" panose="00000500000000000000" pitchFamily="2" charset="-122"/>
                <a:cs typeface="+mn-cs"/>
              </a:rPr>
              <a:t>智动未来</a:t>
            </a:r>
            <a:endPar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endParaRPr>
          </a:p>
        </p:txBody>
      </p:sp>
      <p:sp>
        <p:nvSpPr>
          <p:cNvPr id="63" name="矩形: 圆角 66"/>
          <p:cNvSpPr/>
          <p:nvPr/>
        </p:nvSpPr>
        <p:spPr>
          <a:xfrm>
            <a:off x="6151874" y="4147903"/>
            <a:ext cx="771695" cy="180000"/>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rPr>
              <a:t>中科云图</a:t>
            </a:r>
            <a:endPar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endParaRPr>
          </a:p>
        </p:txBody>
      </p:sp>
      <p:sp>
        <p:nvSpPr>
          <p:cNvPr id="64" name="矩形: 圆角 67"/>
          <p:cNvSpPr/>
          <p:nvPr/>
        </p:nvSpPr>
        <p:spPr>
          <a:xfrm>
            <a:off x="7035315" y="4147903"/>
            <a:ext cx="771695" cy="180000"/>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rPr>
              <a:t>筷子科技</a:t>
            </a:r>
            <a:endPar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endParaRPr>
          </a:p>
        </p:txBody>
      </p:sp>
      <p:sp>
        <p:nvSpPr>
          <p:cNvPr id="65" name="矩形: 圆角 68"/>
          <p:cNvSpPr/>
          <p:nvPr/>
        </p:nvSpPr>
        <p:spPr>
          <a:xfrm>
            <a:off x="4384992" y="4907561"/>
            <a:ext cx="771695" cy="180000"/>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rPr>
              <a:t>赛意信息</a:t>
            </a:r>
            <a:endPar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endParaRPr>
          </a:p>
        </p:txBody>
      </p:sp>
      <p:sp>
        <p:nvSpPr>
          <p:cNvPr id="66" name="矩形: 圆角 69"/>
          <p:cNvSpPr/>
          <p:nvPr/>
        </p:nvSpPr>
        <p:spPr>
          <a:xfrm>
            <a:off x="5268433" y="4907561"/>
            <a:ext cx="771695" cy="180000"/>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rPr>
              <a:t>万孚生物</a:t>
            </a:r>
            <a:endPar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endParaRPr>
          </a:p>
        </p:txBody>
      </p:sp>
      <p:sp>
        <p:nvSpPr>
          <p:cNvPr id="67" name="矩形: 圆角 70"/>
          <p:cNvSpPr/>
          <p:nvPr/>
        </p:nvSpPr>
        <p:spPr>
          <a:xfrm>
            <a:off x="6151874" y="4907561"/>
            <a:ext cx="771695" cy="180000"/>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rPr>
              <a:t>清智资本</a:t>
            </a:r>
            <a:endPar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endParaRPr>
          </a:p>
        </p:txBody>
      </p:sp>
      <p:sp>
        <p:nvSpPr>
          <p:cNvPr id="68" name="矩形: 圆角 71"/>
          <p:cNvSpPr/>
          <p:nvPr/>
        </p:nvSpPr>
        <p:spPr>
          <a:xfrm>
            <a:off x="7035315" y="4907561"/>
            <a:ext cx="771695" cy="180000"/>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rPr>
              <a:t>广州金控</a:t>
            </a:r>
            <a:endPar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endParaRPr>
          </a:p>
        </p:txBody>
      </p:sp>
      <p:sp>
        <p:nvSpPr>
          <p:cNvPr id="69" name="矩形: 圆角 72"/>
          <p:cNvSpPr/>
          <p:nvPr/>
        </p:nvSpPr>
        <p:spPr>
          <a:xfrm>
            <a:off x="4384992" y="5667220"/>
            <a:ext cx="771695" cy="180000"/>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rPr>
              <a:t>显芯科技</a:t>
            </a:r>
            <a:endPar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endParaRPr>
          </a:p>
        </p:txBody>
      </p:sp>
      <p:sp>
        <p:nvSpPr>
          <p:cNvPr id="70" name="矩形: 圆角 73"/>
          <p:cNvSpPr/>
          <p:nvPr/>
        </p:nvSpPr>
        <p:spPr>
          <a:xfrm>
            <a:off x="5268433" y="5667220"/>
            <a:ext cx="771695" cy="180000"/>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rPr>
              <a:t>动易科技</a:t>
            </a:r>
            <a:endPar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endParaRPr>
          </a:p>
        </p:txBody>
      </p:sp>
      <p:sp>
        <p:nvSpPr>
          <p:cNvPr id="71" name="矩形: 圆角 74"/>
          <p:cNvSpPr/>
          <p:nvPr/>
        </p:nvSpPr>
        <p:spPr>
          <a:xfrm>
            <a:off x="6151874" y="5667220"/>
            <a:ext cx="771695" cy="180000"/>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rPr>
              <a:t>行云集团</a:t>
            </a:r>
            <a:endPar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endParaRPr>
          </a:p>
        </p:txBody>
      </p:sp>
      <p:sp>
        <p:nvSpPr>
          <p:cNvPr id="72" name="矩形: 圆角 75"/>
          <p:cNvSpPr/>
          <p:nvPr/>
        </p:nvSpPr>
        <p:spPr>
          <a:xfrm>
            <a:off x="7035315" y="5667220"/>
            <a:ext cx="771695" cy="180000"/>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rPr>
              <a:t>四代目菊川</a:t>
            </a:r>
            <a:endParaRPr kumimoji="0" lang="zh-CN" altLang="en-US" sz="1000" b="0" i="0" u="none" strike="noStrike" kern="1200" cap="none" spc="0" normalizeH="0" baseline="0" noProof="0" dirty="0">
              <a:ln>
                <a:noFill/>
              </a:ln>
              <a:solidFill>
                <a:schemeClr val="accent1"/>
              </a:solidFill>
              <a:effectLst/>
              <a:uLnTx/>
              <a:uFillTx/>
              <a:latin typeface="HarmonyOS Sans SC" panose="00000500000000000000" pitchFamily="2" charset="-122"/>
              <a:ea typeface="HarmonyOS Sans SC" panose="00000500000000000000" pitchFamily="2" charset="-122"/>
              <a:cs typeface="+mn-cs"/>
            </a:endParaRPr>
          </a:p>
        </p:txBody>
      </p:sp>
      <p:sp>
        <p:nvSpPr>
          <p:cNvPr id="73" name="文本框 72"/>
          <p:cNvSpPr txBox="1"/>
          <p:nvPr/>
        </p:nvSpPr>
        <p:spPr>
          <a:xfrm>
            <a:off x="4337928" y="1304902"/>
            <a:ext cx="2310248" cy="804836"/>
          </a:xfrm>
          <a:prstGeom prst="rect">
            <a:avLst/>
          </a:prstGeom>
          <a:noFill/>
        </p:spPr>
        <p:txBody>
          <a:bodyPr wrap="none" rtlCol="0">
            <a:spAutoFit/>
          </a:bodyPr>
          <a:lstStyle/>
          <a:p>
            <a:r>
              <a:rPr lang="zh-CN" altLang="en-US" dirty="0">
                <a:solidFill>
                  <a:schemeClr val="accent1"/>
                </a:solidFill>
                <a:latin typeface="HarmonyOS Sans SC" panose="00000500000000000000" pitchFamily="2" charset="-122"/>
                <a:ea typeface="HarmonyOS Sans SC" panose="00000500000000000000" pitchFamily="2" charset="-122"/>
              </a:rPr>
              <a:t>成功竞</a:t>
            </a:r>
            <a:r>
              <a:rPr lang="zh-CN" altLang="en-US">
                <a:solidFill>
                  <a:schemeClr val="accent1"/>
                </a:solidFill>
                <a:latin typeface="HarmonyOS Sans SC" panose="00000500000000000000" pitchFamily="2" charset="-122"/>
                <a:ea typeface="HarmonyOS Sans SC" panose="00000500000000000000" pitchFamily="2" charset="-122"/>
              </a:rPr>
              <a:t>拍地块</a:t>
            </a:r>
            <a:r>
              <a:rPr lang="en-US" altLang="zh-CN" dirty="0">
                <a:solidFill>
                  <a:schemeClr val="accent1"/>
                </a:solidFill>
                <a:latin typeface="HarmonyOS Sans SC" panose="00000500000000000000" pitchFamily="2" charset="-122"/>
                <a:ea typeface="HarmonyOS Sans SC" panose="00000500000000000000" pitchFamily="2" charset="-122"/>
              </a:rPr>
              <a:t>6</a:t>
            </a:r>
            <a:r>
              <a:rPr lang="zh-CN" altLang="en-US">
                <a:solidFill>
                  <a:schemeClr val="accent1"/>
                </a:solidFill>
                <a:latin typeface="HarmonyOS Sans SC" panose="00000500000000000000" pitchFamily="2" charset="-122"/>
                <a:ea typeface="HarmonyOS Sans SC" panose="00000500000000000000" pitchFamily="2" charset="-122"/>
              </a:rPr>
              <a:t>处</a:t>
            </a:r>
            <a:endParaRPr lang="en-US" altLang="zh-CN" b="1" dirty="0">
              <a:solidFill>
                <a:schemeClr val="accent1"/>
              </a:solidFill>
              <a:latin typeface="HarmonyOS Sans SC" panose="00000500000000000000" pitchFamily="2" charset="-122"/>
              <a:ea typeface="HarmonyOS Sans SC" panose="00000500000000000000" pitchFamily="2" charset="-122"/>
            </a:endParaRPr>
          </a:p>
          <a:p>
            <a:pPr>
              <a:lnSpc>
                <a:spcPct val="130000"/>
              </a:lnSpc>
            </a:pPr>
            <a:r>
              <a:rPr lang="zh-CN" altLang="en-US" sz="1200" dirty="0">
                <a:solidFill>
                  <a:schemeClr val="accent1"/>
                </a:solidFill>
                <a:latin typeface="HarmonyOS Sans SC" panose="00000500000000000000" pitchFamily="2" charset="-122"/>
                <a:ea typeface="HarmonyOS Sans SC" panose="00000500000000000000" pitchFamily="2" charset="-122"/>
              </a:rPr>
              <a:t>用地</a:t>
            </a:r>
            <a:r>
              <a:rPr lang="zh-CN" altLang="en-US" sz="1200">
                <a:solidFill>
                  <a:schemeClr val="accent1"/>
                </a:solidFill>
                <a:latin typeface="HarmonyOS Sans SC" panose="00000500000000000000" pitchFamily="2" charset="-122"/>
                <a:ea typeface="HarmonyOS Sans SC" panose="00000500000000000000" pitchFamily="2" charset="-122"/>
              </a:rPr>
              <a:t>面积</a:t>
            </a:r>
            <a:r>
              <a:rPr lang="zh-CN" altLang="en-US">
                <a:solidFill>
                  <a:schemeClr val="bg1"/>
                </a:solidFill>
                <a:latin typeface="HarmonyOS Sans SC" panose="00000500000000000000" pitchFamily="2" charset="-122"/>
                <a:ea typeface="HarmonyOS Sans SC" panose="00000500000000000000" pitchFamily="2" charset="-122"/>
              </a:rPr>
              <a:t> </a:t>
            </a:r>
            <a:r>
              <a:rPr lang="en-US" altLang="zh-CN" sz="2400" b="1" dirty="0">
                <a:gradFill>
                  <a:gsLst>
                    <a:gs pos="100000">
                      <a:srgbClr val="275DF5"/>
                    </a:gs>
                    <a:gs pos="0">
                      <a:srgbClr val="4BD1FB"/>
                    </a:gs>
                  </a:gsLst>
                  <a:lin ang="2700000" scaled="0"/>
                </a:gradFill>
                <a:latin typeface="HarmonyOS Sans SC" panose="00000500000000000000" pitchFamily="2" charset="-122"/>
                <a:ea typeface="HarmonyOS Sans SC" panose="00000500000000000000" pitchFamily="2" charset="-122"/>
              </a:rPr>
              <a:t>103,000</a:t>
            </a:r>
            <a:r>
              <a:rPr lang="zh-CN" altLang="en-US" sz="2000" b="1">
                <a:gradFill>
                  <a:gsLst>
                    <a:gs pos="100000">
                      <a:srgbClr val="275DF5"/>
                    </a:gs>
                    <a:gs pos="0">
                      <a:srgbClr val="4BD1FB"/>
                    </a:gs>
                  </a:gsLst>
                  <a:lin ang="2700000" scaled="0"/>
                </a:gradFill>
                <a:latin typeface="HarmonyOS Sans SC" panose="00000500000000000000" pitchFamily="2" charset="-122"/>
                <a:ea typeface="HarmonyOS Sans SC" panose="00000500000000000000" pitchFamily="2" charset="-122"/>
              </a:rPr>
              <a:t>㎡</a:t>
            </a:r>
            <a:endParaRPr lang="zh-CN" altLang="en-US" b="1" dirty="0">
              <a:gradFill>
                <a:gsLst>
                  <a:gs pos="100000">
                    <a:srgbClr val="275DF5"/>
                  </a:gs>
                  <a:gs pos="0">
                    <a:srgbClr val="4BD1FB"/>
                  </a:gs>
                </a:gsLst>
                <a:lin ang="2700000" scaled="0"/>
              </a:gradFill>
              <a:latin typeface="HarmonyOS Sans SC" panose="00000500000000000000" pitchFamily="2" charset="-122"/>
              <a:ea typeface="HarmonyOS Sans SC" panose="00000500000000000000" pitchFamily="2" charset="-122"/>
            </a:endParaRPr>
          </a:p>
        </p:txBody>
      </p:sp>
      <p:grpSp>
        <p:nvGrpSpPr>
          <p:cNvPr id="74" name="图形 1"/>
          <p:cNvGrpSpPr/>
          <p:nvPr/>
        </p:nvGrpSpPr>
        <p:grpSpPr>
          <a:xfrm>
            <a:off x="6923569" y="1349314"/>
            <a:ext cx="610706" cy="610419"/>
            <a:chOff x="10691616" y="2925849"/>
            <a:chExt cx="593717" cy="593439"/>
          </a:xfrm>
          <a:solidFill>
            <a:schemeClr val="accent1"/>
          </a:solidFill>
        </p:grpSpPr>
        <p:sp>
          <p:nvSpPr>
            <p:cNvPr id="75" name="任意多边形: 形状 78"/>
            <p:cNvSpPr/>
            <p:nvPr/>
          </p:nvSpPr>
          <p:spPr>
            <a:xfrm>
              <a:off x="10691616" y="2925849"/>
              <a:ext cx="593717" cy="593439"/>
            </a:xfrm>
            <a:custGeom>
              <a:avLst/>
              <a:gdLst>
                <a:gd name="connsiteX0" fmla="*/ 574956 w 593717"/>
                <a:gd name="connsiteY0" fmla="*/ 553410 h 593438"/>
                <a:gd name="connsiteX1" fmla="*/ 553666 w 593717"/>
                <a:gd name="connsiteY1" fmla="*/ 574700 h 593438"/>
                <a:gd name="connsiteX2" fmla="*/ 96871 w 593717"/>
                <a:gd name="connsiteY2" fmla="*/ 574700 h 593438"/>
                <a:gd name="connsiteX3" fmla="*/ 18750 w 593717"/>
                <a:gd name="connsiteY3" fmla="*/ 496579 h 593438"/>
                <a:gd name="connsiteX4" fmla="*/ 88731 w 593717"/>
                <a:gd name="connsiteY4" fmla="*/ 418875 h 593438"/>
                <a:gd name="connsiteX5" fmla="*/ 106241 w 593717"/>
                <a:gd name="connsiteY5" fmla="*/ 399487 h 593438"/>
                <a:gd name="connsiteX6" fmla="*/ 106241 w 593717"/>
                <a:gd name="connsiteY6" fmla="*/ 105974 h 593438"/>
                <a:gd name="connsiteX7" fmla="*/ 162492 w 593717"/>
                <a:gd name="connsiteY7" fmla="*/ 105974 h 593438"/>
                <a:gd name="connsiteX8" fmla="*/ 162492 w 593717"/>
                <a:gd name="connsiteY8" fmla="*/ 276061 h 593438"/>
                <a:gd name="connsiteX9" fmla="*/ 192386 w 593717"/>
                <a:gd name="connsiteY9" fmla="*/ 305955 h 593438"/>
                <a:gd name="connsiteX10" fmla="*/ 468031 w 593717"/>
                <a:gd name="connsiteY10" fmla="*/ 305955 h 593438"/>
                <a:gd name="connsiteX11" fmla="*/ 495965 w 593717"/>
                <a:gd name="connsiteY11" fmla="*/ 286706 h 593438"/>
                <a:gd name="connsiteX12" fmla="*/ 487941 w 593717"/>
                <a:gd name="connsiteY12" fmla="*/ 253751 h 593438"/>
                <a:gd name="connsiteX13" fmla="*/ 322422 w 593717"/>
                <a:gd name="connsiteY13" fmla="*/ 105974 h 593438"/>
                <a:gd name="connsiteX14" fmla="*/ 553666 w 593717"/>
                <a:gd name="connsiteY14" fmla="*/ 105974 h 593438"/>
                <a:gd name="connsiteX15" fmla="*/ 574956 w 593717"/>
                <a:gd name="connsiteY15" fmla="*/ 127264 h 593438"/>
                <a:gd name="connsiteX16" fmla="*/ 574956 w 593717"/>
                <a:gd name="connsiteY16" fmla="*/ 553410 h 593438"/>
                <a:gd name="connsiteX17" fmla="*/ 574956 w 593717"/>
                <a:gd name="connsiteY17" fmla="*/ 553410 h 593438"/>
                <a:gd name="connsiteX18" fmla="*/ 18750 w 593717"/>
                <a:gd name="connsiteY18" fmla="*/ 96604 h 593438"/>
                <a:gd name="connsiteX19" fmla="*/ 86644 w 593717"/>
                <a:gd name="connsiteY19" fmla="*/ 19144 h 593438"/>
                <a:gd name="connsiteX20" fmla="*/ 87235 w 593717"/>
                <a:gd name="connsiteY20" fmla="*/ 19330 h 593438"/>
                <a:gd name="connsiteX21" fmla="*/ 87490 w 593717"/>
                <a:gd name="connsiteY21" fmla="*/ 19898 h 593438"/>
                <a:gd name="connsiteX22" fmla="*/ 87490 w 593717"/>
                <a:gd name="connsiteY22" fmla="*/ 399499 h 593438"/>
                <a:gd name="connsiteX23" fmla="*/ 86806 w 593717"/>
                <a:gd name="connsiteY23" fmla="*/ 400229 h 593438"/>
                <a:gd name="connsiteX24" fmla="*/ 18750 w 593717"/>
                <a:gd name="connsiteY24" fmla="*/ 439156 h 593438"/>
                <a:gd name="connsiteX25" fmla="*/ 18750 w 593717"/>
                <a:gd name="connsiteY25" fmla="*/ 96604 h 593438"/>
                <a:gd name="connsiteX26" fmla="*/ 18750 w 593717"/>
                <a:gd name="connsiteY26" fmla="*/ 96604 h 593438"/>
                <a:gd name="connsiteX27" fmla="*/ 181231 w 593717"/>
                <a:gd name="connsiteY27" fmla="*/ 29951 h 593438"/>
                <a:gd name="connsiteX28" fmla="*/ 187829 w 593717"/>
                <a:gd name="connsiteY28" fmla="*/ 19770 h 593438"/>
                <a:gd name="connsiteX29" fmla="*/ 192479 w 593717"/>
                <a:gd name="connsiteY29" fmla="*/ 18750 h 593438"/>
                <a:gd name="connsiteX30" fmla="*/ 199819 w 593717"/>
                <a:gd name="connsiteY30" fmla="*/ 21626 h 593438"/>
                <a:gd name="connsiteX31" fmla="*/ 475463 w 593717"/>
                <a:gd name="connsiteY31" fmla="*/ 267735 h 593438"/>
                <a:gd name="connsiteX32" fmla="*/ 478455 w 593717"/>
                <a:gd name="connsiteY32" fmla="*/ 280027 h 593438"/>
                <a:gd name="connsiteX33" fmla="*/ 468042 w 593717"/>
                <a:gd name="connsiteY33" fmla="*/ 287205 h 593438"/>
                <a:gd name="connsiteX34" fmla="*/ 418725 w 593717"/>
                <a:gd name="connsiteY34" fmla="*/ 287205 h 593438"/>
                <a:gd name="connsiteX35" fmla="*/ 418725 w 593717"/>
                <a:gd name="connsiteY35" fmla="*/ 271585 h 593438"/>
                <a:gd name="connsiteX36" fmla="*/ 409356 w 593717"/>
                <a:gd name="connsiteY36" fmla="*/ 262204 h 593438"/>
                <a:gd name="connsiteX37" fmla="*/ 399986 w 593717"/>
                <a:gd name="connsiteY37" fmla="*/ 271585 h 593438"/>
                <a:gd name="connsiteX38" fmla="*/ 399986 w 593717"/>
                <a:gd name="connsiteY38" fmla="*/ 287205 h 593438"/>
                <a:gd name="connsiteX39" fmla="*/ 368735 w 593717"/>
                <a:gd name="connsiteY39" fmla="*/ 287205 h 593438"/>
                <a:gd name="connsiteX40" fmla="*/ 368735 w 593717"/>
                <a:gd name="connsiteY40" fmla="*/ 271585 h 593438"/>
                <a:gd name="connsiteX41" fmla="*/ 359366 w 593717"/>
                <a:gd name="connsiteY41" fmla="*/ 262204 h 593438"/>
                <a:gd name="connsiteX42" fmla="*/ 349997 w 593717"/>
                <a:gd name="connsiteY42" fmla="*/ 271585 h 593438"/>
                <a:gd name="connsiteX43" fmla="*/ 349997 w 593717"/>
                <a:gd name="connsiteY43" fmla="*/ 287205 h 593438"/>
                <a:gd name="connsiteX44" fmla="*/ 318746 w 593717"/>
                <a:gd name="connsiteY44" fmla="*/ 287205 h 593438"/>
                <a:gd name="connsiteX45" fmla="*/ 318746 w 593717"/>
                <a:gd name="connsiteY45" fmla="*/ 271585 h 593438"/>
                <a:gd name="connsiteX46" fmla="*/ 309376 w 593717"/>
                <a:gd name="connsiteY46" fmla="*/ 262204 h 593438"/>
                <a:gd name="connsiteX47" fmla="*/ 300007 w 593717"/>
                <a:gd name="connsiteY47" fmla="*/ 271585 h 593438"/>
                <a:gd name="connsiteX48" fmla="*/ 300007 w 593717"/>
                <a:gd name="connsiteY48" fmla="*/ 287205 h 593438"/>
                <a:gd name="connsiteX49" fmla="*/ 268756 w 593717"/>
                <a:gd name="connsiteY49" fmla="*/ 287205 h 593438"/>
                <a:gd name="connsiteX50" fmla="*/ 268756 w 593717"/>
                <a:gd name="connsiteY50" fmla="*/ 271585 h 593438"/>
                <a:gd name="connsiteX51" fmla="*/ 259387 w 593717"/>
                <a:gd name="connsiteY51" fmla="*/ 262204 h 593438"/>
                <a:gd name="connsiteX52" fmla="*/ 250017 w 593717"/>
                <a:gd name="connsiteY52" fmla="*/ 271585 h 593438"/>
                <a:gd name="connsiteX53" fmla="*/ 250017 w 593717"/>
                <a:gd name="connsiteY53" fmla="*/ 287205 h 593438"/>
                <a:gd name="connsiteX54" fmla="*/ 192421 w 593717"/>
                <a:gd name="connsiteY54" fmla="*/ 287205 h 593438"/>
                <a:gd name="connsiteX55" fmla="*/ 181266 w 593717"/>
                <a:gd name="connsiteY55" fmla="*/ 276050 h 593438"/>
                <a:gd name="connsiteX56" fmla="*/ 181266 w 593717"/>
                <a:gd name="connsiteY56" fmla="*/ 29951 h 593438"/>
                <a:gd name="connsiteX57" fmla="*/ 181231 w 593717"/>
                <a:gd name="connsiteY57" fmla="*/ 29951 h 593438"/>
                <a:gd name="connsiteX58" fmla="*/ 553666 w 593717"/>
                <a:gd name="connsiteY58" fmla="*/ 87223 h 593438"/>
                <a:gd name="connsiteX59" fmla="*/ 301433 w 593717"/>
                <a:gd name="connsiteY59" fmla="*/ 87223 h 593438"/>
                <a:gd name="connsiteX60" fmla="*/ 212296 w 593717"/>
                <a:gd name="connsiteY60" fmla="*/ 7653 h 593438"/>
                <a:gd name="connsiteX61" fmla="*/ 180164 w 593717"/>
                <a:gd name="connsiteY61" fmla="*/ 2666 h 593438"/>
                <a:gd name="connsiteX62" fmla="*/ 162481 w 593717"/>
                <a:gd name="connsiteY62" fmla="*/ 29951 h 593438"/>
                <a:gd name="connsiteX63" fmla="*/ 162481 w 593717"/>
                <a:gd name="connsiteY63" fmla="*/ 87223 h 593438"/>
                <a:gd name="connsiteX64" fmla="*/ 106241 w 593717"/>
                <a:gd name="connsiteY64" fmla="*/ 87223 h 593438"/>
                <a:gd name="connsiteX65" fmla="*/ 106241 w 593717"/>
                <a:gd name="connsiteY65" fmla="*/ 19886 h 593438"/>
                <a:gd name="connsiteX66" fmla="*/ 99608 w 593717"/>
                <a:gd name="connsiteY66" fmla="*/ 5229 h 593438"/>
                <a:gd name="connsiteX67" fmla="*/ 84220 w 593717"/>
                <a:gd name="connsiteY67" fmla="*/ 544 h 593438"/>
                <a:gd name="connsiteX68" fmla="*/ 0 w 593717"/>
                <a:gd name="connsiteY68" fmla="*/ 96604 h 593438"/>
                <a:gd name="connsiteX69" fmla="*/ 0 w 593717"/>
                <a:gd name="connsiteY69" fmla="*/ 496579 h 593438"/>
                <a:gd name="connsiteX70" fmla="*/ 96871 w 593717"/>
                <a:gd name="connsiteY70" fmla="*/ 593439 h 593438"/>
                <a:gd name="connsiteX71" fmla="*/ 553677 w 593717"/>
                <a:gd name="connsiteY71" fmla="*/ 593439 h 593438"/>
                <a:gd name="connsiteX72" fmla="*/ 593718 w 593717"/>
                <a:gd name="connsiteY72" fmla="*/ 553398 h 593438"/>
                <a:gd name="connsiteX73" fmla="*/ 593718 w 593717"/>
                <a:gd name="connsiteY73" fmla="*/ 127264 h 593438"/>
                <a:gd name="connsiteX74" fmla="*/ 553666 w 593717"/>
                <a:gd name="connsiteY74" fmla="*/ 87223 h 593438"/>
                <a:gd name="connsiteX75" fmla="*/ 553666 w 593717"/>
                <a:gd name="connsiteY75" fmla="*/ 87223 h 593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93717" h="593438">
                  <a:moveTo>
                    <a:pt x="574956" y="553410"/>
                  </a:moveTo>
                  <a:cubicBezTo>
                    <a:pt x="574956" y="565145"/>
                    <a:pt x="565401" y="574700"/>
                    <a:pt x="553666" y="574700"/>
                  </a:cubicBezTo>
                  <a:lnTo>
                    <a:pt x="96871" y="574700"/>
                  </a:lnTo>
                  <a:cubicBezTo>
                    <a:pt x="53793" y="574700"/>
                    <a:pt x="18750" y="539657"/>
                    <a:pt x="18750" y="496579"/>
                  </a:cubicBezTo>
                  <a:cubicBezTo>
                    <a:pt x="18750" y="456399"/>
                    <a:pt x="48842" y="423003"/>
                    <a:pt x="88731" y="418875"/>
                  </a:cubicBezTo>
                  <a:cubicBezTo>
                    <a:pt x="98715" y="417843"/>
                    <a:pt x="106241" y="409517"/>
                    <a:pt x="106241" y="399487"/>
                  </a:cubicBezTo>
                  <a:lnTo>
                    <a:pt x="106241" y="105974"/>
                  </a:lnTo>
                  <a:lnTo>
                    <a:pt x="162492" y="105974"/>
                  </a:lnTo>
                  <a:lnTo>
                    <a:pt x="162492" y="276061"/>
                  </a:lnTo>
                  <a:cubicBezTo>
                    <a:pt x="162492" y="292550"/>
                    <a:pt x="175909" y="305955"/>
                    <a:pt x="192386" y="305955"/>
                  </a:cubicBezTo>
                  <a:lnTo>
                    <a:pt x="468031" y="305955"/>
                  </a:lnTo>
                  <a:cubicBezTo>
                    <a:pt x="480542" y="305955"/>
                    <a:pt x="491500" y="298406"/>
                    <a:pt x="495965" y="286706"/>
                  </a:cubicBezTo>
                  <a:cubicBezTo>
                    <a:pt x="500429" y="275018"/>
                    <a:pt x="497275" y="262077"/>
                    <a:pt x="487941" y="253751"/>
                  </a:cubicBezTo>
                  <a:lnTo>
                    <a:pt x="322422" y="105974"/>
                  </a:lnTo>
                  <a:lnTo>
                    <a:pt x="553666" y="105974"/>
                  </a:lnTo>
                  <a:cubicBezTo>
                    <a:pt x="565401" y="105974"/>
                    <a:pt x="574956" y="115529"/>
                    <a:pt x="574956" y="127264"/>
                  </a:cubicBezTo>
                  <a:lnTo>
                    <a:pt x="574956" y="553410"/>
                  </a:lnTo>
                  <a:lnTo>
                    <a:pt x="574956" y="553410"/>
                  </a:lnTo>
                  <a:close/>
                  <a:moveTo>
                    <a:pt x="18750" y="96604"/>
                  </a:moveTo>
                  <a:cubicBezTo>
                    <a:pt x="18750" y="57503"/>
                    <a:pt x="47937" y="24200"/>
                    <a:pt x="86644" y="19144"/>
                  </a:cubicBezTo>
                  <a:cubicBezTo>
                    <a:pt x="86725" y="19133"/>
                    <a:pt x="86980" y="19098"/>
                    <a:pt x="87235" y="19330"/>
                  </a:cubicBezTo>
                  <a:cubicBezTo>
                    <a:pt x="87490" y="19550"/>
                    <a:pt x="87490" y="19805"/>
                    <a:pt x="87490" y="19898"/>
                  </a:cubicBezTo>
                  <a:lnTo>
                    <a:pt x="87490" y="399499"/>
                  </a:lnTo>
                  <a:cubicBezTo>
                    <a:pt x="87490" y="399881"/>
                    <a:pt x="87201" y="400194"/>
                    <a:pt x="86806" y="400229"/>
                  </a:cubicBezTo>
                  <a:cubicBezTo>
                    <a:pt x="58617" y="403140"/>
                    <a:pt x="34393" y="417843"/>
                    <a:pt x="18750" y="439156"/>
                  </a:cubicBezTo>
                  <a:lnTo>
                    <a:pt x="18750" y="96604"/>
                  </a:lnTo>
                  <a:lnTo>
                    <a:pt x="18750" y="96604"/>
                  </a:lnTo>
                  <a:close/>
                  <a:moveTo>
                    <a:pt x="181231" y="29951"/>
                  </a:moveTo>
                  <a:cubicBezTo>
                    <a:pt x="181231" y="25429"/>
                    <a:pt x="183701" y="21626"/>
                    <a:pt x="187829" y="19770"/>
                  </a:cubicBezTo>
                  <a:cubicBezTo>
                    <a:pt x="189360" y="19086"/>
                    <a:pt x="190925" y="18750"/>
                    <a:pt x="192479" y="18750"/>
                  </a:cubicBezTo>
                  <a:cubicBezTo>
                    <a:pt x="195123" y="18750"/>
                    <a:pt x="197686" y="19724"/>
                    <a:pt x="199819" y="21626"/>
                  </a:cubicBezTo>
                  <a:lnTo>
                    <a:pt x="475463" y="267735"/>
                  </a:lnTo>
                  <a:cubicBezTo>
                    <a:pt x="480774" y="272478"/>
                    <a:pt x="479093" y="278346"/>
                    <a:pt x="478455" y="280027"/>
                  </a:cubicBezTo>
                  <a:cubicBezTo>
                    <a:pt x="477817" y="281708"/>
                    <a:pt x="475162" y="287205"/>
                    <a:pt x="468042" y="287205"/>
                  </a:cubicBezTo>
                  <a:lnTo>
                    <a:pt x="418725" y="287205"/>
                  </a:lnTo>
                  <a:lnTo>
                    <a:pt x="418725" y="271585"/>
                  </a:lnTo>
                  <a:cubicBezTo>
                    <a:pt x="418725" y="266402"/>
                    <a:pt x="414527" y="262204"/>
                    <a:pt x="409356" y="262204"/>
                  </a:cubicBezTo>
                  <a:cubicBezTo>
                    <a:pt x="404184" y="262204"/>
                    <a:pt x="399986" y="266402"/>
                    <a:pt x="399986" y="271585"/>
                  </a:cubicBezTo>
                  <a:lnTo>
                    <a:pt x="399986" y="287205"/>
                  </a:lnTo>
                  <a:lnTo>
                    <a:pt x="368735" y="287205"/>
                  </a:lnTo>
                  <a:lnTo>
                    <a:pt x="368735" y="271585"/>
                  </a:lnTo>
                  <a:cubicBezTo>
                    <a:pt x="368735" y="266402"/>
                    <a:pt x="364538" y="262204"/>
                    <a:pt x="359366" y="262204"/>
                  </a:cubicBezTo>
                  <a:cubicBezTo>
                    <a:pt x="354183" y="262204"/>
                    <a:pt x="349997" y="266402"/>
                    <a:pt x="349997" y="271585"/>
                  </a:cubicBezTo>
                  <a:lnTo>
                    <a:pt x="349997" y="287205"/>
                  </a:lnTo>
                  <a:lnTo>
                    <a:pt x="318746" y="287205"/>
                  </a:lnTo>
                  <a:lnTo>
                    <a:pt x="318746" y="271585"/>
                  </a:lnTo>
                  <a:cubicBezTo>
                    <a:pt x="318746" y="266402"/>
                    <a:pt x="314548" y="262204"/>
                    <a:pt x="309376" y="262204"/>
                  </a:cubicBezTo>
                  <a:cubicBezTo>
                    <a:pt x="304193" y="262204"/>
                    <a:pt x="300007" y="266402"/>
                    <a:pt x="300007" y="271585"/>
                  </a:cubicBezTo>
                  <a:lnTo>
                    <a:pt x="300007" y="287205"/>
                  </a:lnTo>
                  <a:lnTo>
                    <a:pt x="268756" y="287205"/>
                  </a:lnTo>
                  <a:lnTo>
                    <a:pt x="268756" y="271585"/>
                  </a:lnTo>
                  <a:cubicBezTo>
                    <a:pt x="268756" y="266402"/>
                    <a:pt x="264559" y="262204"/>
                    <a:pt x="259387" y="262204"/>
                  </a:cubicBezTo>
                  <a:cubicBezTo>
                    <a:pt x="254215" y="262204"/>
                    <a:pt x="250017" y="266402"/>
                    <a:pt x="250017" y="271585"/>
                  </a:cubicBezTo>
                  <a:lnTo>
                    <a:pt x="250017" y="287205"/>
                  </a:lnTo>
                  <a:lnTo>
                    <a:pt x="192421" y="287205"/>
                  </a:lnTo>
                  <a:cubicBezTo>
                    <a:pt x="186275" y="287205"/>
                    <a:pt x="181266" y="282207"/>
                    <a:pt x="181266" y="276050"/>
                  </a:cubicBezTo>
                  <a:lnTo>
                    <a:pt x="181266" y="29951"/>
                  </a:lnTo>
                  <a:lnTo>
                    <a:pt x="181231" y="29951"/>
                  </a:lnTo>
                  <a:close/>
                  <a:moveTo>
                    <a:pt x="553666" y="87223"/>
                  </a:moveTo>
                  <a:lnTo>
                    <a:pt x="301433" y="87223"/>
                  </a:lnTo>
                  <a:lnTo>
                    <a:pt x="212296" y="7653"/>
                  </a:lnTo>
                  <a:cubicBezTo>
                    <a:pt x="203379" y="-302"/>
                    <a:pt x="191076" y="-2215"/>
                    <a:pt x="180164" y="2666"/>
                  </a:cubicBezTo>
                  <a:cubicBezTo>
                    <a:pt x="169253" y="7548"/>
                    <a:pt x="162481" y="18008"/>
                    <a:pt x="162481" y="29951"/>
                  </a:cubicBezTo>
                  <a:lnTo>
                    <a:pt x="162481" y="87223"/>
                  </a:lnTo>
                  <a:lnTo>
                    <a:pt x="106241" y="87223"/>
                  </a:lnTo>
                  <a:lnTo>
                    <a:pt x="106241" y="19886"/>
                  </a:lnTo>
                  <a:cubicBezTo>
                    <a:pt x="106241" y="14274"/>
                    <a:pt x="103817" y="8940"/>
                    <a:pt x="99608" y="5229"/>
                  </a:cubicBezTo>
                  <a:cubicBezTo>
                    <a:pt x="95387" y="1530"/>
                    <a:pt x="89786" y="-186"/>
                    <a:pt x="84220" y="544"/>
                  </a:cubicBezTo>
                  <a:cubicBezTo>
                    <a:pt x="36202" y="6818"/>
                    <a:pt x="0" y="48110"/>
                    <a:pt x="0" y="96604"/>
                  </a:cubicBezTo>
                  <a:lnTo>
                    <a:pt x="0" y="496579"/>
                  </a:lnTo>
                  <a:cubicBezTo>
                    <a:pt x="0" y="549989"/>
                    <a:pt x="43461" y="593439"/>
                    <a:pt x="96871" y="593439"/>
                  </a:cubicBezTo>
                  <a:lnTo>
                    <a:pt x="553677" y="593439"/>
                  </a:lnTo>
                  <a:cubicBezTo>
                    <a:pt x="575756" y="593439"/>
                    <a:pt x="593718" y="575477"/>
                    <a:pt x="593718" y="553398"/>
                  </a:cubicBezTo>
                  <a:lnTo>
                    <a:pt x="593718" y="127264"/>
                  </a:lnTo>
                  <a:cubicBezTo>
                    <a:pt x="593706" y="105185"/>
                    <a:pt x="575744" y="87223"/>
                    <a:pt x="553666" y="87223"/>
                  </a:cubicBezTo>
                  <a:lnTo>
                    <a:pt x="553666" y="87223"/>
                  </a:lnTo>
                  <a:close/>
                </a:path>
              </a:pathLst>
            </a:custGeom>
            <a:grpFill/>
            <a:ln w="11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C0C0C"/>
                </a:solidFill>
                <a:effectLst/>
                <a:uLnTx/>
                <a:uFillTx/>
                <a:latin typeface="HarmonyOS Sans SC" panose="00000500000000000000" pitchFamily="2" charset="-122"/>
                <a:ea typeface="HarmonyOS Sans SC" panose="00000500000000000000" pitchFamily="2" charset="-122"/>
                <a:cs typeface="+mn-cs"/>
              </a:endParaRPr>
            </a:p>
          </p:txBody>
        </p:sp>
        <p:sp>
          <p:nvSpPr>
            <p:cNvPr id="76" name="任意多边形: 形状 79"/>
            <p:cNvSpPr/>
            <p:nvPr/>
          </p:nvSpPr>
          <p:spPr>
            <a:xfrm>
              <a:off x="10916577" y="3040164"/>
              <a:ext cx="142395" cy="129147"/>
            </a:xfrm>
            <a:custGeom>
              <a:avLst/>
              <a:gdLst>
                <a:gd name="connsiteX0" fmla="*/ 18762 w 142395"/>
                <a:gd name="connsiteY0" fmla="*/ 30316 h 129147"/>
                <a:gd name="connsiteX1" fmla="*/ 108467 w 142395"/>
                <a:gd name="connsiteY1" fmla="*/ 110408 h 129147"/>
                <a:gd name="connsiteX2" fmla="*/ 18762 w 142395"/>
                <a:gd name="connsiteY2" fmla="*/ 110408 h 129147"/>
                <a:gd name="connsiteX3" fmla="*/ 18762 w 142395"/>
                <a:gd name="connsiteY3" fmla="*/ 30316 h 129147"/>
                <a:gd name="connsiteX4" fmla="*/ 18762 w 142395"/>
                <a:gd name="connsiteY4" fmla="*/ 30316 h 129147"/>
                <a:gd name="connsiteX5" fmla="*/ 9381 w 142395"/>
                <a:gd name="connsiteY5" fmla="*/ 129147 h 129147"/>
                <a:gd name="connsiteX6" fmla="*/ 133027 w 142395"/>
                <a:gd name="connsiteY6" fmla="*/ 129147 h 129147"/>
                <a:gd name="connsiteX7" fmla="*/ 141782 w 142395"/>
                <a:gd name="connsiteY7" fmla="*/ 123117 h 129147"/>
                <a:gd name="connsiteX8" fmla="*/ 139266 w 142395"/>
                <a:gd name="connsiteY8" fmla="*/ 112785 h 129147"/>
                <a:gd name="connsiteX9" fmla="*/ 15620 w 142395"/>
                <a:gd name="connsiteY9" fmla="*/ 2382 h 129147"/>
                <a:gd name="connsiteX10" fmla="*/ 5543 w 142395"/>
                <a:gd name="connsiteY10" fmla="*/ 816 h 129147"/>
                <a:gd name="connsiteX11" fmla="*/ 0 w 142395"/>
                <a:gd name="connsiteY11" fmla="*/ 9374 h 129147"/>
                <a:gd name="connsiteX12" fmla="*/ 0 w 142395"/>
                <a:gd name="connsiteY12" fmla="*/ 119778 h 129147"/>
                <a:gd name="connsiteX13" fmla="*/ 9381 w 142395"/>
                <a:gd name="connsiteY13" fmla="*/ 129147 h 129147"/>
                <a:gd name="connsiteX14" fmla="*/ 9381 w 142395"/>
                <a:gd name="connsiteY14" fmla="*/ 129147 h 129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2395" h="129147">
                  <a:moveTo>
                    <a:pt x="18762" y="30316"/>
                  </a:moveTo>
                  <a:lnTo>
                    <a:pt x="108467" y="110408"/>
                  </a:lnTo>
                  <a:lnTo>
                    <a:pt x="18762" y="110408"/>
                  </a:lnTo>
                  <a:lnTo>
                    <a:pt x="18762" y="30316"/>
                  </a:lnTo>
                  <a:lnTo>
                    <a:pt x="18762" y="30316"/>
                  </a:lnTo>
                  <a:close/>
                  <a:moveTo>
                    <a:pt x="9381" y="129147"/>
                  </a:moveTo>
                  <a:lnTo>
                    <a:pt x="133027" y="129147"/>
                  </a:lnTo>
                  <a:cubicBezTo>
                    <a:pt x="136912" y="129147"/>
                    <a:pt x="140402" y="126747"/>
                    <a:pt x="141782" y="123117"/>
                  </a:cubicBezTo>
                  <a:cubicBezTo>
                    <a:pt x="143162" y="119488"/>
                    <a:pt x="142165" y="115371"/>
                    <a:pt x="139266" y="112785"/>
                  </a:cubicBezTo>
                  <a:lnTo>
                    <a:pt x="15620" y="2382"/>
                  </a:lnTo>
                  <a:cubicBezTo>
                    <a:pt x="12860" y="-77"/>
                    <a:pt x="8917" y="-691"/>
                    <a:pt x="5543" y="816"/>
                  </a:cubicBezTo>
                  <a:cubicBezTo>
                    <a:pt x="2168" y="2324"/>
                    <a:pt x="0" y="5675"/>
                    <a:pt x="0" y="9374"/>
                  </a:cubicBezTo>
                  <a:lnTo>
                    <a:pt x="0" y="119778"/>
                  </a:lnTo>
                  <a:cubicBezTo>
                    <a:pt x="12" y="124949"/>
                    <a:pt x="4209" y="129147"/>
                    <a:pt x="9381" y="129147"/>
                  </a:cubicBezTo>
                  <a:lnTo>
                    <a:pt x="9381" y="129147"/>
                  </a:lnTo>
                  <a:close/>
                </a:path>
              </a:pathLst>
            </a:custGeom>
            <a:grpFill/>
            <a:ln w="11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C0C0C"/>
                </a:solidFill>
                <a:effectLst/>
                <a:uLnTx/>
                <a:uFillTx/>
                <a:latin typeface="HarmonyOS Sans SC" panose="00000500000000000000" pitchFamily="2" charset="-122"/>
                <a:ea typeface="HarmonyOS Sans SC" panose="00000500000000000000" pitchFamily="2" charset="-122"/>
                <a:cs typeface="+mn-cs"/>
              </a:endParaRPr>
            </a:p>
          </p:txBody>
        </p:sp>
        <p:sp>
          <p:nvSpPr>
            <p:cNvPr id="77" name="任意多边形: 形状 80"/>
            <p:cNvSpPr/>
            <p:nvPr/>
          </p:nvSpPr>
          <p:spPr>
            <a:xfrm>
              <a:off x="10839621" y="3263063"/>
              <a:ext cx="395701" cy="193719"/>
            </a:xfrm>
            <a:custGeom>
              <a:avLst/>
              <a:gdLst>
                <a:gd name="connsiteX0" fmla="*/ 376951 w 395701"/>
                <a:gd name="connsiteY0" fmla="*/ 109360 h 193719"/>
                <a:gd name="connsiteX1" fmla="*/ 333200 w 395701"/>
                <a:gd name="connsiteY1" fmla="*/ 161657 h 193719"/>
                <a:gd name="connsiteX2" fmla="*/ 333200 w 395701"/>
                <a:gd name="connsiteY2" fmla="*/ 32074 h 193719"/>
                <a:gd name="connsiteX3" fmla="*/ 376951 w 395701"/>
                <a:gd name="connsiteY3" fmla="*/ 84371 h 193719"/>
                <a:gd name="connsiteX4" fmla="*/ 376951 w 395701"/>
                <a:gd name="connsiteY4" fmla="*/ 109360 h 193719"/>
                <a:gd name="connsiteX5" fmla="*/ 376951 w 395701"/>
                <a:gd name="connsiteY5" fmla="*/ 109360 h 193719"/>
                <a:gd name="connsiteX6" fmla="*/ 314450 w 395701"/>
                <a:gd name="connsiteY6" fmla="*/ 159361 h 193719"/>
                <a:gd name="connsiteX7" fmla="*/ 298830 w 395701"/>
                <a:gd name="connsiteY7" fmla="*/ 174981 h 193719"/>
                <a:gd name="connsiteX8" fmla="*/ 283211 w 395701"/>
                <a:gd name="connsiteY8" fmla="*/ 159361 h 193719"/>
                <a:gd name="connsiteX9" fmla="*/ 283211 w 395701"/>
                <a:gd name="connsiteY9" fmla="*/ 34370 h 193719"/>
                <a:gd name="connsiteX10" fmla="*/ 298830 w 395701"/>
                <a:gd name="connsiteY10" fmla="*/ 18750 h 193719"/>
                <a:gd name="connsiteX11" fmla="*/ 314450 w 395701"/>
                <a:gd name="connsiteY11" fmla="*/ 34370 h 193719"/>
                <a:gd name="connsiteX12" fmla="*/ 314450 w 395701"/>
                <a:gd name="connsiteY12" fmla="*/ 159361 h 193719"/>
                <a:gd name="connsiteX13" fmla="*/ 314450 w 395701"/>
                <a:gd name="connsiteY13" fmla="*/ 159361 h 193719"/>
                <a:gd name="connsiteX14" fmla="*/ 89468 w 395701"/>
                <a:gd name="connsiteY14" fmla="*/ 153111 h 193719"/>
                <a:gd name="connsiteX15" fmla="*/ 58217 w 395701"/>
                <a:gd name="connsiteY15" fmla="*/ 129676 h 193719"/>
                <a:gd name="connsiteX16" fmla="*/ 58217 w 395701"/>
                <a:gd name="connsiteY16" fmla="*/ 64055 h 193719"/>
                <a:gd name="connsiteX17" fmla="*/ 89468 w 395701"/>
                <a:gd name="connsiteY17" fmla="*/ 40620 h 193719"/>
                <a:gd name="connsiteX18" fmla="*/ 89468 w 395701"/>
                <a:gd name="connsiteY18" fmla="*/ 153111 h 193719"/>
                <a:gd name="connsiteX19" fmla="*/ 89468 w 395701"/>
                <a:gd name="connsiteY19" fmla="*/ 153111 h 193719"/>
                <a:gd name="connsiteX20" fmla="*/ 39466 w 395701"/>
                <a:gd name="connsiteY20" fmla="*/ 115610 h 193719"/>
                <a:gd name="connsiteX21" fmla="*/ 21342 w 395701"/>
                <a:gd name="connsiteY21" fmla="*/ 102020 h 193719"/>
                <a:gd name="connsiteX22" fmla="*/ 18756 w 395701"/>
                <a:gd name="connsiteY22" fmla="*/ 96860 h 193719"/>
                <a:gd name="connsiteX23" fmla="*/ 21342 w 395701"/>
                <a:gd name="connsiteY23" fmla="*/ 91700 h 193719"/>
                <a:gd name="connsiteX24" fmla="*/ 39466 w 395701"/>
                <a:gd name="connsiteY24" fmla="*/ 78109 h 193719"/>
                <a:gd name="connsiteX25" fmla="*/ 39466 w 395701"/>
                <a:gd name="connsiteY25" fmla="*/ 115610 h 193719"/>
                <a:gd name="connsiteX26" fmla="*/ 39466 w 395701"/>
                <a:gd name="connsiteY26" fmla="*/ 115610 h 193719"/>
                <a:gd name="connsiteX27" fmla="*/ 325350 w 395701"/>
                <a:gd name="connsiteY27" fmla="*/ 12535 h 193719"/>
                <a:gd name="connsiteX28" fmla="*/ 298819 w 395701"/>
                <a:gd name="connsiteY28" fmla="*/ 0 h 193719"/>
                <a:gd name="connsiteX29" fmla="*/ 272322 w 395701"/>
                <a:gd name="connsiteY29" fmla="*/ 12500 h 193719"/>
                <a:gd name="connsiteX30" fmla="*/ 98837 w 395701"/>
                <a:gd name="connsiteY30" fmla="*/ 12500 h 193719"/>
                <a:gd name="connsiteX31" fmla="*/ 93213 w 395701"/>
                <a:gd name="connsiteY31" fmla="*/ 14379 h 193719"/>
                <a:gd name="connsiteX32" fmla="*/ 93201 w 395701"/>
                <a:gd name="connsiteY32" fmla="*/ 14367 h 193719"/>
                <a:gd name="connsiteX33" fmla="*/ 10083 w 395701"/>
                <a:gd name="connsiteY33" fmla="*/ 76706 h 193719"/>
                <a:gd name="connsiteX34" fmla="*/ 6 w 395701"/>
                <a:gd name="connsiteY34" fmla="*/ 97416 h 193719"/>
                <a:gd name="connsiteX35" fmla="*/ 10570 w 395701"/>
                <a:gd name="connsiteY35" fmla="*/ 117384 h 193719"/>
                <a:gd name="connsiteX36" fmla="*/ 93201 w 395701"/>
                <a:gd name="connsiteY36" fmla="*/ 179353 h 193719"/>
                <a:gd name="connsiteX37" fmla="*/ 93213 w 395701"/>
                <a:gd name="connsiteY37" fmla="*/ 179341 h 193719"/>
                <a:gd name="connsiteX38" fmla="*/ 98837 w 395701"/>
                <a:gd name="connsiteY38" fmla="*/ 181219 h 193719"/>
                <a:gd name="connsiteX39" fmla="*/ 135549 w 395701"/>
                <a:gd name="connsiteY39" fmla="*/ 181219 h 193719"/>
                <a:gd name="connsiteX40" fmla="*/ 144919 w 395701"/>
                <a:gd name="connsiteY40" fmla="*/ 171850 h 193719"/>
                <a:gd name="connsiteX41" fmla="*/ 135549 w 395701"/>
                <a:gd name="connsiteY41" fmla="*/ 162481 h 193719"/>
                <a:gd name="connsiteX42" fmla="*/ 108206 w 395701"/>
                <a:gd name="connsiteY42" fmla="*/ 162481 h 193719"/>
                <a:gd name="connsiteX43" fmla="*/ 108206 w 395701"/>
                <a:gd name="connsiteY43" fmla="*/ 68740 h 193719"/>
                <a:gd name="connsiteX44" fmla="*/ 185945 w 395701"/>
                <a:gd name="connsiteY44" fmla="*/ 68740 h 193719"/>
                <a:gd name="connsiteX45" fmla="*/ 195709 w 395701"/>
                <a:gd name="connsiteY45" fmla="*/ 59649 h 193719"/>
                <a:gd name="connsiteX46" fmla="*/ 186339 w 395701"/>
                <a:gd name="connsiteY46" fmla="*/ 49990 h 193719"/>
                <a:gd name="connsiteX47" fmla="*/ 108218 w 395701"/>
                <a:gd name="connsiteY47" fmla="*/ 49990 h 193719"/>
                <a:gd name="connsiteX48" fmla="*/ 108218 w 395701"/>
                <a:gd name="connsiteY48" fmla="*/ 31239 h 193719"/>
                <a:gd name="connsiteX49" fmla="*/ 264449 w 395701"/>
                <a:gd name="connsiteY49" fmla="*/ 31239 h 193719"/>
                <a:gd name="connsiteX50" fmla="*/ 264449 w 395701"/>
                <a:gd name="connsiteY50" fmla="*/ 49990 h 193719"/>
                <a:gd name="connsiteX51" fmla="*/ 224223 w 395701"/>
                <a:gd name="connsiteY51" fmla="*/ 49990 h 193719"/>
                <a:gd name="connsiteX52" fmla="*/ 214459 w 395701"/>
                <a:gd name="connsiteY52" fmla="*/ 59081 h 193719"/>
                <a:gd name="connsiteX53" fmla="*/ 223828 w 395701"/>
                <a:gd name="connsiteY53" fmla="*/ 68740 h 193719"/>
                <a:gd name="connsiteX54" fmla="*/ 264449 w 395701"/>
                <a:gd name="connsiteY54" fmla="*/ 68740 h 193719"/>
                <a:gd name="connsiteX55" fmla="*/ 264449 w 395701"/>
                <a:gd name="connsiteY55" fmla="*/ 162481 h 193719"/>
                <a:gd name="connsiteX56" fmla="*/ 176889 w 395701"/>
                <a:gd name="connsiteY56" fmla="*/ 162481 h 193719"/>
                <a:gd name="connsiteX57" fmla="*/ 167519 w 395701"/>
                <a:gd name="connsiteY57" fmla="*/ 171850 h 193719"/>
                <a:gd name="connsiteX58" fmla="*/ 176889 w 395701"/>
                <a:gd name="connsiteY58" fmla="*/ 181219 h 193719"/>
                <a:gd name="connsiteX59" fmla="*/ 272334 w 395701"/>
                <a:gd name="connsiteY59" fmla="*/ 181219 h 193719"/>
                <a:gd name="connsiteX60" fmla="*/ 298830 w 395701"/>
                <a:gd name="connsiteY60" fmla="*/ 193720 h 193719"/>
                <a:gd name="connsiteX61" fmla="*/ 325361 w 395701"/>
                <a:gd name="connsiteY61" fmla="*/ 181185 h 193719"/>
                <a:gd name="connsiteX62" fmla="*/ 395702 w 395701"/>
                <a:gd name="connsiteY62" fmla="*/ 109360 h 193719"/>
                <a:gd name="connsiteX63" fmla="*/ 395702 w 395701"/>
                <a:gd name="connsiteY63" fmla="*/ 84360 h 193719"/>
                <a:gd name="connsiteX64" fmla="*/ 325350 w 395701"/>
                <a:gd name="connsiteY64" fmla="*/ 12535 h 193719"/>
                <a:gd name="connsiteX65" fmla="*/ 325350 w 395701"/>
                <a:gd name="connsiteY65" fmla="*/ 12535 h 19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95701" h="193719">
                  <a:moveTo>
                    <a:pt x="376951" y="109360"/>
                  </a:moveTo>
                  <a:cubicBezTo>
                    <a:pt x="376951" y="135451"/>
                    <a:pt x="358038" y="157216"/>
                    <a:pt x="333200" y="161657"/>
                  </a:cubicBezTo>
                  <a:lnTo>
                    <a:pt x="333200" y="32074"/>
                  </a:lnTo>
                  <a:cubicBezTo>
                    <a:pt x="358038" y="36515"/>
                    <a:pt x="376951" y="58269"/>
                    <a:pt x="376951" y="84371"/>
                  </a:cubicBezTo>
                  <a:lnTo>
                    <a:pt x="376951" y="109360"/>
                  </a:lnTo>
                  <a:lnTo>
                    <a:pt x="376951" y="109360"/>
                  </a:lnTo>
                  <a:close/>
                  <a:moveTo>
                    <a:pt x="314450" y="159361"/>
                  </a:moveTo>
                  <a:cubicBezTo>
                    <a:pt x="314450" y="167977"/>
                    <a:pt x="307446" y="174981"/>
                    <a:pt x="298830" y="174981"/>
                  </a:cubicBezTo>
                  <a:cubicBezTo>
                    <a:pt x="290214" y="174981"/>
                    <a:pt x="283211" y="167977"/>
                    <a:pt x="283211" y="159361"/>
                  </a:cubicBezTo>
                  <a:lnTo>
                    <a:pt x="283211" y="34370"/>
                  </a:lnTo>
                  <a:cubicBezTo>
                    <a:pt x="283211" y="25754"/>
                    <a:pt x="290214" y="18750"/>
                    <a:pt x="298830" y="18750"/>
                  </a:cubicBezTo>
                  <a:cubicBezTo>
                    <a:pt x="307446" y="18750"/>
                    <a:pt x="314450" y="25754"/>
                    <a:pt x="314450" y="34370"/>
                  </a:cubicBezTo>
                  <a:lnTo>
                    <a:pt x="314450" y="159361"/>
                  </a:lnTo>
                  <a:lnTo>
                    <a:pt x="314450" y="159361"/>
                  </a:lnTo>
                  <a:close/>
                  <a:moveTo>
                    <a:pt x="89468" y="153111"/>
                  </a:moveTo>
                  <a:lnTo>
                    <a:pt x="58217" y="129676"/>
                  </a:lnTo>
                  <a:lnTo>
                    <a:pt x="58217" y="64055"/>
                  </a:lnTo>
                  <a:lnTo>
                    <a:pt x="89468" y="40620"/>
                  </a:lnTo>
                  <a:lnTo>
                    <a:pt x="89468" y="153111"/>
                  </a:lnTo>
                  <a:lnTo>
                    <a:pt x="89468" y="153111"/>
                  </a:lnTo>
                  <a:close/>
                  <a:moveTo>
                    <a:pt x="39466" y="115610"/>
                  </a:moveTo>
                  <a:lnTo>
                    <a:pt x="21342" y="102020"/>
                  </a:lnTo>
                  <a:cubicBezTo>
                    <a:pt x="19707" y="100791"/>
                    <a:pt x="18756" y="98912"/>
                    <a:pt x="18756" y="96860"/>
                  </a:cubicBezTo>
                  <a:cubicBezTo>
                    <a:pt x="18756" y="94807"/>
                    <a:pt x="19696" y="92929"/>
                    <a:pt x="21342" y="91700"/>
                  </a:cubicBezTo>
                  <a:lnTo>
                    <a:pt x="39466" y="78109"/>
                  </a:lnTo>
                  <a:lnTo>
                    <a:pt x="39466" y="115610"/>
                  </a:lnTo>
                  <a:lnTo>
                    <a:pt x="39466" y="115610"/>
                  </a:lnTo>
                  <a:close/>
                  <a:moveTo>
                    <a:pt x="325350" y="12535"/>
                  </a:moveTo>
                  <a:cubicBezTo>
                    <a:pt x="319042" y="4882"/>
                    <a:pt x="309487" y="0"/>
                    <a:pt x="298819" y="0"/>
                  </a:cubicBezTo>
                  <a:cubicBezTo>
                    <a:pt x="288174" y="0"/>
                    <a:pt x="278630" y="4870"/>
                    <a:pt x="272322" y="12500"/>
                  </a:cubicBezTo>
                  <a:lnTo>
                    <a:pt x="98837" y="12500"/>
                  </a:lnTo>
                  <a:cubicBezTo>
                    <a:pt x="96727" y="12500"/>
                    <a:pt x="94790" y="13208"/>
                    <a:pt x="93213" y="14379"/>
                  </a:cubicBezTo>
                  <a:lnTo>
                    <a:pt x="93201" y="14367"/>
                  </a:lnTo>
                  <a:lnTo>
                    <a:pt x="10083" y="76706"/>
                  </a:lnTo>
                  <a:cubicBezTo>
                    <a:pt x="3531" y="81623"/>
                    <a:pt x="-168" y="89195"/>
                    <a:pt x="6" y="97416"/>
                  </a:cubicBezTo>
                  <a:cubicBezTo>
                    <a:pt x="180" y="105325"/>
                    <a:pt x="4238" y="112642"/>
                    <a:pt x="10570" y="117384"/>
                  </a:cubicBezTo>
                  <a:lnTo>
                    <a:pt x="93201" y="179353"/>
                  </a:lnTo>
                  <a:lnTo>
                    <a:pt x="93213" y="179341"/>
                  </a:lnTo>
                  <a:cubicBezTo>
                    <a:pt x="94779" y="180524"/>
                    <a:pt x="96727" y="181219"/>
                    <a:pt x="98837" y="181219"/>
                  </a:cubicBezTo>
                  <a:lnTo>
                    <a:pt x="135549" y="181219"/>
                  </a:lnTo>
                  <a:cubicBezTo>
                    <a:pt x="140721" y="181219"/>
                    <a:pt x="144919" y="177022"/>
                    <a:pt x="144919" y="171850"/>
                  </a:cubicBezTo>
                  <a:cubicBezTo>
                    <a:pt x="144919" y="166678"/>
                    <a:pt x="140721" y="162481"/>
                    <a:pt x="135549" y="162481"/>
                  </a:cubicBezTo>
                  <a:lnTo>
                    <a:pt x="108206" y="162481"/>
                  </a:lnTo>
                  <a:lnTo>
                    <a:pt x="108206" y="68740"/>
                  </a:lnTo>
                  <a:lnTo>
                    <a:pt x="185945" y="68740"/>
                  </a:lnTo>
                  <a:cubicBezTo>
                    <a:pt x="191082" y="68740"/>
                    <a:pt x="195558" y="64786"/>
                    <a:pt x="195709" y="59649"/>
                  </a:cubicBezTo>
                  <a:cubicBezTo>
                    <a:pt x="195871" y="54338"/>
                    <a:pt x="191615" y="49990"/>
                    <a:pt x="186339" y="49990"/>
                  </a:cubicBezTo>
                  <a:lnTo>
                    <a:pt x="108218" y="49990"/>
                  </a:lnTo>
                  <a:lnTo>
                    <a:pt x="108218" y="31239"/>
                  </a:lnTo>
                  <a:lnTo>
                    <a:pt x="264449" y="31239"/>
                  </a:lnTo>
                  <a:lnTo>
                    <a:pt x="264449" y="49990"/>
                  </a:lnTo>
                  <a:lnTo>
                    <a:pt x="224223" y="49990"/>
                  </a:lnTo>
                  <a:cubicBezTo>
                    <a:pt x="219086" y="49990"/>
                    <a:pt x="214610" y="53944"/>
                    <a:pt x="214459" y="59081"/>
                  </a:cubicBezTo>
                  <a:cubicBezTo>
                    <a:pt x="214297" y="64392"/>
                    <a:pt x="218552" y="68740"/>
                    <a:pt x="223828" y="68740"/>
                  </a:cubicBezTo>
                  <a:lnTo>
                    <a:pt x="264449" y="68740"/>
                  </a:lnTo>
                  <a:lnTo>
                    <a:pt x="264449" y="162481"/>
                  </a:lnTo>
                  <a:lnTo>
                    <a:pt x="176889" y="162481"/>
                  </a:lnTo>
                  <a:cubicBezTo>
                    <a:pt x="171717" y="162481"/>
                    <a:pt x="167519" y="166678"/>
                    <a:pt x="167519" y="171850"/>
                  </a:cubicBezTo>
                  <a:cubicBezTo>
                    <a:pt x="167519" y="177022"/>
                    <a:pt x="171717" y="181219"/>
                    <a:pt x="176889" y="181219"/>
                  </a:cubicBezTo>
                  <a:lnTo>
                    <a:pt x="272334" y="181219"/>
                  </a:lnTo>
                  <a:cubicBezTo>
                    <a:pt x="278642" y="188850"/>
                    <a:pt x="288174" y="193720"/>
                    <a:pt x="298830" y="193720"/>
                  </a:cubicBezTo>
                  <a:cubicBezTo>
                    <a:pt x="309498" y="193720"/>
                    <a:pt x="319042" y="188838"/>
                    <a:pt x="325361" y="181185"/>
                  </a:cubicBezTo>
                  <a:cubicBezTo>
                    <a:pt x="364289" y="180361"/>
                    <a:pt x="395702" y="148473"/>
                    <a:pt x="395702" y="109360"/>
                  </a:cubicBezTo>
                  <a:lnTo>
                    <a:pt x="395702" y="84360"/>
                  </a:lnTo>
                  <a:cubicBezTo>
                    <a:pt x="395690" y="45247"/>
                    <a:pt x="364277" y="13347"/>
                    <a:pt x="325350" y="12535"/>
                  </a:cubicBezTo>
                  <a:lnTo>
                    <a:pt x="325350" y="12535"/>
                  </a:lnTo>
                  <a:close/>
                </a:path>
              </a:pathLst>
            </a:custGeom>
            <a:grpFill/>
            <a:ln w="11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C0C0C"/>
                </a:solidFill>
                <a:effectLst/>
                <a:uLnTx/>
                <a:uFillTx/>
                <a:latin typeface="HarmonyOS Sans SC" panose="00000500000000000000" pitchFamily="2" charset="-122"/>
                <a:ea typeface="HarmonyOS Sans SC" panose="00000500000000000000" pitchFamily="2" charset="-122"/>
                <a:cs typeface="+mn-cs"/>
              </a:endParaRPr>
            </a:p>
          </p:txBody>
        </p:sp>
      </p:grpSp>
      <p:sp>
        <p:nvSpPr>
          <p:cNvPr id="78" name="矩形: 圆角 81"/>
          <p:cNvSpPr/>
          <p:nvPr/>
        </p:nvSpPr>
        <p:spPr>
          <a:xfrm>
            <a:off x="4384992" y="2084680"/>
            <a:ext cx="3422018" cy="242525"/>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dirty="0">
                <a:solidFill>
                  <a:schemeClr val="accent4"/>
                </a:solidFill>
                <a:latin typeface="HarmonyOS Sans SC" panose="00000500000000000000" pitchFamily="2" charset="-122"/>
                <a:ea typeface="HarmonyOS Sans SC" panose="00000500000000000000" pitchFamily="2" charset="-122"/>
              </a:rPr>
              <a:t>江湾</a:t>
            </a:r>
            <a:r>
              <a:rPr lang="en-US" altLang="zh-CN" sz="1200" b="1" dirty="0">
                <a:solidFill>
                  <a:schemeClr val="accent4"/>
                </a:solidFill>
                <a:latin typeface="HarmonyOS Sans SC" panose="00000500000000000000" pitchFamily="2" charset="-122"/>
                <a:ea typeface="HarmonyOS Sans SC" panose="00000500000000000000" pitchFamily="2" charset="-122"/>
              </a:rPr>
              <a:t>·</a:t>
            </a:r>
            <a:r>
              <a:rPr lang="zh-CN" altLang="en-US" sz="1200" b="1" dirty="0">
                <a:solidFill>
                  <a:schemeClr val="accent4"/>
                </a:solidFill>
                <a:latin typeface="HarmonyOS Sans SC" panose="00000500000000000000" pitchFamily="2" charset="-122"/>
                <a:ea typeface="HarmonyOS Sans SC" panose="00000500000000000000" pitchFamily="2" charset="-122"/>
              </a:rPr>
              <a:t>和樾</a:t>
            </a:r>
            <a:r>
              <a:rPr lang="zh-CN" altLang="en-US" sz="1100" dirty="0">
                <a:solidFill>
                  <a:schemeClr val="accent4"/>
                </a:solidFill>
                <a:latin typeface="HarmonyOS Sans SC" panose="00000500000000000000" pitchFamily="2" charset="-122"/>
                <a:ea typeface="HarmonyOS Sans SC" panose="00000500000000000000" pitchFamily="2" charset="-122"/>
              </a:rPr>
              <a:t>  锌片厂地块（合作开发）</a:t>
            </a:r>
            <a:endParaRPr kumimoji="0" lang="zh-CN" altLang="en-US" sz="1100" b="0" i="0" u="none" strike="noStrike" kern="1200" cap="none" spc="0" normalizeH="0" baseline="0" noProof="0" dirty="0">
              <a:ln>
                <a:noFill/>
              </a:ln>
              <a:solidFill>
                <a:schemeClr val="accent4"/>
              </a:solidFill>
              <a:effectLst/>
              <a:uLnTx/>
              <a:uFillTx/>
              <a:latin typeface="HarmonyOS Sans SC" panose="00000500000000000000" pitchFamily="2" charset="-122"/>
              <a:ea typeface="HarmonyOS Sans SC" panose="00000500000000000000" pitchFamily="2" charset="-122"/>
              <a:cs typeface="+mn-cs"/>
            </a:endParaRPr>
          </a:p>
        </p:txBody>
      </p:sp>
      <p:sp>
        <p:nvSpPr>
          <p:cNvPr id="79" name="矩形: 圆角 82"/>
          <p:cNvSpPr/>
          <p:nvPr/>
        </p:nvSpPr>
        <p:spPr>
          <a:xfrm>
            <a:off x="4384992" y="2382269"/>
            <a:ext cx="1879284" cy="242525"/>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dirty="0">
                <a:solidFill>
                  <a:schemeClr val="accent4"/>
                </a:solidFill>
                <a:latin typeface="HarmonyOS Sans SC" panose="00000500000000000000" pitchFamily="2" charset="-122"/>
                <a:ea typeface="HarmonyOS Sans SC" panose="00000500000000000000" pitchFamily="2" charset="-122"/>
              </a:rPr>
              <a:t>琶洲</a:t>
            </a:r>
            <a:r>
              <a:rPr lang="en-US" altLang="zh-CN" sz="1200" b="1" dirty="0">
                <a:solidFill>
                  <a:schemeClr val="accent4"/>
                </a:solidFill>
                <a:latin typeface="HarmonyOS Sans SC" panose="00000500000000000000" pitchFamily="2" charset="-122"/>
                <a:ea typeface="HarmonyOS Sans SC" panose="00000500000000000000" pitchFamily="2" charset="-122"/>
              </a:rPr>
              <a:t>π</a:t>
            </a:r>
            <a:r>
              <a:rPr lang="zh-CN" altLang="en-US" sz="1200" b="1" dirty="0">
                <a:solidFill>
                  <a:schemeClr val="accent4"/>
                </a:solidFill>
                <a:latin typeface="HarmonyOS Sans SC" panose="00000500000000000000" pitchFamily="2" charset="-122"/>
                <a:ea typeface="HarmonyOS Sans SC" panose="00000500000000000000" pitchFamily="2" charset="-122"/>
              </a:rPr>
              <a:t>艺术馆</a:t>
            </a:r>
            <a:r>
              <a:rPr lang="zh-CN" altLang="en-US" sz="1100" dirty="0">
                <a:solidFill>
                  <a:schemeClr val="accent4"/>
                </a:solidFill>
                <a:latin typeface="HarmonyOS Sans SC" panose="00000500000000000000" pitchFamily="2" charset="-122"/>
                <a:ea typeface="HarmonyOS Sans SC" panose="00000500000000000000" pitchFamily="2" charset="-122"/>
              </a:rPr>
              <a:t> </a:t>
            </a:r>
            <a:r>
              <a:rPr lang="en-US" altLang="zh-CN" sz="1100" dirty="0">
                <a:solidFill>
                  <a:schemeClr val="accent4"/>
                </a:solidFill>
                <a:latin typeface="HarmonyOS Sans SC" panose="00000500000000000000" pitchFamily="2" charset="-122"/>
                <a:ea typeface="HarmonyOS Sans SC" panose="00000500000000000000" pitchFamily="2" charset="-122"/>
              </a:rPr>
              <a:t>109</a:t>
            </a:r>
            <a:r>
              <a:rPr lang="zh-CN" altLang="en-US" sz="1100" dirty="0">
                <a:solidFill>
                  <a:schemeClr val="accent4"/>
                </a:solidFill>
                <a:latin typeface="HarmonyOS Sans SC" panose="00000500000000000000" pitchFamily="2" charset="-122"/>
                <a:ea typeface="HarmonyOS Sans SC" panose="00000500000000000000" pitchFamily="2" charset="-122"/>
              </a:rPr>
              <a:t>地块</a:t>
            </a:r>
            <a:endParaRPr kumimoji="0" lang="zh-CN" altLang="en-US" sz="1100" b="0" i="0" u="none" strike="noStrike" kern="1200" cap="none" spc="0" normalizeH="0" baseline="0" noProof="0" dirty="0">
              <a:ln>
                <a:noFill/>
              </a:ln>
              <a:solidFill>
                <a:schemeClr val="accent4"/>
              </a:solidFill>
              <a:effectLst/>
              <a:uLnTx/>
              <a:uFillTx/>
              <a:latin typeface="HarmonyOS Sans SC" panose="00000500000000000000" pitchFamily="2" charset="-122"/>
              <a:ea typeface="HarmonyOS Sans SC" panose="00000500000000000000" pitchFamily="2" charset="-122"/>
              <a:cs typeface="+mn-cs"/>
            </a:endParaRPr>
          </a:p>
        </p:txBody>
      </p:sp>
      <p:sp>
        <p:nvSpPr>
          <p:cNvPr id="80" name="矩形: 圆角 83"/>
          <p:cNvSpPr/>
          <p:nvPr/>
        </p:nvSpPr>
        <p:spPr>
          <a:xfrm>
            <a:off x="4384991" y="2679858"/>
            <a:ext cx="3422018" cy="242525"/>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dirty="0">
                <a:solidFill>
                  <a:schemeClr val="accent4"/>
                </a:solidFill>
                <a:latin typeface="HarmonyOS Sans SC" panose="00000500000000000000" pitchFamily="2" charset="-122"/>
                <a:ea typeface="HarmonyOS Sans SC" panose="00000500000000000000" pitchFamily="2" charset="-122"/>
              </a:rPr>
              <a:t>大模型示范基地</a:t>
            </a:r>
            <a:r>
              <a:rPr lang="zh-CN" altLang="en-US" sz="1100" dirty="0">
                <a:solidFill>
                  <a:schemeClr val="accent4"/>
                </a:solidFill>
                <a:latin typeface="HarmonyOS Sans SC" panose="00000500000000000000" pitchFamily="2" charset="-122"/>
                <a:ea typeface="HarmonyOS Sans SC" panose="00000500000000000000" pitchFamily="2" charset="-122"/>
              </a:rPr>
              <a:t>  </a:t>
            </a:r>
            <a:r>
              <a:rPr lang="en-US" altLang="zh-CN" sz="1100" dirty="0">
                <a:solidFill>
                  <a:schemeClr val="accent4"/>
                </a:solidFill>
                <a:latin typeface="HarmonyOS Sans SC" panose="00000500000000000000" pitchFamily="2" charset="-122"/>
                <a:ea typeface="HarmonyOS Sans SC" panose="00000500000000000000" pitchFamily="2" charset="-122"/>
              </a:rPr>
              <a:t>203 204</a:t>
            </a:r>
            <a:r>
              <a:rPr lang="zh-CN" altLang="en-US" sz="1100" dirty="0">
                <a:solidFill>
                  <a:schemeClr val="accent4"/>
                </a:solidFill>
                <a:latin typeface="HarmonyOS Sans SC" panose="00000500000000000000" pitchFamily="2" charset="-122"/>
                <a:ea typeface="HarmonyOS Sans SC" panose="00000500000000000000" pitchFamily="2" charset="-122"/>
              </a:rPr>
              <a:t>地块</a:t>
            </a:r>
            <a:endParaRPr kumimoji="0" lang="zh-CN" altLang="en-US" sz="1100" b="0" i="0" u="none" strike="noStrike" kern="1200" cap="none" spc="0" normalizeH="0" baseline="0" noProof="0" dirty="0">
              <a:ln>
                <a:noFill/>
              </a:ln>
              <a:solidFill>
                <a:schemeClr val="accent4"/>
              </a:solidFill>
              <a:effectLst/>
              <a:uLnTx/>
              <a:uFillTx/>
              <a:latin typeface="HarmonyOS Sans SC" panose="00000500000000000000" pitchFamily="2" charset="-122"/>
              <a:ea typeface="HarmonyOS Sans SC" panose="00000500000000000000" pitchFamily="2" charset="-122"/>
              <a:cs typeface="+mn-cs"/>
            </a:endParaRPr>
          </a:p>
        </p:txBody>
      </p:sp>
      <p:sp>
        <p:nvSpPr>
          <p:cNvPr id="81" name="矩形: 圆角 84"/>
          <p:cNvSpPr/>
          <p:nvPr/>
        </p:nvSpPr>
        <p:spPr>
          <a:xfrm>
            <a:off x="4384991" y="2977447"/>
            <a:ext cx="3422018" cy="242525"/>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accent4"/>
                </a:solidFill>
                <a:latin typeface="HarmonyOS Sans SC" panose="00000500000000000000" pitchFamily="2" charset="-122"/>
                <a:ea typeface="HarmonyOS Sans SC" panose="00000500000000000000" pitchFamily="2" charset="-122"/>
              </a:rPr>
              <a:t>湾区产融中心</a:t>
            </a:r>
            <a:r>
              <a:rPr lang="zh-CN" altLang="en-US" sz="1100">
                <a:solidFill>
                  <a:schemeClr val="accent4"/>
                </a:solidFill>
                <a:latin typeface="HarmonyOS Sans SC" panose="00000500000000000000" pitchFamily="2" charset="-122"/>
                <a:ea typeface="HarmonyOS Sans SC" panose="00000500000000000000" pitchFamily="2" charset="-122"/>
              </a:rPr>
              <a:t>  </a:t>
            </a:r>
            <a:r>
              <a:rPr lang="zh-CN" altLang="en-US" sz="1100" dirty="0">
                <a:solidFill>
                  <a:schemeClr val="accent4"/>
                </a:solidFill>
                <a:latin typeface="HarmonyOS Sans SC" panose="00000500000000000000" pitchFamily="2" charset="-122"/>
                <a:ea typeface="HarmonyOS Sans SC" panose="00000500000000000000" pitchFamily="2" charset="-122"/>
              </a:rPr>
              <a:t>新源地块</a:t>
            </a:r>
            <a:endParaRPr kumimoji="0" lang="zh-CN" altLang="en-US" sz="1100" b="0" i="0" u="none" strike="noStrike" kern="1200" cap="none" spc="0" normalizeH="0" baseline="0" noProof="0" dirty="0">
              <a:ln>
                <a:noFill/>
              </a:ln>
              <a:solidFill>
                <a:schemeClr val="accent4"/>
              </a:solidFill>
              <a:effectLst/>
              <a:uLnTx/>
              <a:uFillTx/>
              <a:latin typeface="HarmonyOS Sans SC" panose="00000500000000000000" pitchFamily="2" charset="-122"/>
              <a:ea typeface="HarmonyOS Sans SC" panose="00000500000000000000" pitchFamily="2" charset="-122"/>
              <a:cs typeface="+mn-cs"/>
            </a:endParaRPr>
          </a:p>
        </p:txBody>
      </p:sp>
      <p:sp>
        <p:nvSpPr>
          <p:cNvPr id="82" name="矩形: 圆角 85"/>
          <p:cNvSpPr/>
          <p:nvPr/>
        </p:nvSpPr>
        <p:spPr>
          <a:xfrm>
            <a:off x="6327775" y="2382269"/>
            <a:ext cx="1479234" cy="242525"/>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dirty="0">
                <a:solidFill>
                  <a:schemeClr val="accent4"/>
                </a:solidFill>
                <a:latin typeface="HarmonyOS Sans SC" panose="00000500000000000000" pitchFamily="2" charset="-122"/>
                <a:ea typeface="HarmonyOS Sans SC" panose="00000500000000000000" pitchFamily="2" charset="-122"/>
              </a:rPr>
              <a:t>琶洲算谷</a:t>
            </a:r>
            <a:r>
              <a:rPr lang="zh-CN" altLang="en-US" sz="1100" dirty="0">
                <a:solidFill>
                  <a:schemeClr val="accent4"/>
                </a:solidFill>
                <a:latin typeface="HarmonyOS Sans SC" panose="00000500000000000000" pitchFamily="2" charset="-122"/>
                <a:ea typeface="HarmonyOS Sans SC" panose="00000500000000000000" pitchFamily="2" charset="-122"/>
              </a:rPr>
              <a:t> </a:t>
            </a:r>
            <a:r>
              <a:rPr lang="en-US" altLang="zh-CN" sz="1100" dirty="0">
                <a:solidFill>
                  <a:schemeClr val="accent4"/>
                </a:solidFill>
                <a:latin typeface="HarmonyOS Sans SC" panose="00000500000000000000" pitchFamily="2" charset="-122"/>
                <a:ea typeface="HarmonyOS Sans SC" panose="00000500000000000000" pitchFamily="2" charset="-122"/>
              </a:rPr>
              <a:t>633</a:t>
            </a:r>
            <a:r>
              <a:rPr lang="zh-CN" altLang="en-US" sz="1100" dirty="0">
                <a:solidFill>
                  <a:schemeClr val="accent4"/>
                </a:solidFill>
                <a:latin typeface="HarmonyOS Sans SC" panose="00000500000000000000" pitchFamily="2" charset="-122"/>
                <a:ea typeface="HarmonyOS Sans SC" panose="00000500000000000000" pitchFamily="2" charset="-122"/>
              </a:rPr>
              <a:t>地块</a:t>
            </a:r>
            <a:endParaRPr kumimoji="0" lang="zh-CN" altLang="en-US" sz="1100" b="0" i="0" u="none" strike="noStrike" kern="1200" cap="none" spc="0" normalizeH="0" baseline="0" noProof="0" dirty="0">
              <a:ln>
                <a:noFill/>
              </a:ln>
              <a:solidFill>
                <a:schemeClr val="accent4"/>
              </a:solidFill>
              <a:effectLst/>
              <a:uLnTx/>
              <a:uFillTx/>
              <a:latin typeface="HarmonyOS Sans SC" panose="00000500000000000000" pitchFamily="2" charset="-122"/>
              <a:ea typeface="HarmonyOS Sans SC" panose="00000500000000000000" pitchFamily="2" charset="-122"/>
              <a:cs typeface="+mn-cs"/>
            </a:endParaRPr>
          </a:p>
        </p:txBody>
      </p:sp>
      <p:sp>
        <p:nvSpPr>
          <p:cNvPr id="83" name="文本框 82"/>
          <p:cNvSpPr txBox="1"/>
          <p:nvPr/>
        </p:nvSpPr>
        <p:spPr>
          <a:xfrm>
            <a:off x="8098276" y="1304902"/>
            <a:ext cx="2289175" cy="847725"/>
          </a:xfrm>
          <a:prstGeom prst="rect">
            <a:avLst/>
          </a:prstGeom>
          <a:noFill/>
        </p:spPr>
        <p:txBody>
          <a:bodyPr wrap="none" rtlCol="0">
            <a:spAutoFit/>
          </a:bodyPr>
          <a:lstStyle/>
          <a:p>
            <a:r>
              <a:rPr lang="zh-CN" altLang="en-US" dirty="0">
                <a:solidFill>
                  <a:schemeClr val="bg1"/>
                </a:solidFill>
                <a:latin typeface="HarmonyOS Sans SC" panose="00000500000000000000" pitchFamily="2" charset="-122"/>
                <a:ea typeface="HarmonyOS Sans SC" panose="00000500000000000000" pitchFamily="2" charset="-122"/>
              </a:rPr>
              <a:t>国有物业改造升级</a:t>
            </a:r>
            <a:endParaRPr lang="en-US" altLang="zh-CN" b="1" dirty="0">
              <a:solidFill>
                <a:schemeClr val="bg1"/>
              </a:solidFill>
              <a:latin typeface="HarmonyOS Sans SC" panose="00000500000000000000" pitchFamily="2" charset="-122"/>
              <a:ea typeface="HarmonyOS Sans SC" panose="00000500000000000000" pitchFamily="2" charset="-122"/>
            </a:endParaRPr>
          </a:p>
          <a:p>
            <a:pPr>
              <a:lnSpc>
                <a:spcPct val="130000"/>
              </a:lnSpc>
            </a:pPr>
            <a:r>
              <a:rPr lang="zh-CN" altLang="en-US" sz="1200" dirty="0">
                <a:solidFill>
                  <a:schemeClr val="bg1"/>
                </a:solidFill>
                <a:latin typeface="HarmonyOS Sans SC" panose="00000500000000000000" pitchFamily="2" charset="-122"/>
                <a:ea typeface="HarmonyOS Sans SC" panose="00000500000000000000" pitchFamily="2" charset="-122"/>
              </a:rPr>
              <a:t>建筑面积</a:t>
            </a:r>
            <a:r>
              <a:rPr lang="zh-CN" altLang="en-US" dirty="0">
                <a:solidFill>
                  <a:schemeClr val="bg1"/>
                </a:solidFill>
                <a:latin typeface="HarmonyOS Sans SC" panose="00000500000000000000" pitchFamily="2" charset="-122"/>
                <a:ea typeface="HarmonyOS Sans SC" panose="00000500000000000000" pitchFamily="2" charset="-122"/>
              </a:rPr>
              <a:t> </a:t>
            </a:r>
            <a:r>
              <a:rPr lang="en-US" altLang="zh-CN" sz="2400" b="1" dirty="0">
                <a:solidFill>
                  <a:schemeClr val="bg2"/>
                </a:solidFill>
                <a:latin typeface="HarmonyOS Sans SC" panose="00000500000000000000" pitchFamily="2" charset="-122"/>
                <a:ea typeface="HarmonyOS Sans SC" panose="00000500000000000000" pitchFamily="2" charset="-122"/>
              </a:rPr>
              <a:t>260,000</a:t>
            </a:r>
            <a:r>
              <a:rPr lang="zh-CN" altLang="en-US" sz="2000" b="1" dirty="0">
                <a:solidFill>
                  <a:schemeClr val="bg2"/>
                </a:solidFill>
                <a:latin typeface="HarmonyOS Sans SC" panose="00000500000000000000" pitchFamily="2" charset="-122"/>
                <a:ea typeface="HarmonyOS Sans SC" panose="00000500000000000000" pitchFamily="2" charset="-122"/>
              </a:rPr>
              <a:t>㎡</a:t>
            </a:r>
            <a:endParaRPr lang="zh-CN" altLang="en-US" b="1" dirty="0">
              <a:solidFill>
                <a:schemeClr val="bg2"/>
              </a:solidFill>
              <a:latin typeface="HarmonyOS Sans SC" panose="00000500000000000000" pitchFamily="2" charset="-122"/>
              <a:ea typeface="HarmonyOS Sans SC" panose="00000500000000000000" pitchFamily="2" charset="-122"/>
            </a:endParaRPr>
          </a:p>
        </p:txBody>
      </p:sp>
      <p:sp>
        <p:nvSpPr>
          <p:cNvPr id="84" name="文本框 83"/>
          <p:cNvSpPr txBox="1"/>
          <p:nvPr/>
        </p:nvSpPr>
        <p:spPr>
          <a:xfrm>
            <a:off x="8098276" y="2095626"/>
            <a:ext cx="3352200" cy="516423"/>
          </a:xfrm>
          <a:prstGeom prst="rect">
            <a:avLst/>
          </a:prstGeom>
          <a:noFill/>
        </p:spPr>
        <p:txBody>
          <a:bodyPr wrap="none" rtlCol="0">
            <a:spAutoFit/>
          </a:bodyPr>
          <a:lstStyle/>
          <a:p>
            <a:pPr>
              <a:lnSpc>
                <a:spcPct val="120000"/>
              </a:lnSpc>
            </a:pPr>
            <a:r>
              <a:rPr lang="zh-CN" altLang="en-US" sz="1200" b="1" dirty="0">
                <a:solidFill>
                  <a:schemeClr val="bg1"/>
                </a:solidFill>
                <a:latin typeface="HarmonyOS Sans SC" panose="00000500000000000000" pitchFamily="2" charset="-122"/>
                <a:ea typeface="HarmonyOS Sans SC" panose="00000500000000000000" pitchFamily="2" charset="-122"/>
              </a:rPr>
              <a:t>未来产业园    时尚海珠</a:t>
            </a:r>
            <a:r>
              <a:rPr lang="en-US" altLang="zh-CN" sz="1200" b="1" dirty="0">
                <a:solidFill>
                  <a:schemeClr val="bg1"/>
                </a:solidFill>
                <a:latin typeface="HarmonyOS Sans SC" panose="00000500000000000000" pitchFamily="2" charset="-122"/>
                <a:ea typeface="HarmonyOS Sans SC" panose="00000500000000000000" pitchFamily="2" charset="-122"/>
              </a:rPr>
              <a:t>·</a:t>
            </a:r>
            <a:r>
              <a:rPr lang="zh-CN" altLang="en-US" sz="1200" b="1" dirty="0">
                <a:solidFill>
                  <a:schemeClr val="bg1"/>
                </a:solidFill>
                <a:latin typeface="HarmonyOS Sans SC" panose="00000500000000000000" pitchFamily="2" charset="-122"/>
                <a:ea typeface="HarmonyOS Sans SC" panose="00000500000000000000" pitchFamily="2" charset="-122"/>
              </a:rPr>
              <a:t>左岸    龙凤里</a:t>
            </a:r>
            <a:r>
              <a:rPr lang="en-US" altLang="zh-CN" sz="1200" b="1" dirty="0">
                <a:solidFill>
                  <a:schemeClr val="bg1"/>
                </a:solidFill>
                <a:latin typeface="HarmonyOS Sans SC" panose="00000500000000000000" pitchFamily="2" charset="-122"/>
                <a:ea typeface="HarmonyOS Sans SC" panose="00000500000000000000" pitchFamily="2" charset="-122"/>
              </a:rPr>
              <a:t>·</a:t>
            </a:r>
            <a:r>
              <a:rPr lang="zh-CN" altLang="en-US" sz="1200" b="1" dirty="0">
                <a:solidFill>
                  <a:schemeClr val="bg1"/>
                </a:solidFill>
                <a:latin typeface="HarmonyOS Sans SC" panose="00000500000000000000" pitchFamily="2" charset="-122"/>
                <a:ea typeface="HarmonyOS Sans SC" panose="00000500000000000000" pitchFamily="2" charset="-122"/>
              </a:rPr>
              <a:t>天工园</a:t>
            </a:r>
            <a:endParaRPr lang="en-US" altLang="zh-CN" sz="1200" b="1" dirty="0">
              <a:solidFill>
                <a:schemeClr val="bg1"/>
              </a:solidFill>
              <a:latin typeface="HarmonyOS Sans SC" panose="00000500000000000000" pitchFamily="2" charset="-122"/>
              <a:ea typeface="HarmonyOS Sans SC" panose="00000500000000000000" pitchFamily="2" charset="-122"/>
            </a:endParaRPr>
          </a:p>
          <a:p>
            <a:pPr>
              <a:lnSpc>
                <a:spcPct val="120000"/>
              </a:lnSpc>
            </a:pPr>
            <a:r>
              <a:rPr lang="zh-CN" altLang="en-US" sz="1200" b="1" dirty="0">
                <a:solidFill>
                  <a:schemeClr val="bg1"/>
                </a:solidFill>
                <a:latin typeface="HarmonyOS Sans SC" panose="00000500000000000000" pitchFamily="2" charset="-122"/>
                <a:ea typeface="HarmonyOS Sans SC" panose="00000500000000000000" pitchFamily="2" charset="-122"/>
              </a:rPr>
              <a:t>场域</a:t>
            </a:r>
            <a:r>
              <a:rPr lang="en-US" altLang="zh-CN" sz="1200" b="1" dirty="0">
                <a:solidFill>
                  <a:schemeClr val="bg1"/>
                </a:solidFill>
                <a:latin typeface="HarmonyOS Sans SC" panose="00000500000000000000" pitchFamily="2" charset="-122"/>
                <a:ea typeface="HarmonyOS Sans SC" panose="00000500000000000000" pitchFamily="2" charset="-122"/>
              </a:rPr>
              <a:t>·</a:t>
            </a:r>
            <a:r>
              <a:rPr lang="zh-CN" altLang="en-US" sz="1200" b="1" dirty="0">
                <a:solidFill>
                  <a:schemeClr val="bg1"/>
                </a:solidFill>
                <a:latin typeface="HarmonyOS Sans SC" panose="00000500000000000000" pitchFamily="2" charset="-122"/>
                <a:ea typeface="HarmonyOS Sans SC" panose="00000500000000000000" pitchFamily="2" charset="-122"/>
              </a:rPr>
              <a:t>流量众创空间    纵横公寓    图批市场</a:t>
            </a:r>
            <a:r>
              <a:rPr lang="en-US" altLang="zh-CN" sz="1200" b="1" dirty="0">
                <a:solidFill>
                  <a:schemeClr val="bg1"/>
                </a:solidFill>
                <a:latin typeface="HarmonyOS Sans SC" panose="00000500000000000000" pitchFamily="2" charset="-122"/>
                <a:ea typeface="HarmonyOS Sans SC" panose="00000500000000000000" pitchFamily="2" charset="-122"/>
              </a:rPr>
              <a:t>…</a:t>
            </a:r>
            <a:endParaRPr lang="zh-CN" altLang="en-US" sz="1200" b="1" dirty="0">
              <a:solidFill>
                <a:schemeClr val="bg1"/>
              </a:solidFill>
              <a:latin typeface="HarmonyOS Sans SC" panose="00000500000000000000" pitchFamily="2" charset="-122"/>
              <a:ea typeface="HarmonyOS Sans SC" panose="00000500000000000000" pitchFamily="2" charset="-122"/>
            </a:endParaRPr>
          </a:p>
        </p:txBody>
      </p:sp>
      <p:pic>
        <p:nvPicPr>
          <p:cNvPr id="85" name="图形 8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02362" y="1304902"/>
            <a:ext cx="667998" cy="667998"/>
          </a:xfrm>
          <a:prstGeom prst="rect">
            <a:avLst/>
          </a:prstGeom>
        </p:spPr>
      </p:pic>
      <p:sp>
        <p:nvSpPr>
          <p:cNvPr id="86" name="矩形 85"/>
          <p:cNvSpPr/>
          <p:nvPr/>
        </p:nvSpPr>
        <p:spPr>
          <a:xfrm>
            <a:off x="7984991" y="2722841"/>
            <a:ext cx="3600000" cy="14446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panose="00000500000000000000" pitchFamily="2" charset="-122"/>
              <a:ea typeface="HarmonyOS Sans SC" panose="00000500000000000000" pitchFamily="2" charset="-122"/>
            </a:endParaRPr>
          </a:p>
        </p:txBody>
      </p:sp>
      <p:sp>
        <p:nvSpPr>
          <p:cNvPr id="87" name="文本框 86"/>
          <p:cNvSpPr txBox="1"/>
          <p:nvPr/>
        </p:nvSpPr>
        <p:spPr>
          <a:xfrm>
            <a:off x="8100867" y="2797566"/>
            <a:ext cx="2289175" cy="847725"/>
          </a:xfrm>
          <a:prstGeom prst="rect">
            <a:avLst/>
          </a:prstGeom>
          <a:noFill/>
        </p:spPr>
        <p:txBody>
          <a:bodyPr wrap="none" rtlCol="0">
            <a:spAutoFit/>
          </a:bodyPr>
          <a:lstStyle/>
          <a:p>
            <a:r>
              <a:rPr lang="zh-CN" altLang="en-US" dirty="0">
                <a:solidFill>
                  <a:schemeClr val="bg1"/>
                </a:solidFill>
                <a:latin typeface="HarmonyOS Sans SC" panose="00000500000000000000" pitchFamily="2" charset="-122"/>
                <a:ea typeface="HarmonyOS Sans SC" panose="00000500000000000000" pitchFamily="2" charset="-122"/>
              </a:rPr>
              <a:t>落地村集体</a:t>
            </a:r>
            <a:r>
              <a:rPr lang="zh-CN" altLang="en-US">
                <a:solidFill>
                  <a:schemeClr val="bg1"/>
                </a:solidFill>
                <a:latin typeface="HarmonyOS Sans SC" panose="00000500000000000000" pitchFamily="2" charset="-122"/>
                <a:ea typeface="HarmonyOS Sans SC" panose="00000500000000000000" pitchFamily="2" charset="-122"/>
              </a:rPr>
              <a:t>物业</a:t>
            </a:r>
            <a:r>
              <a:rPr lang="en-US" altLang="zh-CN" dirty="0">
                <a:solidFill>
                  <a:schemeClr val="bg1"/>
                </a:solidFill>
                <a:latin typeface="HarmonyOS Sans SC" panose="00000500000000000000" pitchFamily="2" charset="-122"/>
                <a:ea typeface="HarmonyOS Sans SC" panose="00000500000000000000" pitchFamily="2" charset="-122"/>
              </a:rPr>
              <a:t>44</a:t>
            </a:r>
            <a:r>
              <a:rPr lang="zh-CN" altLang="en-US">
                <a:solidFill>
                  <a:schemeClr val="bg1"/>
                </a:solidFill>
                <a:latin typeface="HarmonyOS Sans SC" panose="00000500000000000000" pitchFamily="2" charset="-122"/>
                <a:ea typeface="HarmonyOS Sans SC" panose="00000500000000000000" pitchFamily="2" charset="-122"/>
              </a:rPr>
              <a:t>个</a:t>
            </a:r>
            <a:endParaRPr lang="en-US" altLang="zh-CN" b="1" dirty="0">
              <a:solidFill>
                <a:schemeClr val="bg1"/>
              </a:solidFill>
              <a:latin typeface="HarmonyOS Sans SC" panose="00000500000000000000" pitchFamily="2" charset="-122"/>
              <a:ea typeface="HarmonyOS Sans SC" panose="00000500000000000000" pitchFamily="2" charset="-122"/>
            </a:endParaRPr>
          </a:p>
          <a:p>
            <a:pPr>
              <a:lnSpc>
                <a:spcPct val="130000"/>
              </a:lnSpc>
            </a:pPr>
            <a:r>
              <a:rPr lang="zh-CN" altLang="en-US" sz="1200" dirty="0">
                <a:solidFill>
                  <a:schemeClr val="bg1"/>
                </a:solidFill>
                <a:latin typeface="HarmonyOS Sans SC" panose="00000500000000000000" pitchFamily="2" charset="-122"/>
                <a:ea typeface="HarmonyOS Sans SC" panose="00000500000000000000" pitchFamily="2" charset="-122"/>
              </a:rPr>
              <a:t>建筑面积</a:t>
            </a:r>
            <a:r>
              <a:rPr lang="zh-CN" altLang="en-US" dirty="0">
                <a:solidFill>
                  <a:schemeClr val="bg1"/>
                </a:solidFill>
                <a:latin typeface="HarmonyOS Sans SC" panose="00000500000000000000" pitchFamily="2" charset="-122"/>
                <a:ea typeface="HarmonyOS Sans SC" panose="00000500000000000000" pitchFamily="2" charset="-122"/>
              </a:rPr>
              <a:t> </a:t>
            </a:r>
            <a:r>
              <a:rPr lang="en-US" altLang="zh-CN" sz="2400" b="1" dirty="0">
                <a:solidFill>
                  <a:schemeClr val="bg2"/>
                </a:solidFill>
                <a:latin typeface="HarmonyOS Sans SC" panose="00000500000000000000" pitchFamily="2" charset="-122"/>
                <a:ea typeface="HarmonyOS Sans SC" panose="00000500000000000000" pitchFamily="2" charset="-122"/>
              </a:rPr>
              <a:t>340,000</a:t>
            </a:r>
            <a:r>
              <a:rPr lang="zh-CN" altLang="en-US" sz="2000" b="1" dirty="0">
                <a:solidFill>
                  <a:schemeClr val="bg2"/>
                </a:solidFill>
                <a:latin typeface="HarmonyOS Sans SC" panose="00000500000000000000" pitchFamily="2" charset="-122"/>
                <a:ea typeface="HarmonyOS Sans SC" panose="00000500000000000000" pitchFamily="2" charset="-122"/>
              </a:rPr>
              <a:t>㎡</a:t>
            </a:r>
            <a:endParaRPr lang="zh-CN" altLang="en-US" b="1" dirty="0">
              <a:solidFill>
                <a:schemeClr val="bg2"/>
              </a:solidFill>
              <a:latin typeface="HarmonyOS Sans SC" panose="00000500000000000000" pitchFamily="2" charset="-122"/>
              <a:ea typeface="HarmonyOS Sans SC" panose="00000500000000000000" pitchFamily="2" charset="-122"/>
            </a:endParaRPr>
          </a:p>
        </p:txBody>
      </p:sp>
      <p:sp>
        <p:nvSpPr>
          <p:cNvPr id="88" name="文本框 87"/>
          <p:cNvSpPr txBox="1"/>
          <p:nvPr/>
        </p:nvSpPr>
        <p:spPr>
          <a:xfrm>
            <a:off x="8100867" y="3588290"/>
            <a:ext cx="3368230" cy="516423"/>
          </a:xfrm>
          <a:prstGeom prst="rect">
            <a:avLst/>
          </a:prstGeom>
          <a:noFill/>
        </p:spPr>
        <p:txBody>
          <a:bodyPr wrap="none" rtlCol="0">
            <a:spAutoFit/>
          </a:bodyPr>
          <a:lstStyle/>
          <a:p>
            <a:pPr>
              <a:lnSpc>
                <a:spcPct val="120000"/>
              </a:lnSpc>
            </a:pPr>
            <a:r>
              <a:rPr lang="zh-CN" altLang="en-US" sz="1200" b="1" dirty="0">
                <a:solidFill>
                  <a:schemeClr val="bg1"/>
                </a:solidFill>
                <a:latin typeface="HarmonyOS Sans SC" panose="00000500000000000000" pitchFamily="2" charset="-122"/>
                <a:ea typeface="HarmonyOS Sans SC" panose="00000500000000000000" pitchFamily="2" charset="-122"/>
              </a:rPr>
              <a:t>宝悦坊  海珠立方  琶洲慧科园  海珠瑞谷科创园</a:t>
            </a:r>
            <a:endParaRPr lang="en-US" altLang="zh-CN" sz="1200" b="1" dirty="0">
              <a:solidFill>
                <a:schemeClr val="bg1"/>
              </a:solidFill>
              <a:latin typeface="HarmonyOS Sans SC" panose="00000500000000000000" pitchFamily="2" charset="-122"/>
              <a:ea typeface="HarmonyOS Sans SC" panose="00000500000000000000" pitchFamily="2" charset="-122"/>
            </a:endParaRPr>
          </a:p>
          <a:p>
            <a:pPr>
              <a:lnSpc>
                <a:spcPct val="120000"/>
              </a:lnSpc>
            </a:pPr>
            <a:r>
              <a:rPr lang="zh-CN" altLang="en-US" sz="1200" b="1" dirty="0">
                <a:solidFill>
                  <a:schemeClr val="bg1"/>
                </a:solidFill>
                <a:latin typeface="HarmonyOS Sans SC" panose="00000500000000000000" pitchFamily="2" charset="-122"/>
                <a:ea typeface="HarmonyOS Sans SC" panose="00000500000000000000" pitchFamily="2" charset="-122"/>
              </a:rPr>
              <a:t>永晟创业园</a:t>
            </a:r>
            <a:r>
              <a:rPr lang="en-US" altLang="zh-CN" sz="1200" b="1" dirty="0">
                <a:solidFill>
                  <a:schemeClr val="bg1"/>
                </a:solidFill>
                <a:latin typeface="HarmonyOS Sans SC" panose="00000500000000000000" pitchFamily="2" charset="-122"/>
                <a:ea typeface="HarmonyOS Sans SC" panose="00000500000000000000" pitchFamily="2" charset="-122"/>
              </a:rPr>
              <a:t>  T28</a:t>
            </a:r>
            <a:r>
              <a:rPr lang="zh-CN" altLang="en-US" sz="1200" b="1" dirty="0">
                <a:solidFill>
                  <a:schemeClr val="bg1"/>
                </a:solidFill>
                <a:latin typeface="HarmonyOS Sans SC" panose="00000500000000000000" pitchFamily="2" charset="-122"/>
                <a:ea typeface="HarmonyOS Sans SC" panose="00000500000000000000" pitchFamily="2" charset="-122"/>
              </a:rPr>
              <a:t>新麓里  湿地数字生态园</a:t>
            </a:r>
            <a:r>
              <a:rPr lang="en-US" altLang="zh-CN" sz="1200" b="1" dirty="0">
                <a:solidFill>
                  <a:schemeClr val="bg1"/>
                </a:solidFill>
                <a:latin typeface="HarmonyOS Sans SC" panose="00000500000000000000" pitchFamily="2" charset="-122"/>
                <a:ea typeface="HarmonyOS Sans SC" panose="00000500000000000000" pitchFamily="2" charset="-122"/>
              </a:rPr>
              <a:t>…</a:t>
            </a:r>
            <a:endParaRPr lang="zh-CN" altLang="en-US" sz="1200" b="1" dirty="0">
              <a:solidFill>
                <a:schemeClr val="bg1"/>
              </a:solidFill>
              <a:latin typeface="HarmonyOS Sans SC" panose="00000500000000000000" pitchFamily="2" charset="-122"/>
              <a:ea typeface="HarmonyOS Sans SC" panose="00000500000000000000" pitchFamily="2" charset="-122"/>
            </a:endParaRPr>
          </a:p>
        </p:txBody>
      </p:sp>
      <p:pic>
        <p:nvPicPr>
          <p:cNvPr id="89" name="图形 8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02362" y="2818167"/>
            <a:ext cx="667998" cy="667998"/>
          </a:xfrm>
          <a:prstGeom prst="rect">
            <a:avLst/>
          </a:prstGeom>
        </p:spPr>
      </p:pic>
      <p:sp>
        <p:nvSpPr>
          <p:cNvPr id="90" name="矩形 89"/>
          <p:cNvSpPr/>
          <p:nvPr/>
        </p:nvSpPr>
        <p:spPr>
          <a:xfrm>
            <a:off x="7982400" y="4228822"/>
            <a:ext cx="3600000" cy="85154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panose="00000500000000000000" pitchFamily="2" charset="-122"/>
              <a:ea typeface="HarmonyOS Sans SC" panose="00000500000000000000" pitchFamily="2" charset="-122"/>
            </a:endParaRPr>
          </a:p>
        </p:txBody>
      </p:sp>
      <p:sp>
        <p:nvSpPr>
          <p:cNvPr id="91" name="矩形 90"/>
          <p:cNvSpPr/>
          <p:nvPr/>
        </p:nvSpPr>
        <p:spPr>
          <a:xfrm>
            <a:off x="7982400" y="5125661"/>
            <a:ext cx="3600000" cy="85154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panose="00000500000000000000" pitchFamily="2" charset="-122"/>
              <a:ea typeface="HarmonyOS Sans SC" panose="00000500000000000000" pitchFamily="2" charset="-122"/>
            </a:endParaRPr>
          </a:p>
        </p:txBody>
      </p:sp>
      <p:sp>
        <p:nvSpPr>
          <p:cNvPr id="92" name="文本框 91"/>
          <p:cNvSpPr txBox="1"/>
          <p:nvPr/>
        </p:nvSpPr>
        <p:spPr>
          <a:xfrm>
            <a:off x="7982400" y="4269629"/>
            <a:ext cx="2662555" cy="847725"/>
          </a:xfrm>
          <a:prstGeom prst="rect">
            <a:avLst/>
          </a:prstGeom>
          <a:noFill/>
        </p:spPr>
        <p:txBody>
          <a:bodyPr wrap="none" rtlCol="0">
            <a:spAutoFit/>
          </a:bodyPr>
          <a:lstStyle/>
          <a:p>
            <a:r>
              <a:rPr lang="en-US" altLang="zh-CN" dirty="0">
                <a:solidFill>
                  <a:schemeClr val="accent1"/>
                </a:solidFill>
                <a:latin typeface="HarmonyOS Sans SC" panose="00000500000000000000" pitchFamily="2" charset="-122"/>
                <a:ea typeface="HarmonyOS Sans SC" panose="00000500000000000000" pitchFamily="2" charset="-122"/>
              </a:rPr>
              <a:t>2022</a:t>
            </a:r>
            <a:r>
              <a:rPr lang="zh-CN" altLang="en-US" dirty="0">
                <a:solidFill>
                  <a:schemeClr val="accent1"/>
                </a:solidFill>
                <a:latin typeface="HarmonyOS Sans SC" panose="00000500000000000000" pitchFamily="2" charset="-122"/>
                <a:ea typeface="HarmonyOS Sans SC" panose="00000500000000000000" pitchFamily="2" charset="-122"/>
              </a:rPr>
              <a:t>年</a:t>
            </a:r>
            <a:r>
              <a:rPr lang="en-US" altLang="zh-CN" dirty="0">
                <a:solidFill>
                  <a:schemeClr val="accent1"/>
                </a:solidFill>
                <a:latin typeface="HarmonyOS Sans SC" panose="00000500000000000000" pitchFamily="2" charset="-122"/>
                <a:ea typeface="HarmonyOS Sans SC" panose="00000500000000000000" pitchFamily="2" charset="-122"/>
              </a:rPr>
              <a:t>9</a:t>
            </a:r>
            <a:r>
              <a:rPr lang="zh-CN" altLang="en-US">
                <a:solidFill>
                  <a:schemeClr val="accent1"/>
                </a:solidFill>
                <a:latin typeface="HarmonyOS Sans SC" panose="00000500000000000000" pitchFamily="2" charset="-122"/>
                <a:ea typeface="HarmonyOS Sans SC" panose="00000500000000000000" pitchFamily="2" charset="-122"/>
              </a:rPr>
              <a:t>月设立贸易板块</a:t>
            </a:r>
            <a:endParaRPr lang="en-US" altLang="zh-CN" b="1" dirty="0">
              <a:solidFill>
                <a:schemeClr val="accent1"/>
              </a:solidFill>
              <a:latin typeface="HarmonyOS Sans SC" panose="00000500000000000000" pitchFamily="2" charset="-122"/>
              <a:ea typeface="HarmonyOS Sans SC" panose="00000500000000000000" pitchFamily="2" charset="-122"/>
            </a:endParaRPr>
          </a:p>
          <a:p>
            <a:pPr>
              <a:lnSpc>
                <a:spcPct val="130000"/>
              </a:lnSpc>
            </a:pPr>
            <a:r>
              <a:rPr lang="zh-CN" altLang="en-US" sz="1200" dirty="0">
                <a:solidFill>
                  <a:schemeClr val="accent1"/>
                </a:solidFill>
                <a:latin typeface="HarmonyOS Sans SC" panose="00000500000000000000" pitchFamily="2" charset="-122"/>
                <a:ea typeface="HarmonyOS Sans SC" panose="00000500000000000000" pitchFamily="2" charset="-122"/>
              </a:rPr>
              <a:t>累计拓展贸易额</a:t>
            </a:r>
            <a:r>
              <a:rPr lang="zh-CN" altLang="en-US" sz="1200">
                <a:solidFill>
                  <a:schemeClr val="accent1"/>
                </a:solidFill>
                <a:latin typeface="HarmonyOS Sans SC" panose="00000500000000000000" pitchFamily="2" charset="-122"/>
                <a:ea typeface="HarmonyOS Sans SC" panose="00000500000000000000" pitchFamily="2" charset="-122"/>
              </a:rPr>
              <a:t>超</a:t>
            </a:r>
            <a:r>
              <a:rPr lang="zh-CN" altLang="en-US">
                <a:solidFill>
                  <a:schemeClr val="bg1"/>
                </a:solidFill>
                <a:latin typeface="HarmonyOS Sans SC" panose="00000500000000000000" pitchFamily="2" charset="-122"/>
                <a:ea typeface="HarmonyOS Sans SC" panose="00000500000000000000" pitchFamily="2" charset="-122"/>
              </a:rPr>
              <a:t> </a:t>
            </a:r>
            <a:r>
              <a:rPr lang="en-US" altLang="zh-CN" sz="2400" b="1" dirty="0">
                <a:gradFill>
                  <a:gsLst>
                    <a:gs pos="100000">
                      <a:srgbClr val="275DF5"/>
                    </a:gs>
                    <a:gs pos="0">
                      <a:srgbClr val="4BD1FB"/>
                    </a:gs>
                  </a:gsLst>
                  <a:lin ang="2700000" scaled="0"/>
                </a:gradFill>
                <a:latin typeface="HarmonyOS Sans SC" panose="00000500000000000000" pitchFamily="2" charset="-122"/>
                <a:ea typeface="HarmonyOS Sans SC" panose="00000500000000000000" pitchFamily="2" charset="-122"/>
              </a:rPr>
              <a:t>120</a:t>
            </a:r>
            <a:r>
              <a:rPr lang="zh-CN" altLang="en-US" sz="2000" b="1">
                <a:gradFill>
                  <a:gsLst>
                    <a:gs pos="100000">
                      <a:srgbClr val="275DF5"/>
                    </a:gs>
                    <a:gs pos="0">
                      <a:srgbClr val="4BD1FB"/>
                    </a:gs>
                  </a:gsLst>
                  <a:lin ang="2700000" scaled="0"/>
                </a:gradFill>
                <a:latin typeface="HarmonyOS Sans SC" panose="00000500000000000000" pitchFamily="2" charset="-122"/>
                <a:ea typeface="HarmonyOS Sans SC" panose="00000500000000000000" pitchFamily="2" charset="-122"/>
              </a:rPr>
              <a:t>亿</a:t>
            </a:r>
            <a:r>
              <a:rPr lang="zh-CN" altLang="en-US" sz="2000" b="1" dirty="0">
                <a:gradFill>
                  <a:gsLst>
                    <a:gs pos="100000">
                      <a:srgbClr val="275DF5"/>
                    </a:gs>
                    <a:gs pos="0">
                      <a:srgbClr val="4BD1FB"/>
                    </a:gs>
                  </a:gsLst>
                  <a:lin ang="2700000" scaled="0"/>
                </a:gradFill>
                <a:latin typeface="HarmonyOS Sans SC" panose="00000500000000000000" pitchFamily="2" charset="-122"/>
                <a:ea typeface="HarmonyOS Sans SC" panose="00000500000000000000" pitchFamily="2" charset="-122"/>
              </a:rPr>
              <a:t>元</a:t>
            </a:r>
            <a:endParaRPr lang="zh-CN" altLang="en-US" sz="2000" b="1" dirty="0">
              <a:gradFill>
                <a:gsLst>
                  <a:gs pos="100000">
                    <a:srgbClr val="275DF5"/>
                  </a:gs>
                  <a:gs pos="0">
                    <a:srgbClr val="4BD1FB"/>
                  </a:gs>
                </a:gsLst>
                <a:lin ang="2700000" scaled="0"/>
              </a:gradFill>
              <a:latin typeface="HarmonyOS Sans SC" panose="00000500000000000000" pitchFamily="2" charset="-122"/>
              <a:ea typeface="HarmonyOS Sans SC" panose="00000500000000000000" pitchFamily="2" charset="-122"/>
            </a:endParaRPr>
          </a:p>
        </p:txBody>
      </p:sp>
      <p:sp>
        <p:nvSpPr>
          <p:cNvPr id="93" name="文本框 92"/>
          <p:cNvSpPr txBox="1"/>
          <p:nvPr/>
        </p:nvSpPr>
        <p:spPr>
          <a:xfrm>
            <a:off x="7982400" y="5166019"/>
            <a:ext cx="3134191" cy="713913"/>
          </a:xfrm>
          <a:prstGeom prst="rect">
            <a:avLst/>
          </a:prstGeom>
          <a:noFill/>
        </p:spPr>
        <p:txBody>
          <a:bodyPr wrap="none" rtlCol="0">
            <a:spAutoFit/>
          </a:bodyPr>
          <a:lstStyle/>
          <a:p>
            <a:r>
              <a:rPr lang="en-US" altLang="zh-CN" dirty="0">
                <a:solidFill>
                  <a:schemeClr val="accent1"/>
                </a:solidFill>
                <a:latin typeface="HarmonyOS Sans SC" panose="00000500000000000000" pitchFamily="2" charset="-122"/>
                <a:ea typeface="HarmonyOS Sans SC" panose="00000500000000000000" pitchFamily="2" charset="-122"/>
              </a:rPr>
              <a:t>2023</a:t>
            </a:r>
            <a:r>
              <a:rPr lang="zh-CN" altLang="en-US" dirty="0">
                <a:solidFill>
                  <a:schemeClr val="accent1"/>
                </a:solidFill>
                <a:latin typeface="HarmonyOS Sans SC" panose="00000500000000000000" pitchFamily="2" charset="-122"/>
                <a:ea typeface="HarmonyOS Sans SC" panose="00000500000000000000" pitchFamily="2" charset="-122"/>
              </a:rPr>
              <a:t>年</a:t>
            </a:r>
            <a:r>
              <a:rPr lang="en-US" altLang="zh-CN" dirty="0">
                <a:solidFill>
                  <a:schemeClr val="accent1"/>
                </a:solidFill>
                <a:latin typeface="HarmonyOS Sans SC" panose="00000500000000000000" pitchFamily="2" charset="-122"/>
                <a:ea typeface="HarmonyOS Sans SC" panose="00000500000000000000" pitchFamily="2" charset="-122"/>
              </a:rPr>
              <a:t>1</a:t>
            </a:r>
            <a:r>
              <a:rPr lang="zh-CN" altLang="en-US" dirty="0">
                <a:solidFill>
                  <a:schemeClr val="accent1"/>
                </a:solidFill>
                <a:latin typeface="HarmonyOS Sans SC" panose="00000500000000000000" pitchFamily="2" charset="-122"/>
                <a:ea typeface="HarmonyOS Sans SC" panose="00000500000000000000" pitchFamily="2" charset="-122"/>
              </a:rPr>
              <a:t>月设立生态景观公司</a:t>
            </a:r>
            <a:endParaRPr lang="en-US" altLang="zh-CN" b="1" dirty="0">
              <a:solidFill>
                <a:schemeClr val="accent1"/>
              </a:solidFill>
              <a:latin typeface="HarmonyOS Sans SC" panose="00000500000000000000" pitchFamily="2" charset="-122"/>
              <a:ea typeface="HarmonyOS Sans SC" panose="00000500000000000000" pitchFamily="2" charset="-122"/>
            </a:endParaRPr>
          </a:p>
          <a:p>
            <a:pPr>
              <a:lnSpc>
                <a:spcPct val="130000"/>
              </a:lnSpc>
              <a:spcBef>
                <a:spcPts val="1000"/>
              </a:spcBef>
            </a:pPr>
            <a:r>
              <a:rPr lang="zh-CN" altLang="en-US" sz="1200">
                <a:solidFill>
                  <a:schemeClr val="accent1"/>
                </a:solidFill>
                <a:latin typeface="HarmonyOS Sans SC" panose="00000500000000000000" pitchFamily="2" charset="-122"/>
                <a:ea typeface="HarmonyOS Sans SC" panose="00000500000000000000" pitchFamily="2" charset="-122"/>
              </a:rPr>
              <a:t>荣获羊城工匠杯银奖、广州园博会金奖等</a:t>
            </a:r>
            <a:endParaRPr lang="en-US" altLang="zh-CN" sz="1200" dirty="0">
              <a:solidFill>
                <a:schemeClr val="accent1"/>
              </a:solidFill>
              <a:latin typeface="HarmonyOS Sans SC" panose="00000500000000000000" pitchFamily="2" charset="-122"/>
              <a:ea typeface="HarmonyOS Sans SC" panose="00000500000000000000" pitchFamily="2" charset="-122"/>
            </a:endParaRPr>
          </a:p>
        </p:txBody>
      </p:sp>
      <p:sp>
        <p:nvSpPr>
          <p:cNvPr id="94" name="trees_329639"/>
          <p:cNvSpPr/>
          <p:nvPr/>
        </p:nvSpPr>
        <p:spPr>
          <a:xfrm>
            <a:off x="11082251" y="5459471"/>
            <a:ext cx="435378" cy="421221"/>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 name="connsiteX99" fmla="*/ 373273 h 605239"/>
              <a:gd name="connsiteY99" fmla="*/ 373273 h 605239"/>
              <a:gd name="connsiteX100" fmla="*/ 373273 h 605239"/>
              <a:gd name="connsiteY100" fmla="*/ 373273 h 605239"/>
              <a:gd name="connsiteX101" fmla="*/ 373273 h 605239"/>
              <a:gd name="connsiteY101" fmla="*/ 373273 h 605239"/>
              <a:gd name="connsiteX102" fmla="*/ 373273 h 605239"/>
              <a:gd name="connsiteY102" fmla="*/ 373273 h 605239"/>
              <a:gd name="connsiteX103" fmla="*/ 373273 h 605239"/>
              <a:gd name="connsiteY103" fmla="*/ 373273 h 605239"/>
              <a:gd name="connsiteX104" fmla="*/ 373273 h 605239"/>
              <a:gd name="connsiteY104" fmla="*/ 373273 h 605239"/>
              <a:gd name="connsiteX105" fmla="*/ 373273 h 605239"/>
              <a:gd name="connsiteY105" fmla="*/ 373273 h 605239"/>
              <a:gd name="connsiteX106" fmla="*/ 373273 h 605239"/>
              <a:gd name="connsiteY106" fmla="*/ 373273 h 605239"/>
              <a:gd name="connsiteX107" fmla="*/ 373273 h 605239"/>
              <a:gd name="connsiteY107" fmla="*/ 373273 h 605239"/>
              <a:gd name="connsiteX108" fmla="*/ 373273 h 605239"/>
              <a:gd name="connsiteY108" fmla="*/ 373273 h 605239"/>
              <a:gd name="connsiteX109" fmla="*/ 373273 h 605239"/>
              <a:gd name="connsiteY109" fmla="*/ 373273 h 605239"/>
              <a:gd name="connsiteX110" fmla="*/ 373273 h 605239"/>
              <a:gd name="connsiteY110" fmla="*/ 373273 h 605239"/>
              <a:gd name="connsiteX111" fmla="*/ 373273 h 605239"/>
              <a:gd name="connsiteY111" fmla="*/ 373273 h 605239"/>
              <a:gd name="connsiteX112" fmla="*/ 373273 h 605239"/>
              <a:gd name="connsiteY112" fmla="*/ 373273 h 605239"/>
              <a:gd name="connsiteX113" fmla="*/ 373273 h 605239"/>
              <a:gd name="connsiteY113" fmla="*/ 373273 h 605239"/>
              <a:gd name="connsiteX114" fmla="*/ 373273 h 605239"/>
              <a:gd name="connsiteY114" fmla="*/ 373273 h 605239"/>
              <a:gd name="connsiteX115" fmla="*/ 373273 h 605239"/>
              <a:gd name="connsiteY115" fmla="*/ 373273 h 605239"/>
              <a:gd name="connsiteX116" fmla="*/ 373273 h 605239"/>
              <a:gd name="connsiteY116" fmla="*/ 373273 h 605239"/>
              <a:gd name="connsiteX117" fmla="*/ 373273 h 605239"/>
              <a:gd name="connsiteY117" fmla="*/ 373273 h 605239"/>
              <a:gd name="connsiteX118" fmla="*/ 373273 h 605239"/>
              <a:gd name="connsiteY118" fmla="*/ 373273 h 605239"/>
              <a:gd name="connsiteX119" fmla="*/ 373273 h 605239"/>
              <a:gd name="connsiteY119" fmla="*/ 373273 h 605239"/>
              <a:gd name="connsiteX120" fmla="*/ 373273 h 605239"/>
              <a:gd name="connsiteY120" fmla="*/ 373273 h 605239"/>
              <a:gd name="connsiteX121" fmla="*/ 373273 h 605239"/>
              <a:gd name="connsiteY121" fmla="*/ 373273 h 605239"/>
              <a:gd name="connsiteX122" fmla="*/ 373273 h 605239"/>
              <a:gd name="connsiteY122" fmla="*/ 373273 h 605239"/>
              <a:gd name="connsiteX123" fmla="*/ 373273 h 605239"/>
              <a:gd name="connsiteY123" fmla="*/ 373273 h 605239"/>
              <a:gd name="connsiteX124" fmla="*/ 373273 h 605239"/>
              <a:gd name="connsiteY124" fmla="*/ 373273 h 605239"/>
              <a:gd name="connsiteX125" fmla="*/ 373273 h 605239"/>
              <a:gd name="connsiteY125" fmla="*/ 373273 h 605239"/>
              <a:gd name="connsiteX126" fmla="*/ 373273 h 605239"/>
              <a:gd name="connsiteY126" fmla="*/ 373273 h 605239"/>
              <a:gd name="connsiteX127" fmla="*/ 373273 h 605239"/>
              <a:gd name="connsiteY127" fmla="*/ 373273 h 605239"/>
              <a:gd name="connsiteX128" fmla="*/ 373273 h 605239"/>
              <a:gd name="connsiteY128" fmla="*/ 373273 h 605239"/>
              <a:gd name="connsiteX129" fmla="*/ 373273 h 605239"/>
              <a:gd name="connsiteY129" fmla="*/ 373273 h 605239"/>
              <a:gd name="connsiteX130" fmla="*/ 373273 h 605239"/>
              <a:gd name="connsiteY130" fmla="*/ 373273 h 605239"/>
              <a:gd name="connsiteX131" fmla="*/ 373273 h 605239"/>
              <a:gd name="connsiteY131" fmla="*/ 373273 h 605239"/>
              <a:gd name="connsiteX132" fmla="*/ 373273 h 605239"/>
              <a:gd name="connsiteY132" fmla="*/ 373273 h 605239"/>
              <a:gd name="connsiteX133" fmla="*/ 373273 h 605239"/>
              <a:gd name="connsiteY133" fmla="*/ 373273 h 605239"/>
              <a:gd name="connsiteX134" fmla="*/ 373273 h 605239"/>
              <a:gd name="connsiteY134" fmla="*/ 373273 h 605239"/>
              <a:gd name="connsiteX135" fmla="*/ 373273 h 605239"/>
              <a:gd name="connsiteY135" fmla="*/ 373273 h 605239"/>
              <a:gd name="connsiteX136" fmla="*/ 373273 h 605239"/>
              <a:gd name="connsiteY136" fmla="*/ 373273 h 605239"/>
              <a:gd name="connsiteX137" fmla="*/ 373273 h 605239"/>
              <a:gd name="connsiteY137" fmla="*/ 373273 h 605239"/>
              <a:gd name="connsiteX138" fmla="*/ 373273 h 605239"/>
              <a:gd name="connsiteY138" fmla="*/ 373273 h 605239"/>
              <a:gd name="connsiteX139" fmla="*/ 373273 h 605239"/>
              <a:gd name="connsiteY139" fmla="*/ 373273 h 605239"/>
              <a:gd name="connsiteX140" fmla="*/ 373273 h 605239"/>
              <a:gd name="connsiteY140" fmla="*/ 373273 h 605239"/>
              <a:gd name="connsiteX141" fmla="*/ 373273 h 605239"/>
              <a:gd name="connsiteY141" fmla="*/ 373273 h 605239"/>
              <a:gd name="connsiteX142" fmla="*/ 373273 h 605239"/>
              <a:gd name="connsiteY142" fmla="*/ 373273 h 605239"/>
              <a:gd name="connsiteX143" fmla="*/ 373273 h 605239"/>
              <a:gd name="connsiteY143" fmla="*/ 373273 h 605239"/>
              <a:gd name="connsiteX144" fmla="*/ 373273 h 605239"/>
              <a:gd name="connsiteY144" fmla="*/ 373273 h 605239"/>
              <a:gd name="connsiteX145" fmla="*/ 373273 h 605239"/>
              <a:gd name="connsiteY145" fmla="*/ 373273 h 605239"/>
              <a:gd name="connsiteX146" fmla="*/ 373273 h 605239"/>
              <a:gd name="connsiteY146" fmla="*/ 373273 h 605239"/>
              <a:gd name="connsiteX147" fmla="*/ 373273 h 605239"/>
              <a:gd name="connsiteY147" fmla="*/ 373273 h 605239"/>
              <a:gd name="connsiteX148" fmla="*/ 373273 h 605239"/>
              <a:gd name="connsiteY148" fmla="*/ 373273 h 605239"/>
              <a:gd name="connsiteX149" fmla="*/ 373273 h 605239"/>
              <a:gd name="connsiteY149" fmla="*/ 373273 h 605239"/>
              <a:gd name="connsiteX150" fmla="*/ 373273 h 605239"/>
              <a:gd name="connsiteY150" fmla="*/ 373273 h 605239"/>
              <a:gd name="connsiteX151" fmla="*/ 373273 h 605239"/>
              <a:gd name="connsiteY151" fmla="*/ 373273 h 605239"/>
              <a:gd name="connsiteX152" fmla="*/ 373273 h 605239"/>
              <a:gd name="connsiteY152" fmla="*/ 373273 h 605239"/>
              <a:gd name="connsiteX153" fmla="*/ 373273 h 605239"/>
              <a:gd name="connsiteY153" fmla="*/ 373273 h 605239"/>
              <a:gd name="connsiteX154" fmla="*/ 373273 h 605239"/>
              <a:gd name="connsiteY154" fmla="*/ 373273 h 605239"/>
              <a:gd name="connsiteX155" fmla="*/ 373273 h 605239"/>
              <a:gd name="connsiteY155" fmla="*/ 373273 h 605239"/>
              <a:gd name="connsiteX156" fmla="*/ 373273 h 605239"/>
              <a:gd name="connsiteY156" fmla="*/ 373273 h 605239"/>
              <a:gd name="connsiteX157" fmla="*/ 373273 h 605239"/>
              <a:gd name="connsiteY157" fmla="*/ 373273 h 605239"/>
              <a:gd name="connsiteX158" fmla="*/ 373273 h 605239"/>
              <a:gd name="connsiteY158" fmla="*/ 373273 h 605239"/>
              <a:gd name="connsiteX159" fmla="*/ 373273 h 605239"/>
              <a:gd name="connsiteY159" fmla="*/ 373273 h 605239"/>
              <a:gd name="connsiteX160" fmla="*/ 373273 h 605239"/>
              <a:gd name="connsiteY160" fmla="*/ 373273 h 605239"/>
              <a:gd name="connsiteX161" fmla="*/ 373273 h 605239"/>
              <a:gd name="connsiteY161" fmla="*/ 373273 h 605239"/>
              <a:gd name="connsiteX162" fmla="*/ 373273 h 605239"/>
              <a:gd name="connsiteY162" fmla="*/ 373273 h 605239"/>
              <a:gd name="connsiteX163" fmla="*/ 373273 h 605239"/>
              <a:gd name="connsiteY163" fmla="*/ 373273 h 605239"/>
              <a:gd name="connsiteX164" fmla="*/ 373273 h 605239"/>
              <a:gd name="connsiteY164" fmla="*/ 373273 h 605239"/>
              <a:gd name="connsiteX165" fmla="*/ 373273 h 605239"/>
              <a:gd name="connsiteY165" fmla="*/ 373273 h 605239"/>
              <a:gd name="connsiteX166" fmla="*/ 373273 h 605239"/>
              <a:gd name="connsiteY166" fmla="*/ 373273 h 605239"/>
              <a:gd name="connsiteX167" fmla="*/ 373273 h 605239"/>
              <a:gd name="connsiteY167" fmla="*/ 373273 h 605239"/>
              <a:gd name="connsiteX168" fmla="*/ 373273 h 605239"/>
              <a:gd name="connsiteY168" fmla="*/ 373273 h 605239"/>
              <a:gd name="connsiteX169" fmla="*/ 373273 h 605239"/>
              <a:gd name="connsiteY169" fmla="*/ 373273 h 605239"/>
              <a:gd name="connsiteX170" fmla="*/ 373273 h 605239"/>
              <a:gd name="connsiteY170" fmla="*/ 373273 h 605239"/>
              <a:gd name="connsiteX171" fmla="*/ 373273 h 605239"/>
              <a:gd name="connsiteY171" fmla="*/ 373273 h 605239"/>
              <a:gd name="connsiteX172" fmla="*/ 373273 h 605239"/>
              <a:gd name="connsiteY172" fmla="*/ 373273 h 605239"/>
              <a:gd name="connsiteX173" fmla="*/ 373273 h 605239"/>
              <a:gd name="connsiteY173" fmla="*/ 373273 h 605239"/>
              <a:gd name="connsiteX174" fmla="*/ 373273 h 605239"/>
              <a:gd name="connsiteY174" fmla="*/ 373273 h 605239"/>
              <a:gd name="connsiteX175" fmla="*/ 373273 h 605239"/>
              <a:gd name="connsiteY175" fmla="*/ 373273 h 605239"/>
              <a:gd name="connsiteX176" fmla="*/ 373273 h 605239"/>
              <a:gd name="connsiteY176" fmla="*/ 373273 h 605239"/>
              <a:gd name="connsiteX177" fmla="*/ 373273 h 605239"/>
              <a:gd name="connsiteY177" fmla="*/ 373273 h 605239"/>
              <a:gd name="connsiteX178" fmla="*/ 373273 h 605239"/>
              <a:gd name="connsiteY178" fmla="*/ 373273 h 605239"/>
              <a:gd name="connsiteX179" fmla="*/ 373273 h 605239"/>
              <a:gd name="connsiteY179" fmla="*/ 373273 h 605239"/>
              <a:gd name="connsiteX180" fmla="*/ 373273 h 605239"/>
              <a:gd name="connsiteY180" fmla="*/ 373273 h 605239"/>
              <a:gd name="connsiteX181" fmla="*/ 373273 h 605239"/>
              <a:gd name="connsiteY181" fmla="*/ 373273 h 605239"/>
              <a:gd name="connsiteX182" fmla="*/ 373273 h 605239"/>
              <a:gd name="connsiteY182" fmla="*/ 373273 h 605239"/>
              <a:gd name="connsiteX183" fmla="*/ 373273 h 605239"/>
              <a:gd name="connsiteY183" fmla="*/ 373273 h 605239"/>
              <a:gd name="connsiteX184" fmla="*/ 373273 h 605239"/>
              <a:gd name="connsiteY184" fmla="*/ 373273 h 605239"/>
              <a:gd name="connsiteX185" fmla="*/ 373273 h 605239"/>
              <a:gd name="connsiteY185" fmla="*/ 373273 h 605239"/>
              <a:gd name="connsiteX186" fmla="*/ 373273 h 605239"/>
              <a:gd name="connsiteY186"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607639" h="587881">
                <a:moveTo>
                  <a:pt x="312464" y="540602"/>
                </a:moveTo>
                <a:lnTo>
                  <a:pt x="540320" y="540602"/>
                </a:lnTo>
                <a:lnTo>
                  <a:pt x="540320" y="559231"/>
                </a:lnTo>
                <a:lnTo>
                  <a:pt x="312464" y="559231"/>
                </a:lnTo>
                <a:close/>
                <a:moveTo>
                  <a:pt x="446961" y="493394"/>
                </a:moveTo>
                <a:lnTo>
                  <a:pt x="475611" y="493394"/>
                </a:lnTo>
                <a:lnTo>
                  <a:pt x="475611" y="512023"/>
                </a:lnTo>
                <a:lnTo>
                  <a:pt x="446961" y="512023"/>
                </a:lnTo>
                <a:close/>
                <a:moveTo>
                  <a:pt x="219106" y="493394"/>
                </a:moveTo>
                <a:lnTo>
                  <a:pt x="427062" y="493394"/>
                </a:lnTo>
                <a:lnTo>
                  <a:pt x="427062" y="512023"/>
                </a:lnTo>
                <a:lnTo>
                  <a:pt x="219106" y="512023"/>
                </a:lnTo>
                <a:close/>
                <a:moveTo>
                  <a:pt x="64739" y="493394"/>
                </a:moveTo>
                <a:lnTo>
                  <a:pt x="83430" y="493394"/>
                </a:lnTo>
                <a:lnTo>
                  <a:pt x="83430" y="569215"/>
                </a:lnTo>
                <a:lnTo>
                  <a:pt x="94644" y="569215"/>
                </a:lnTo>
                <a:lnTo>
                  <a:pt x="94644" y="539348"/>
                </a:lnTo>
                <a:lnTo>
                  <a:pt x="113335" y="539348"/>
                </a:lnTo>
                <a:lnTo>
                  <a:pt x="113335" y="569215"/>
                </a:lnTo>
                <a:lnTo>
                  <a:pt x="123304" y="569215"/>
                </a:lnTo>
                <a:lnTo>
                  <a:pt x="123304" y="530637"/>
                </a:lnTo>
                <a:lnTo>
                  <a:pt x="141995" y="530637"/>
                </a:lnTo>
                <a:lnTo>
                  <a:pt x="141995" y="569215"/>
                </a:lnTo>
                <a:lnTo>
                  <a:pt x="151963" y="569215"/>
                </a:lnTo>
                <a:lnTo>
                  <a:pt x="151963" y="493394"/>
                </a:lnTo>
                <a:lnTo>
                  <a:pt x="170654" y="493394"/>
                </a:lnTo>
                <a:lnTo>
                  <a:pt x="170654" y="569215"/>
                </a:lnTo>
                <a:lnTo>
                  <a:pt x="189256" y="569215"/>
                </a:lnTo>
                <a:lnTo>
                  <a:pt x="189256" y="587881"/>
                </a:lnTo>
                <a:lnTo>
                  <a:pt x="19970" y="587881"/>
                </a:lnTo>
                <a:lnTo>
                  <a:pt x="19970" y="569215"/>
                </a:lnTo>
                <a:lnTo>
                  <a:pt x="37415" y="569215"/>
                </a:lnTo>
                <a:lnTo>
                  <a:pt x="37415" y="521927"/>
                </a:lnTo>
                <a:lnTo>
                  <a:pt x="56105" y="521927"/>
                </a:lnTo>
                <a:lnTo>
                  <a:pt x="56105" y="569215"/>
                </a:lnTo>
                <a:lnTo>
                  <a:pt x="64739" y="569215"/>
                </a:lnTo>
                <a:close/>
                <a:moveTo>
                  <a:pt x="94628" y="483444"/>
                </a:moveTo>
                <a:lnTo>
                  <a:pt x="113328" y="483444"/>
                </a:lnTo>
                <a:lnTo>
                  <a:pt x="113328" y="530652"/>
                </a:lnTo>
                <a:lnTo>
                  <a:pt x="94628" y="530652"/>
                </a:lnTo>
                <a:close/>
                <a:moveTo>
                  <a:pt x="101288" y="319562"/>
                </a:moveTo>
                <a:cubicBezTo>
                  <a:pt x="95591" y="334847"/>
                  <a:pt x="82330" y="346400"/>
                  <a:pt x="65953" y="349510"/>
                </a:cubicBezTo>
                <a:lnTo>
                  <a:pt x="65953" y="363373"/>
                </a:lnTo>
                <a:lnTo>
                  <a:pt x="113303" y="383813"/>
                </a:lnTo>
                <a:lnTo>
                  <a:pt x="113303" y="321429"/>
                </a:lnTo>
                <a:cubicBezTo>
                  <a:pt x="109298" y="321073"/>
                  <a:pt x="105293" y="320451"/>
                  <a:pt x="101288" y="319562"/>
                </a:cubicBezTo>
                <a:close/>
                <a:moveTo>
                  <a:pt x="56963" y="274596"/>
                </a:moveTo>
                <a:cubicBezTo>
                  <a:pt x="41209" y="274596"/>
                  <a:pt x="28303" y="287393"/>
                  <a:pt x="28303" y="303122"/>
                </a:cubicBezTo>
                <a:cubicBezTo>
                  <a:pt x="28303" y="318940"/>
                  <a:pt x="41209" y="331737"/>
                  <a:pt x="56963" y="331737"/>
                </a:cubicBezTo>
                <a:cubicBezTo>
                  <a:pt x="72717" y="331737"/>
                  <a:pt x="85623" y="318940"/>
                  <a:pt x="85623" y="303122"/>
                </a:cubicBezTo>
                <a:cubicBezTo>
                  <a:pt x="85623" y="287393"/>
                  <a:pt x="72717" y="274596"/>
                  <a:pt x="56963" y="274596"/>
                </a:cubicBezTo>
                <a:close/>
                <a:moveTo>
                  <a:pt x="560110" y="236650"/>
                </a:moveTo>
                <a:cubicBezTo>
                  <a:pt x="544356" y="236650"/>
                  <a:pt x="531540" y="249447"/>
                  <a:pt x="531540" y="265265"/>
                </a:cubicBezTo>
                <a:cubicBezTo>
                  <a:pt x="531540" y="280994"/>
                  <a:pt x="544356" y="293791"/>
                  <a:pt x="560110" y="293791"/>
                </a:cubicBezTo>
                <a:cubicBezTo>
                  <a:pt x="575953" y="293791"/>
                  <a:pt x="588770" y="280994"/>
                  <a:pt x="588770" y="265265"/>
                </a:cubicBezTo>
                <a:cubicBezTo>
                  <a:pt x="588770" y="249447"/>
                  <a:pt x="575953" y="236650"/>
                  <a:pt x="560110" y="236650"/>
                </a:cubicBezTo>
                <a:close/>
                <a:moveTo>
                  <a:pt x="483091" y="207392"/>
                </a:moveTo>
                <a:lnTo>
                  <a:pt x="501791" y="207392"/>
                </a:lnTo>
                <a:lnTo>
                  <a:pt x="501791" y="283320"/>
                </a:lnTo>
                <a:lnTo>
                  <a:pt x="483091" y="283320"/>
                </a:lnTo>
                <a:close/>
                <a:moveTo>
                  <a:pt x="123450" y="132410"/>
                </a:moveTo>
                <a:cubicBezTo>
                  <a:pt x="76188" y="132410"/>
                  <a:pt x="37827" y="170712"/>
                  <a:pt x="37827" y="217811"/>
                </a:cubicBezTo>
                <a:cubicBezTo>
                  <a:pt x="37827" y="231496"/>
                  <a:pt x="41120" y="244915"/>
                  <a:pt x="47262" y="256912"/>
                </a:cubicBezTo>
                <a:cubicBezTo>
                  <a:pt x="50377" y="256290"/>
                  <a:pt x="53670" y="255934"/>
                  <a:pt x="56963" y="255934"/>
                </a:cubicBezTo>
                <a:cubicBezTo>
                  <a:pt x="82419" y="255934"/>
                  <a:pt x="103157" y="276018"/>
                  <a:pt x="104225" y="301167"/>
                </a:cubicBezTo>
                <a:cubicBezTo>
                  <a:pt x="107251" y="301878"/>
                  <a:pt x="110277" y="302322"/>
                  <a:pt x="113303" y="302678"/>
                </a:cubicBezTo>
                <a:lnTo>
                  <a:pt x="113303" y="227319"/>
                </a:lnTo>
                <a:lnTo>
                  <a:pt x="131995" y="227319"/>
                </a:lnTo>
                <a:lnTo>
                  <a:pt x="131995" y="248292"/>
                </a:lnTo>
                <a:lnTo>
                  <a:pt x="146680" y="238516"/>
                </a:lnTo>
                <a:lnTo>
                  <a:pt x="157094" y="254068"/>
                </a:lnTo>
                <a:lnTo>
                  <a:pt x="131995" y="270775"/>
                </a:lnTo>
                <a:lnTo>
                  <a:pt x="131995" y="302856"/>
                </a:lnTo>
                <a:cubicBezTo>
                  <a:pt x="175162" y="298590"/>
                  <a:pt x="208984" y="262066"/>
                  <a:pt x="208984" y="217811"/>
                </a:cubicBezTo>
                <a:cubicBezTo>
                  <a:pt x="208984" y="170712"/>
                  <a:pt x="170623" y="132410"/>
                  <a:pt x="123450" y="132410"/>
                </a:cubicBezTo>
                <a:close/>
                <a:moveTo>
                  <a:pt x="446184" y="122902"/>
                </a:moveTo>
                <a:cubicBezTo>
                  <a:pt x="425178" y="122902"/>
                  <a:pt x="408089" y="139964"/>
                  <a:pt x="408089" y="160936"/>
                </a:cubicBezTo>
                <a:cubicBezTo>
                  <a:pt x="408089" y="181998"/>
                  <a:pt x="425178" y="199060"/>
                  <a:pt x="446184" y="199060"/>
                </a:cubicBezTo>
                <a:cubicBezTo>
                  <a:pt x="467278" y="199060"/>
                  <a:pt x="484367" y="181998"/>
                  <a:pt x="484367" y="160936"/>
                </a:cubicBezTo>
                <a:cubicBezTo>
                  <a:pt x="484367" y="139964"/>
                  <a:pt x="467278" y="122902"/>
                  <a:pt x="446184" y="122902"/>
                </a:cubicBezTo>
                <a:close/>
                <a:moveTo>
                  <a:pt x="360757" y="55323"/>
                </a:moveTo>
                <a:lnTo>
                  <a:pt x="429109" y="407515"/>
                </a:lnTo>
                <a:lnTo>
                  <a:pt x="379803" y="407515"/>
                </a:lnTo>
                <a:lnTo>
                  <a:pt x="379803" y="388941"/>
                </a:lnTo>
                <a:lnTo>
                  <a:pt x="406414" y="388941"/>
                </a:lnTo>
                <a:lnTo>
                  <a:pt x="360757" y="153435"/>
                </a:lnTo>
                <a:lnTo>
                  <a:pt x="315189" y="388941"/>
                </a:lnTo>
                <a:lnTo>
                  <a:pt x="341177" y="388941"/>
                </a:lnTo>
                <a:lnTo>
                  <a:pt x="341177" y="407515"/>
                </a:lnTo>
                <a:lnTo>
                  <a:pt x="292494" y="407515"/>
                </a:lnTo>
                <a:close/>
                <a:moveTo>
                  <a:pt x="503147" y="18662"/>
                </a:moveTo>
                <a:cubicBezTo>
                  <a:pt x="461226" y="18662"/>
                  <a:pt x="427048" y="52697"/>
                  <a:pt x="427048" y="94642"/>
                </a:cubicBezTo>
                <a:cubicBezTo>
                  <a:pt x="427048" y="98908"/>
                  <a:pt x="427404" y="103084"/>
                  <a:pt x="428116" y="107261"/>
                </a:cubicBezTo>
                <a:cubicBezTo>
                  <a:pt x="433812" y="105306"/>
                  <a:pt x="439864" y="104240"/>
                  <a:pt x="446184" y="104240"/>
                </a:cubicBezTo>
                <a:cubicBezTo>
                  <a:pt x="477514" y="104240"/>
                  <a:pt x="503058" y="129655"/>
                  <a:pt x="503058" y="160936"/>
                </a:cubicBezTo>
                <a:cubicBezTo>
                  <a:pt x="503058" y="164224"/>
                  <a:pt x="502702" y="167424"/>
                  <a:pt x="502168" y="170534"/>
                </a:cubicBezTo>
                <a:cubicBezTo>
                  <a:pt x="502524" y="170623"/>
                  <a:pt x="502880" y="170623"/>
                  <a:pt x="503147" y="170623"/>
                </a:cubicBezTo>
                <a:cubicBezTo>
                  <a:pt x="545158" y="170623"/>
                  <a:pt x="579247" y="136498"/>
                  <a:pt x="579247" y="94642"/>
                </a:cubicBezTo>
                <a:cubicBezTo>
                  <a:pt x="579247" y="52697"/>
                  <a:pt x="545158" y="18662"/>
                  <a:pt x="503147" y="18662"/>
                </a:cubicBezTo>
                <a:close/>
                <a:moveTo>
                  <a:pt x="503147" y="0"/>
                </a:moveTo>
                <a:cubicBezTo>
                  <a:pt x="555482" y="0"/>
                  <a:pt x="597938" y="42389"/>
                  <a:pt x="597938" y="94642"/>
                </a:cubicBezTo>
                <a:cubicBezTo>
                  <a:pt x="597938" y="146807"/>
                  <a:pt x="555482" y="189285"/>
                  <a:pt x="503147" y="189285"/>
                </a:cubicBezTo>
                <a:cubicBezTo>
                  <a:pt x="500655" y="189285"/>
                  <a:pt x="498074" y="189107"/>
                  <a:pt x="495582" y="188929"/>
                </a:cubicBezTo>
                <a:cubicBezTo>
                  <a:pt x="487126" y="203859"/>
                  <a:pt x="472084" y="214523"/>
                  <a:pt x="454461" y="217100"/>
                </a:cubicBezTo>
                <a:lnTo>
                  <a:pt x="454461" y="270242"/>
                </a:lnTo>
                <a:lnTo>
                  <a:pt x="501812" y="308188"/>
                </a:lnTo>
                <a:lnTo>
                  <a:pt x="501812" y="363373"/>
                </a:lnTo>
                <a:lnTo>
                  <a:pt x="550320" y="335647"/>
                </a:lnTo>
                <a:lnTo>
                  <a:pt x="550320" y="311476"/>
                </a:lnTo>
                <a:cubicBezTo>
                  <a:pt x="528959" y="306943"/>
                  <a:pt x="512849" y="287926"/>
                  <a:pt x="512849" y="265265"/>
                </a:cubicBezTo>
                <a:cubicBezTo>
                  <a:pt x="512849" y="239227"/>
                  <a:pt x="534032" y="217988"/>
                  <a:pt x="560110" y="217988"/>
                </a:cubicBezTo>
                <a:cubicBezTo>
                  <a:pt x="586189" y="217988"/>
                  <a:pt x="607461" y="239227"/>
                  <a:pt x="607461" y="265265"/>
                </a:cubicBezTo>
                <a:cubicBezTo>
                  <a:pt x="607461" y="288282"/>
                  <a:pt x="590906" y="307477"/>
                  <a:pt x="569011" y="311653"/>
                </a:cubicBezTo>
                <a:lnTo>
                  <a:pt x="569011" y="346489"/>
                </a:lnTo>
                <a:lnTo>
                  <a:pt x="501812" y="384879"/>
                </a:lnTo>
                <a:lnTo>
                  <a:pt x="501812" y="447352"/>
                </a:lnTo>
                <a:lnTo>
                  <a:pt x="607639" y="447352"/>
                </a:lnTo>
                <a:lnTo>
                  <a:pt x="607639" y="466014"/>
                </a:lnTo>
                <a:lnTo>
                  <a:pt x="0" y="466014"/>
                </a:lnTo>
                <a:lnTo>
                  <a:pt x="0" y="447352"/>
                </a:lnTo>
                <a:lnTo>
                  <a:pt x="113303" y="447352"/>
                </a:lnTo>
                <a:lnTo>
                  <a:pt x="113303" y="404163"/>
                </a:lnTo>
                <a:lnTo>
                  <a:pt x="47351" y="375637"/>
                </a:lnTo>
                <a:lnTo>
                  <a:pt x="47351" y="349421"/>
                </a:lnTo>
                <a:cubicBezTo>
                  <a:pt x="25811" y="344978"/>
                  <a:pt x="9612" y="325872"/>
                  <a:pt x="9612" y="303122"/>
                </a:cubicBezTo>
                <a:cubicBezTo>
                  <a:pt x="9612" y="287037"/>
                  <a:pt x="17712" y="272819"/>
                  <a:pt x="30084" y="264288"/>
                </a:cubicBezTo>
                <a:cubicBezTo>
                  <a:pt x="22874" y="249980"/>
                  <a:pt x="19136" y="233984"/>
                  <a:pt x="19136" y="217811"/>
                </a:cubicBezTo>
                <a:cubicBezTo>
                  <a:pt x="19136" y="160403"/>
                  <a:pt x="65953" y="113748"/>
                  <a:pt x="123450" y="113748"/>
                </a:cubicBezTo>
                <a:cubicBezTo>
                  <a:pt x="180947" y="113748"/>
                  <a:pt x="227675" y="160403"/>
                  <a:pt x="227675" y="217811"/>
                </a:cubicBezTo>
                <a:cubicBezTo>
                  <a:pt x="227675" y="272374"/>
                  <a:pt x="185487" y="317252"/>
                  <a:pt x="131995" y="321606"/>
                </a:cubicBezTo>
                <a:lnTo>
                  <a:pt x="131995" y="447352"/>
                </a:lnTo>
                <a:lnTo>
                  <a:pt x="214057" y="447352"/>
                </a:lnTo>
                <a:lnTo>
                  <a:pt x="194209" y="434111"/>
                </a:lnTo>
                <a:lnTo>
                  <a:pt x="204534" y="418648"/>
                </a:lnTo>
                <a:lnTo>
                  <a:pt x="216639" y="426646"/>
                </a:lnTo>
                <a:lnTo>
                  <a:pt x="216639" y="378836"/>
                </a:lnTo>
                <a:lnTo>
                  <a:pt x="198036" y="378836"/>
                </a:lnTo>
                <a:cubicBezTo>
                  <a:pt x="177921" y="378836"/>
                  <a:pt x="161544" y="362485"/>
                  <a:pt x="161544" y="342401"/>
                </a:cubicBezTo>
                <a:lnTo>
                  <a:pt x="161544" y="322139"/>
                </a:lnTo>
                <a:lnTo>
                  <a:pt x="180235" y="322139"/>
                </a:lnTo>
                <a:lnTo>
                  <a:pt x="180235" y="342401"/>
                </a:lnTo>
                <a:cubicBezTo>
                  <a:pt x="180235" y="352176"/>
                  <a:pt x="188246" y="360174"/>
                  <a:pt x="198036" y="360174"/>
                </a:cubicBezTo>
                <a:lnTo>
                  <a:pt x="216639" y="360174"/>
                </a:lnTo>
                <a:lnTo>
                  <a:pt x="216639" y="344800"/>
                </a:lnTo>
                <a:lnTo>
                  <a:pt x="194209" y="329871"/>
                </a:lnTo>
                <a:lnTo>
                  <a:pt x="204534" y="314319"/>
                </a:lnTo>
                <a:lnTo>
                  <a:pt x="216639" y="322406"/>
                </a:lnTo>
                <a:lnTo>
                  <a:pt x="216639" y="309876"/>
                </a:lnTo>
                <a:lnTo>
                  <a:pt x="237199" y="278595"/>
                </a:lnTo>
                <a:lnTo>
                  <a:pt x="252775" y="288815"/>
                </a:lnTo>
                <a:lnTo>
                  <a:pt x="235330" y="315386"/>
                </a:lnTo>
                <a:lnTo>
                  <a:pt x="235330" y="360174"/>
                </a:lnTo>
                <a:lnTo>
                  <a:pt x="257670" y="360174"/>
                </a:lnTo>
                <a:cubicBezTo>
                  <a:pt x="267461" y="360174"/>
                  <a:pt x="275471" y="352176"/>
                  <a:pt x="275471" y="342401"/>
                </a:cubicBezTo>
                <a:lnTo>
                  <a:pt x="275471" y="45855"/>
                </a:lnTo>
                <a:cubicBezTo>
                  <a:pt x="275471" y="36079"/>
                  <a:pt x="267461" y="28081"/>
                  <a:pt x="257670" y="28081"/>
                </a:cubicBezTo>
                <a:lnTo>
                  <a:pt x="198036" y="28081"/>
                </a:lnTo>
                <a:cubicBezTo>
                  <a:pt x="188246" y="28081"/>
                  <a:pt x="180235" y="36079"/>
                  <a:pt x="180235" y="45855"/>
                </a:cubicBezTo>
                <a:lnTo>
                  <a:pt x="180235" y="113571"/>
                </a:lnTo>
                <a:lnTo>
                  <a:pt x="161544" y="113571"/>
                </a:lnTo>
                <a:lnTo>
                  <a:pt x="161544" y="45855"/>
                </a:lnTo>
                <a:cubicBezTo>
                  <a:pt x="161544" y="25771"/>
                  <a:pt x="177921" y="9420"/>
                  <a:pt x="198036" y="9420"/>
                </a:cubicBezTo>
                <a:lnTo>
                  <a:pt x="257670" y="9420"/>
                </a:lnTo>
                <a:cubicBezTo>
                  <a:pt x="277785" y="9420"/>
                  <a:pt x="294162" y="25771"/>
                  <a:pt x="294162" y="45855"/>
                </a:cubicBezTo>
                <a:lnTo>
                  <a:pt x="294162" y="342401"/>
                </a:lnTo>
                <a:cubicBezTo>
                  <a:pt x="294162" y="362485"/>
                  <a:pt x="277785" y="378836"/>
                  <a:pt x="257670" y="378836"/>
                </a:cubicBezTo>
                <a:lnTo>
                  <a:pt x="235330" y="378836"/>
                </a:lnTo>
                <a:lnTo>
                  <a:pt x="235330" y="429134"/>
                </a:lnTo>
                <a:lnTo>
                  <a:pt x="251173" y="418648"/>
                </a:lnTo>
                <a:lnTo>
                  <a:pt x="261497" y="434111"/>
                </a:lnTo>
                <a:lnTo>
                  <a:pt x="241649" y="447352"/>
                </a:lnTo>
                <a:lnTo>
                  <a:pt x="351126" y="447352"/>
                </a:lnTo>
                <a:lnTo>
                  <a:pt x="351126" y="331737"/>
                </a:lnTo>
                <a:lnTo>
                  <a:pt x="369817" y="331737"/>
                </a:lnTo>
                <a:lnTo>
                  <a:pt x="369817" y="352265"/>
                </a:lnTo>
                <a:lnTo>
                  <a:pt x="384058" y="342756"/>
                </a:lnTo>
                <a:lnTo>
                  <a:pt x="394472" y="358308"/>
                </a:lnTo>
                <a:lnTo>
                  <a:pt x="369817" y="374748"/>
                </a:lnTo>
                <a:lnTo>
                  <a:pt x="369817" y="447352"/>
                </a:lnTo>
                <a:lnTo>
                  <a:pt x="483121" y="447352"/>
                </a:lnTo>
                <a:lnTo>
                  <a:pt x="483121" y="317074"/>
                </a:lnTo>
                <a:lnTo>
                  <a:pt x="435770" y="279217"/>
                </a:lnTo>
                <a:lnTo>
                  <a:pt x="435770" y="216744"/>
                </a:lnTo>
                <a:cubicBezTo>
                  <a:pt x="409424" y="211768"/>
                  <a:pt x="389398" y="188663"/>
                  <a:pt x="389398" y="160936"/>
                </a:cubicBezTo>
                <a:cubicBezTo>
                  <a:pt x="389398" y="142985"/>
                  <a:pt x="397854" y="126901"/>
                  <a:pt x="410938" y="116503"/>
                </a:cubicBezTo>
                <a:cubicBezTo>
                  <a:pt x="409246" y="109394"/>
                  <a:pt x="408356" y="102018"/>
                  <a:pt x="408356" y="94642"/>
                </a:cubicBezTo>
                <a:cubicBezTo>
                  <a:pt x="408356" y="42389"/>
                  <a:pt x="450901" y="0"/>
                  <a:pt x="50314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armonyOS Sans SC" panose="00000500000000000000" pitchFamily="2" charset="-122"/>
              <a:ea typeface="HarmonyOS Sans SC" panose="00000500000000000000" pitchFamily="2" charset="-122"/>
            </a:endParaRPr>
          </a:p>
        </p:txBody>
      </p:sp>
      <p:sp>
        <p:nvSpPr>
          <p:cNvPr id="95" name="transportation_353256"/>
          <p:cNvSpPr/>
          <p:nvPr/>
        </p:nvSpPr>
        <p:spPr>
          <a:xfrm>
            <a:off x="11022039" y="4625628"/>
            <a:ext cx="495590" cy="332600"/>
          </a:xfrm>
          <a:custGeom>
            <a:avLst/>
            <a:gdLst>
              <a:gd name="connsiteX0" fmla="*/ 37117 w 607639"/>
              <a:gd name="connsiteY0" fmla="*/ 389310 h 407798"/>
              <a:gd name="connsiteX1" fmla="*/ 58146 w 607639"/>
              <a:gd name="connsiteY1" fmla="*/ 389310 h 407798"/>
              <a:gd name="connsiteX2" fmla="*/ 58146 w 607639"/>
              <a:gd name="connsiteY2" fmla="*/ 407798 h 407798"/>
              <a:gd name="connsiteX3" fmla="*/ 37117 w 607639"/>
              <a:gd name="connsiteY3" fmla="*/ 407798 h 407798"/>
              <a:gd name="connsiteX4" fmla="*/ 482597 w 607639"/>
              <a:gd name="connsiteY4" fmla="*/ 370681 h 407798"/>
              <a:gd name="connsiteX5" fmla="*/ 503696 w 607639"/>
              <a:gd name="connsiteY5" fmla="*/ 370681 h 407798"/>
              <a:gd name="connsiteX6" fmla="*/ 503696 w 607639"/>
              <a:gd name="connsiteY6" fmla="*/ 389310 h 407798"/>
              <a:gd name="connsiteX7" fmla="*/ 482597 w 607639"/>
              <a:gd name="connsiteY7" fmla="*/ 389310 h 407798"/>
              <a:gd name="connsiteX8" fmla="*/ 284661 w 607639"/>
              <a:gd name="connsiteY8" fmla="*/ 370681 h 407798"/>
              <a:gd name="connsiteX9" fmla="*/ 399683 w 607639"/>
              <a:gd name="connsiteY9" fmla="*/ 370681 h 407798"/>
              <a:gd name="connsiteX10" fmla="*/ 399683 w 607639"/>
              <a:gd name="connsiteY10" fmla="*/ 389310 h 407798"/>
              <a:gd name="connsiteX11" fmla="*/ 284661 w 607639"/>
              <a:gd name="connsiteY11" fmla="*/ 389310 h 407798"/>
              <a:gd name="connsiteX12" fmla="*/ 160819 w 607639"/>
              <a:gd name="connsiteY12" fmla="*/ 370681 h 407798"/>
              <a:gd name="connsiteX13" fmla="*/ 189327 w 607639"/>
              <a:gd name="connsiteY13" fmla="*/ 370681 h 407798"/>
              <a:gd name="connsiteX14" fmla="*/ 189327 w 607639"/>
              <a:gd name="connsiteY14" fmla="*/ 389310 h 407798"/>
              <a:gd name="connsiteX15" fmla="*/ 160819 w 607639"/>
              <a:gd name="connsiteY15" fmla="*/ 389310 h 407798"/>
              <a:gd name="connsiteX16" fmla="*/ 399683 w 607639"/>
              <a:gd name="connsiteY16" fmla="*/ 352192 h 407798"/>
              <a:gd name="connsiteX17" fmla="*/ 445480 w 607639"/>
              <a:gd name="connsiteY17" fmla="*/ 352192 h 407798"/>
              <a:gd name="connsiteX18" fmla="*/ 445480 w 607639"/>
              <a:gd name="connsiteY18" fmla="*/ 370680 h 407798"/>
              <a:gd name="connsiteX19" fmla="*/ 399683 w 607639"/>
              <a:gd name="connsiteY19" fmla="*/ 370680 h 407798"/>
              <a:gd name="connsiteX20" fmla="*/ 237523 w 607639"/>
              <a:gd name="connsiteY20" fmla="*/ 352192 h 407798"/>
              <a:gd name="connsiteX21" fmla="*/ 266031 w 607639"/>
              <a:gd name="connsiteY21" fmla="*/ 352192 h 407798"/>
              <a:gd name="connsiteX22" fmla="*/ 266031 w 607639"/>
              <a:gd name="connsiteY22" fmla="*/ 370680 h 407798"/>
              <a:gd name="connsiteX23" fmla="*/ 237523 w 607639"/>
              <a:gd name="connsiteY23" fmla="*/ 370680 h 407798"/>
              <a:gd name="connsiteX24" fmla="*/ 65626 w 607639"/>
              <a:gd name="connsiteY24" fmla="*/ 352192 h 407798"/>
              <a:gd name="connsiteX25" fmla="*/ 160819 w 607639"/>
              <a:gd name="connsiteY25" fmla="*/ 352192 h 407798"/>
              <a:gd name="connsiteX26" fmla="*/ 160819 w 607639"/>
              <a:gd name="connsiteY26" fmla="*/ 370680 h 407798"/>
              <a:gd name="connsiteX27" fmla="*/ 65626 w 607639"/>
              <a:gd name="connsiteY27" fmla="*/ 370680 h 407798"/>
              <a:gd name="connsiteX28" fmla="*/ 284661 w 607639"/>
              <a:gd name="connsiteY28" fmla="*/ 255800 h 407798"/>
              <a:gd name="connsiteX29" fmla="*/ 304419 w 607639"/>
              <a:gd name="connsiteY29" fmla="*/ 255800 h 407798"/>
              <a:gd name="connsiteX30" fmla="*/ 304419 w 607639"/>
              <a:gd name="connsiteY30" fmla="*/ 274359 h 407798"/>
              <a:gd name="connsiteX31" fmla="*/ 284661 w 607639"/>
              <a:gd name="connsiteY31" fmla="*/ 274359 h 407798"/>
              <a:gd name="connsiteX32" fmla="*/ 257423 w 607639"/>
              <a:gd name="connsiteY32" fmla="*/ 255800 h 407798"/>
              <a:gd name="connsiteX33" fmla="*/ 275982 w 607639"/>
              <a:gd name="connsiteY33" fmla="*/ 255800 h 407798"/>
              <a:gd name="connsiteX34" fmla="*/ 275982 w 607639"/>
              <a:gd name="connsiteY34" fmla="*/ 274359 h 407798"/>
              <a:gd name="connsiteX35" fmla="*/ 257423 w 607639"/>
              <a:gd name="connsiteY35" fmla="*/ 274359 h 407798"/>
              <a:gd name="connsiteX36" fmla="*/ 228914 w 607639"/>
              <a:gd name="connsiteY36" fmla="*/ 255800 h 407798"/>
              <a:gd name="connsiteX37" fmla="*/ 247543 w 607639"/>
              <a:gd name="connsiteY37" fmla="*/ 255800 h 407798"/>
              <a:gd name="connsiteX38" fmla="*/ 247543 w 607639"/>
              <a:gd name="connsiteY38" fmla="*/ 274359 h 407798"/>
              <a:gd name="connsiteX39" fmla="*/ 228914 w 607639"/>
              <a:gd name="connsiteY39" fmla="*/ 274359 h 407798"/>
              <a:gd name="connsiteX40" fmla="*/ 199206 w 607639"/>
              <a:gd name="connsiteY40" fmla="*/ 255800 h 407798"/>
              <a:gd name="connsiteX41" fmla="*/ 219035 w 607639"/>
              <a:gd name="connsiteY41" fmla="*/ 255800 h 407798"/>
              <a:gd name="connsiteX42" fmla="*/ 219035 w 607639"/>
              <a:gd name="connsiteY42" fmla="*/ 274359 h 407798"/>
              <a:gd name="connsiteX43" fmla="*/ 199206 w 607639"/>
              <a:gd name="connsiteY43" fmla="*/ 274359 h 407798"/>
              <a:gd name="connsiteX44" fmla="*/ 170768 w 607639"/>
              <a:gd name="connsiteY44" fmla="*/ 255800 h 407798"/>
              <a:gd name="connsiteX45" fmla="*/ 189327 w 607639"/>
              <a:gd name="connsiteY45" fmla="*/ 255800 h 407798"/>
              <a:gd name="connsiteX46" fmla="*/ 189327 w 607639"/>
              <a:gd name="connsiteY46" fmla="*/ 274359 h 407798"/>
              <a:gd name="connsiteX47" fmla="*/ 170768 w 607639"/>
              <a:gd name="connsiteY47" fmla="*/ 274359 h 407798"/>
              <a:gd name="connsiteX48" fmla="*/ 142330 w 607639"/>
              <a:gd name="connsiteY48" fmla="*/ 255800 h 407798"/>
              <a:gd name="connsiteX49" fmla="*/ 160818 w 607639"/>
              <a:gd name="connsiteY49" fmla="*/ 255800 h 407798"/>
              <a:gd name="connsiteX50" fmla="*/ 160818 w 607639"/>
              <a:gd name="connsiteY50" fmla="*/ 274359 h 407798"/>
              <a:gd name="connsiteX51" fmla="*/ 142330 w 607639"/>
              <a:gd name="connsiteY51" fmla="*/ 274359 h 407798"/>
              <a:gd name="connsiteX52" fmla="*/ 113822 w 607639"/>
              <a:gd name="connsiteY52" fmla="*/ 255800 h 407798"/>
              <a:gd name="connsiteX53" fmla="*/ 133651 w 607639"/>
              <a:gd name="connsiteY53" fmla="*/ 255800 h 407798"/>
              <a:gd name="connsiteX54" fmla="*/ 133651 w 607639"/>
              <a:gd name="connsiteY54" fmla="*/ 274359 h 407798"/>
              <a:gd name="connsiteX55" fmla="*/ 113822 w 607639"/>
              <a:gd name="connsiteY55" fmla="*/ 274359 h 407798"/>
              <a:gd name="connsiteX56" fmla="*/ 86584 w 607639"/>
              <a:gd name="connsiteY56" fmla="*/ 255800 h 407798"/>
              <a:gd name="connsiteX57" fmla="*/ 105213 w 607639"/>
              <a:gd name="connsiteY57" fmla="*/ 255800 h 407798"/>
              <a:gd name="connsiteX58" fmla="*/ 105213 w 607639"/>
              <a:gd name="connsiteY58" fmla="*/ 274359 h 407798"/>
              <a:gd name="connsiteX59" fmla="*/ 86584 w 607639"/>
              <a:gd name="connsiteY59" fmla="*/ 274359 h 407798"/>
              <a:gd name="connsiteX60" fmla="*/ 445480 w 607639"/>
              <a:gd name="connsiteY60" fmla="*/ 236042 h 407798"/>
              <a:gd name="connsiteX61" fmla="*/ 503696 w 607639"/>
              <a:gd name="connsiteY61" fmla="*/ 236042 h 407798"/>
              <a:gd name="connsiteX62" fmla="*/ 503696 w 607639"/>
              <a:gd name="connsiteY62" fmla="*/ 254530 h 407798"/>
              <a:gd name="connsiteX63" fmla="*/ 445480 w 607639"/>
              <a:gd name="connsiteY63" fmla="*/ 254530 h 407798"/>
              <a:gd name="connsiteX64" fmla="*/ 403639 w 607639"/>
              <a:gd name="connsiteY64" fmla="*/ 217487 h 407798"/>
              <a:gd name="connsiteX65" fmla="*/ 384681 w 607639"/>
              <a:gd name="connsiteY65" fmla="*/ 245929 h 407798"/>
              <a:gd name="connsiteX66" fmla="*/ 28837 w 607639"/>
              <a:gd name="connsiteY66" fmla="*/ 245929 h 407798"/>
              <a:gd name="connsiteX67" fmla="*/ 103958 w 607639"/>
              <a:gd name="connsiteY67" fmla="*/ 312677 h 407798"/>
              <a:gd name="connsiteX68" fmla="*/ 483833 w 607639"/>
              <a:gd name="connsiteY68" fmla="*/ 312677 h 407798"/>
              <a:gd name="connsiteX69" fmla="*/ 483833 w 607639"/>
              <a:gd name="connsiteY69" fmla="*/ 312588 h 407798"/>
              <a:gd name="connsiteX70" fmla="*/ 557974 w 607639"/>
              <a:gd name="connsiteY70" fmla="*/ 281658 h 407798"/>
              <a:gd name="connsiteX71" fmla="*/ 588325 w 607639"/>
              <a:gd name="connsiteY71" fmla="*/ 217487 h 407798"/>
              <a:gd name="connsiteX72" fmla="*/ 217796 w 607639"/>
              <a:gd name="connsiteY72" fmla="*/ 187891 h 407798"/>
              <a:gd name="connsiteX73" fmla="*/ 217796 w 607639"/>
              <a:gd name="connsiteY73" fmla="*/ 227442 h 407798"/>
              <a:gd name="connsiteX74" fmla="*/ 341513 w 607639"/>
              <a:gd name="connsiteY74" fmla="*/ 227442 h 407798"/>
              <a:gd name="connsiteX75" fmla="*/ 341513 w 607639"/>
              <a:gd name="connsiteY75" fmla="*/ 217487 h 407798"/>
              <a:gd name="connsiteX76" fmla="*/ 237555 w 607639"/>
              <a:gd name="connsiteY76" fmla="*/ 217487 h 407798"/>
              <a:gd name="connsiteX77" fmla="*/ 237555 w 607639"/>
              <a:gd name="connsiteY77" fmla="*/ 199001 h 407798"/>
              <a:gd name="connsiteX78" fmla="*/ 341513 w 607639"/>
              <a:gd name="connsiteY78" fmla="*/ 199001 h 407798"/>
              <a:gd name="connsiteX79" fmla="*/ 341513 w 607639"/>
              <a:gd name="connsiteY79" fmla="*/ 187891 h 407798"/>
              <a:gd name="connsiteX80" fmla="*/ 133651 w 607639"/>
              <a:gd name="connsiteY80" fmla="*/ 169357 h 407798"/>
              <a:gd name="connsiteX81" fmla="*/ 152210 w 607639"/>
              <a:gd name="connsiteY81" fmla="*/ 169357 h 407798"/>
              <a:gd name="connsiteX82" fmla="*/ 152210 w 607639"/>
              <a:gd name="connsiteY82" fmla="*/ 187916 h 407798"/>
              <a:gd name="connsiteX83" fmla="*/ 133651 w 607639"/>
              <a:gd name="connsiteY83" fmla="*/ 187916 h 407798"/>
              <a:gd name="connsiteX84" fmla="*/ 360115 w 607639"/>
              <a:gd name="connsiteY84" fmla="*/ 150739 h 407798"/>
              <a:gd name="connsiteX85" fmla="*/ 360115 w 607639"/>
              <a:gd name="connsiteY85" fmla="*/ 227442 h 407798"/>
              <a:gd name="connsiteX86" fmla="*/ 374712 w 607639"/>
              <a:gd name="connsiteY86" fmla="*/ 227442 h 407798"/>
              <a:gd name="connsiteX87" fmla="*/ 393670 w 607639"/>
              <a:gd name="connsiteY87" fmla="*/ 199001 h 407798"/>
              <a:gd name="connsiteX88" fmla="*/ 530917 w 607639"/>
              <a:gd name="connsiteY88" fmla="*/ 199001 h 407798"/>
              <a:gd name="connsiteX89" fmla="*/ 530917 w 607639"/>
              <a:gd name="connsiteY89" fmla="*/ 179180 h 407798"/>
              <a:gd name="connsiteX90" fmla="*/ 381120 w 607639"/>
              <a:gd name="connsiteY90" fmla="*/ 179180 h 407798"/>
              <a:gd name="connsiteX91" fmla="*/ 381120 w 607639"/>
              <a:gd name="connsiteY91" fmla="*/ 160694 h 407798"/>
              <a:gd name="connsiteX92" fmla="*/ 530917 w 607639"/>
              <a:gd name="connsiteY92" fmla="*/ 160694 h 407798"/>
              <a:gd name="connsiteX93" fmla="*/ 530917 w 607639"/>
              <a:gd name="connsiteY93" fmla="*/ 150739 h 407798"/>
              <a:gd name="connsiteX94" fmla="*/ 133651 w 607639"/>
              <a:gd name="connsiteY94" fmla="*/ 140919 h 407798"/>
              <a:gd name="connsiteX95" fmla="*/ 152210 w 607639"/>
              <a:gd name="connsiteY95" fmla="*/ 140919 h 407798"/>
              <a:gd name="connsiteX96" fmla="*/ 152210 w 607639"/>
              <a:gd name="connsiteY96" fmla="*/ 159478 h 407798"/>
              <a:gd name="connsiteX97" fmla="*/ 133651 w 607639"/>
              <a:gd name="connsiteY97" fmla="*/ 159478 h 407798"/>
              <a:gd name="connsiteX98" fmla="*/ 313099 w 607639"/>
              <a:gd name="connsiteY98" fmla="*/ 132240 h 407798"/>
              <a:gd name="connsiteX99" fmla="*/ 331658 w 607639"/>
              <a:gd name="connsiteY99" fmla="*/ 132240 h 407798"/>
              <a:gd name="connsiteX100" fmla="*/ 331658 w 607639"/>
              <a:gd name="connsiteY100" fmla="*/ 159478 h 407798"/>
              <a:gd name="connsiteX101" fmla="*/ 313099 w 607639"/>
              <a:gd name="connsiteY101" fmla="*/ 159478 h 407798"/>
              <a:gd name="connsiteX102" fmla="*/ 285861 w 607639"/>
              <a:gd name="connsiteY102" fmla="*/ 132240 h 407798"/>
              <a:gd name="connsiteX103" fmla="*/ 304420 w 607639"/>
              <a:gd name="connsiteY103" fmla="*/ 132240 h 407798"/>
              <a:gd name="connsiteX104" fmla="*/ 304420 w 607639"/>
              <a:gd name="connsiteY104" fmla="*/ 159478 h 407798"/>
              <a:gd name="connsiteX105" fmla="*/ 285861 w 607639"/>
              <a:gd name="connsiteY105" fmla="*/ 159478 h 407798"/>
              <a:gd name="connsiteX106" fmla="*/ 257423 w 607639"/>
              <a:gd name="connsiteY106" fmla="*/ 132240 h 407798"/>
              <a:gd name="connsiteX107" fmla="*/ 275982 w 607639"/>
              <a:gd name="connsiteY107" fmla="*/ 132240 h 407798"/>
              <a:gd name="connsiteX108" fmla="*/ 275982 w 607639"/>
              <a:gd name="connsiteY108" fmla="*/ 159478 h 407798"/>
              <a:gd name="connsiteX109" fmla="*/ 257423 w 607639"/>
              <a:gd name="connsiteY109" fmla="*/ 159478 h 407798"/>
              <a:gd name="connsiteX110" fmla="*/ 228914 w 607639"/>
              <a:gd name="connsiteY110" fmla="*/ 132240 h 407798"/>
              <a:gd name="connsiteX111" fmla="*/ 247543 w 607639"/>
              <a:gd name="connsiteY111" fmla="*/ 132240 h 407798"/>
              <a:gd name="connsiteX112" fmla="*/ 247543 w 607639"/>
              <a:gd name="connsiteY112" fmla="*/ 159478 h 407798"/>
              <a:gd name="connsiteX113" fmla="*/ 228914 w 607639"/>
              <a:gd name="connsiteY113" fmla="*/ 159478 h 407798"/>
              <a:gd name="connsiteX114" fmla="*/ 217796 w 607639"/>
              <a:gd name="connsiteY114" fmla="*/ 122387 h 407798"/>
              <a:gd name="connsiteX115" fmla="*/ 217796 w 607639"/>
              <a:gd name="connsiteY115" fmla="*/ 169315 h 407798"/>
              <a:gd name="connsiteX116" fmla="*/ 341513 w 607639"/>
              <a:gd name="connsiteY116" fmla="*/ 169315 h 407798"/>
              <a:gd name="connsiteX117" fmla="*/ 341513 w 607639"/>
              <a:gd name="connsiteY117" fmla="*/ 132252 h 407798"/>
              <a:gd name="connsiteX118" fmla="*/ 341513 w 607639"/>
              <a:gd name="connsiteY118" fmla="*/ 122387 h 407798"/>
              <a:gd name="connsiteX119" fmla="*/ 76729 w 607639"/>
              <a:gd name="connsiteY119" fmla="*/ 112481 h 407798"/>
              <a:gd name="connsiteX120" fmla="*/ 95334 w 607639"/>
              <a:gd name="connsiteY120" fmla="*/ 112481 h 407798"/>
              <a:gd name="connsiteX121" fmla="*/ 95334 w 607639"/>
              <a:gd name="connsiteY121" fmla="*/ 217482 h 407798"/>
              <a:gd name="connsiteX122" fmla="*/ 46997 w 607639"/>
              <a:gd name="connsiteY122" fmla="*/ 217482 h 407798"/>
              <a:gd name="connsiteX123" fmla="*/ 46997 w 607639"/>
              <a:gd name="connsiteY123" fmla="*/ 199005 h 407798"/>
              <a:gd name="connsiteX124" fmla="*/ 76729 w 607639"/>
              <a:gd name="connsiteY124" fmla="*/ 199005 h 407798"/>
              <a:gd name="connsiteX125" fmla="*/ 456558 w 607639"/>
              <a:gd name="connsiteY125" fmla="*/ 85314 h 407798"/>
              <a:gd name="connsiteX126" fmla="*/ 475187 w 607639"/>
              <a:gd name="connsiteY126" fmla="*/ 85314 h 407798"/>
              <a:gd name="connsiteX127" fmla="*/ 475187 w 607639"/>
              <a:gd name="connsiteY127" fmla="*/ 122431 h 407798"/>
              <a:gd name="connsiteX128" fmla="*/ 456558 w 607639"/>
              <a:gd name="connsiteY128" fmla="*/ 122431 h 407798"/>
              <a:gd name="connsiteX129" fmla="*/ 426921 w 607639"/>
              <a:gd name="connsiteY129" fmla="*/ 85314 h 407798"/>
              <a:gd name="connsiteX130" fmla="*/ 445480 w 607639"/>
              <a:gd name="connsiteY130" fmla="*/ 85314 h 407798"/>
              <a:gd name="connsiteX131" fmla="*/ 445480 w 607639"/>
              <a:gd name="connsiteY131" fmla="*/ 122431 h 407798"/>
              <a:gd name="connsiteX132" fmla="*/ 426921 w 607639"/>
              <a:gd name="connsiteY132" fmla="*/ 122431 h 407798"/>
              <a:gd name="connsiteX133" fmla="*/ 399683 w 607639"/>
              <a:gd name="connsiteY133" fmla="*/ 85314 h 407798"/>
              <a:gd name="connsiteX134" fmla="*/ 418242 w 607639"/>
              <a:gd name="connsiteY134" fmla="*/ 85314 h 407798"/>
              <a:gd name="connsiteX135" fmla="*/ 418242 w 607639"/>
              <a:gd name="connsiteY135" fmla="*/ 122431 h 407798"/>
              <a:gd name="connsiteX136" fmla="*/ 399683 w 607639"/>
              <a:gd name="connsiteY136" fmla="*/ 122431 h 407798"/>
              <a:gd name="connsiteX137" fmla="*/ 371245 w 607639"/>
              <a:gd name="connsiteY137" fmla="*/ 85314 h 407798"/>
              <a:gd name="connsiteX138" fmla="*/ 389804 w 607639"/>
              <a:gd name="connsiteY138" fmla="*/ 85314 h 407798"/>
              <a:gd name="connsiteX139" fmla="*/ 389804 w 607639"/>
              <a:gd name="connsiteY139" fmla="*/ 122431 h 407798"/>
              <a:gd name="connsiteX140" fmla="*/ 371245 w 607639"/>
              <a:gd name="connsiteY140" fmla="*/ 122431 h 407798"/>
              <a:gd name="connsiteX141" fmla="*/ 334127 w 607639"/>
              <a:gd name="connsiteY141" fmla="*/ 56876 h 407798"/>
              <a:gd name="connsiteX142" fmla="*/ 512305 w 607639"/>
              <a:gd name="connsiteY142" fmla="*/ 56876 h 407798"/>
              <a:gd name="connsiteX143" fmla="*/ 512305 w 607639"/>
              <a:gd name="connsiteY143" fmla="*/ 122431 h 407798"/>
              <a:gd name="connsiteX144" fmla="*/ 493793 w 607639"/>
              <a:gd name="connsiteY144" fmla="*/ 122431 h 407798"/>
              <a:gd name="connsiteX145" fmla="*/ 493793 w 607639"/>
              <a:gd name="connsiteY145" fmla="*/ 75377 h 407798"/>
              <a:gd name="connsiteX146" fmla="*/ 352728 w 607639"/>
              <a:gd name="connsiteY146" fmla="*/ 75377 h 407798"/>
              <a:gd name="connsiteX147" fmla="*/ 352728 w 607639"/>
              <a:gd name="connsiteY147" fmla="*/ 93967 h 407798"/>
              <a:gd name="connsiteX148" fmla="*/ 334127 w 607639"/>
              <a:gd name="connsiteY148" fmla="*/ 93967 h 407798"/>
              <a:gd name="connsiteX149" fmla="*/ 123717 w 607639"/>
              <a:gd name="connsiteY149" fmla="*/ 0 h 407798"/>
              <a:gd name="connsiteX150" fmla="*/ 142319 w 607639"/>
              <a:gd name="connsiteY150" fmla="*/ 0 h 407798"/>
              <a:gd name="connsiteX151" fmla="*/ 142319 w 607639"/>
              <a:gd name="connsiteY151" fmla="*/ 56883 h 407798"/>
              <a:gd name="connsiteX152" fmla="*/ 180680 w 607639"/>
              <a:gd name="connsiteY152" fmla="*/ 56883 h 407798"/>
              <a:gd name="connsiteX153" fmla="*/ 180680 w 607639"/>
              <a:gd name="connsiteY153" fmla="*/ 75370 h 407798"/>
              <a:gd name="connsiteX154" fmla="*/ 76722 w 607639"/>
              <a:gd name="connsiteY154" fmla="*/ 75370 h 407798"/>
              <a:gd name="connsiteX155" fmla="*/ 76722 w 607639"/>
              <a:gd name="connsiteY155" fmla="*/ 85324 h 407798"/>
              <a:gd name="connsiteX156" fmla="*/ 180680 w 607639"/>
              <a:gd name="connsiteY156" fmla="*/ 85324 h 407798"/>
              <a:gd name="connsiteX157" fmla="*/ 180680 w 607639"/>
              <a:gd name="connsiteY157" fmla="*/ 227353 h 407798"/>
              <a:gd name="connsiteX158" fmla="*/ 199194 w 607639"/>
              <a:gd name="connsiteY158" fmla="*/ 227353 h 407798"/>
              <a:gd name="connsiteX159" fmla="*/ 199194 w 607639"/>
              <a:gd name="connsiteY159" fmla="*/ 103811 h 407798"/>
              <a:gd name="connsiteX160" fmla="*/ 360115 w 607639"/>
              <a:gd name="connsiteY160" fmla="*/ 103811 h 407798"/>
              <a:gd name="connsiteX161" fmla="*/ 360115 w 607639"/>
              <a:gd name="connsiteY161" fmla="*/ 132252 h 407798"/>
              <a:gd name="connsiteX162" fmla="*/ 549430 w 607639"/>
              <a:gd name="connsiteY162" fmla="*/ 132252 h 407798"/>
              <a:gd name="connsiteX163" fmla="*/ 549430 w 607639"/>
              <a:gd name="connsiteY163" fmla="*/ 199001 h 407798"/>
              <a:gd name="connsiteX164" fmla="*/ 607639 w 607639"/>
              <a:gd name="connsiteY164" fmla="*/ 199001 h 407798"/>
              <a:gd name="connsiteX165" fmla="*/ 607639 w 607639"/>
              <a:gd name="connsiteY165" fmla="*/ 208244 h 407798"/>
              <a:gd name="connsiteX166" fmla="*/ 571236 w 607639"/>
              <a:gd name="connsiteY166" fmla="*/ 294723 h 407798"/>
              <a:gd name="connsiteX167" fmla="*/ 548807 w 607639"/>
              <a:gd name="connsiteY167" fmla="*/ 312677 h 407798"/>
              <a:gd name="connsiteX168" fmla="*/ 606393 w 607639"/>
              <a:gd name="connsiteY168" fmla="*/ 312677 h 407798"/>
              <a:gd name="connsiteX169" fmla="*/ 606393 w 607639"/>
              <a:gd name="connsiteY169" fmla="*/ 331164 h 407798"/>
              <a:gd name="connsiteX170" fmla="*/ 0 w 607639"/>
              <a:gd name="connsiteY170" fmla="*/ 331164 h 407798"/>
              <a:gd name="connsiteX171" fmla="*/ 0 w 607639"/>
              <a:gd name="connsiteY171" fmla="*/ 312677 h 407798"/>
              <a:gd name="connsiteX172" fmla="*/ 48063 w 607639"/>
              <a:gd name="connsiteY172" fmla="*/ 312677 h 407798"/>
              <a:gd name="connsiteX173" fmla="*/ 9879 w 607639"/>
              <a:gd name="connsiteY173" fmla="*/ 236685 h 407798"/>
              <a:gd name="connsiteX174" fmla="*/ 9879 w 607639"/>
              <a:gd name="connsiteY174" fmla="*/ 227353 h 407798"/>
              <a:gd name="connsiteX175" fmla="*/ 162078 w 607639"/>
              <a:gd name="connsiteY175" fmla="*/ 227353 h 407798"/>
              <a:gd name="connsiteX176" fmla="*/ 162078 w 607639"/>
              <a:gd name="connsiteY176" fmla="*/ 131008 h 407798"/>
              <a:gd name="connsiteX177" fmla="*/ 123717 w 607639"/>
              <a:gd name="connsiteY177" fmla="*/ 131008 h 407798"/>
              <a:gd name="connsiteX178" fmla="*/ 123717 w 607639"/>
              <a:gd name="connsiteY178" fmla="*/ 112432 h 407798"/>
              <a:gd name="connsiteX179" fmla="*/ 162078 w 607639"/>
              <a:gd name="connsiteY179" fmla="*/ 112432 h 407798"/>
              <a:gd name="connsiteX180" fmla="*/ 162078 w 607639"/>
              <a:gd name="connsiteY180" fmla="*/ 103811 h 407798"/>
              <a:gd name="connsiteX181" fmla="*/ 58120 w 607639"/>
              <a:gd name="connsiteY181" fmla="*/ 103811 h 407798"/>
              <a:gd name="connsiteX182" fmla="*/ 58120 w 607639"/>
              <a:gd name="connsiteY182" fmla="*/ 56883 h 407798"/>
              <a:gd name="connsiteX183" fmla="*/ 123717 w 607639"/>
              <a:gd name="connsiteY183" fmla="*/ 56883 h 407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607639" h="407798">
                <a:moveTo>
                  <a:pt x="37117" y="389310"/>
                </a:moveTo>
                <a:lnTo>
                  <a:pt x="58146" y="389310"/>
                </a:lnTo>
                <a:lnTo>
                  <a:pt x="58146" y="407798"/>
                </a:lnTo>
                <a:lnTo>
                  <a:pt x="37117" y="407798"/>
                </a:lnTo>
                <a:close/>
                <a:moveTo>
                  <a:pt x="482597" y="370681"/>
                </a:moveTo>
                <a:lnTo>
                  <a:pt x="503696" y="370681"/>
                </a:lnTo>
                <a:lnTo>
                  <a:pt x="503696" y="389310"/>
                </a:lnTo>
                <a:lnTo>
                  <a:pt x="482597" y="389310"/>
                </a:lnTo>
                <a:close/>
                <a:moveTo>
                  <a:pt x="284661" y="370681"/>
                </a:moveTo>
                <a:lnTo>
                  <a:pt x="399683" y="370681"/>
                </a:lnTo>
                <a:lnTo>
                  <a:pt x="399683" y="389310"/>
                </a:lnTo>
                <a:lnTo>
                  <a:pt x="284661" y="389310"/>
                </a:lnTo>
                <a:close/>
                <a:moveTo>
                  <a:pt x="160819" y="370681"/>
                </a:moveTo>
                <a:lnTo>
                  <a:pt x="189327" y="370681"/>
                </a:lnTo>
                <a:lnTo>
                  <a:pt x="189327" y="389310"/>
                </a:lnTo>
                <a:lnTo>
                  <a:pt x="160819" y="389310"/>
                </a:lnTo>
                <a:close/>
                <a:moveTo>
                  <a:pt x="399683" y="352192"/>
                </a:moveTo>
                <a:lnTo>
                  <a:pt x="445480" y="352192"/>
                </a:lnTo>
                <a:lnTo>
                  <a:pt x="445480" y="370680"/>
                </a:lnTo>
                <a:lnTo>
                  <a:pt x="399683" y="370680"/>
                </a:lnTo>
                <a:close/>
                <a:moveTo>
                  <a:pt x="237523" y="352192"/>
                </a:moveTo>
                <a:lnTo>
                  <a:pt x="266031" y="352192"/>
                </a:lnTo>
                <a:lnTo>
                  <a:pt x="266031" y="370680"/>
                </a:lnTo>
                <a:lnTo>
                  <a:pt x="237523" y="370680"/>
                </a:lnTo>
                <a:close/>
                <a:moveTo>
                  <a:pt x="65626" y="352192"/>
                </a:moveTo>
                <a:lnTo>
                  <a:pt x="160819" y="352192"/>
                </a:lnTo>
                <a:lnTo>
                  <a:pt x="160819" y="370680"/>
                </a:lnTo>
                <a:lnTo>
                  <a:pt x="65626" y="370680"/>
                </a:lnTo>
                <a:close/>
                <a:moveTo>
                  <a:pt x="284661" y="255800"/>
                </a:moveTo>
                <a:lnTo>
                  <a:pt x="304419" y="255800"/>
                </a:lnTo>
                <a:lnTo>
                  <a:pt x="304419" y="274359"/>
                </a:lnTo>
                <a:lnTo>
                  <a:pt x="284661" y="274359"/>
                </a:lnTo>
                <a:close/>
                <a:moveTo>
                  <a:pt x="257423" y="255800"/>
                </a:moveTo>
                <a:lnTo>
                  <a:pt x="275982" y="255800"/>
                </a:lnTo>
                <a:lnTo>
                  <a:pt x="275982" y="274359"/>
                </a:lnTo>
                <a:lnTo>
                  <a:pt x="257423" y="274359"/>
                </a:lnTo>
                <a:close/>
                <a:moveTo>
                  <a:pt x="228914" y="255800"/>
                </a:moveTo>
                <a:lnTo>
                  <a:pt x="247543" y="255800"/>
                </a:lnTo>
                <a:lnTo>
                  <a:pt x="247543" y="274359"/>
                </a:lnTo>
                <a:lnTo>
                  <a:pt x="228914" y="274359"/>
                </a:lnTo>
                <a:close/>
                <a:moveTo>
                  <a:pt x="199206" y="255800"/>
                </a:moveTo>
                <a:lnTo>
                  <a:pt x="219035" y="255800"/>
                </a:lnTo>
                <a:lnTo>
                  <a:pt x="219035" y="274359"/>
                </a:lnTo>
                <a:lnTo>
                  <a:pt x="199206" y="274359"/>
                </a:lnTo>
                <a:close/>
                <a:moveTo>
                  <a:pt x="170768" y="255800"/>
                </a:moveTo>
                <a:lnTo>
                  <a:pt x="189327" y="255800"/>
                </a:lnTo>
                <a:lnTo>
                  <a:pt x="189327" y="274359"/>
                </a:lnTo>
                <a:lnTo>
                  <a:pt x="170768" y="274359"/>
                </a:lnTo>
                <a:close/>
                <a:moveTo>
                  <a:pt x="142330" y="255800"/>
                </a:moveTo>
                <a:lnTo>
                  <a:pt x="160818" y="255800"/>
                </a:lnTo>
                <a:lnTo>
                  <a:pt x="160818" y="274359"/>
                </a:lnTo>
                <a:lnTo>
                  <a:pt x="142330" y="274359"/>
                </a:lnTo>
                <a:close/>
                <a:moveTo>
                  <a:pt x="113822" y="255800"/>
                </a:moveTo>
                <a:lnTo>
                  <a:pt x="133651" y="255800"/>
                </a:lnTo>
                <a:lnTo>
                  <a:pt x="133651" y="274359"/>
                </a:lnTo>
                <a:lnTo>
                  <a:pt x="113822" y="274359"/>
                </a:lnTo>
                <a:close/>
                <a:moveTo>
                  <a:pt x="86584" y="255800"/>
                </a:moveTo>
                <a:lnTo>
                  <a:pt x="105213" y="255800"/>
                </a:lnTo>
                <a:lnTo>
                  <a:pt x="105213" y="274359"/>
                </a:lnTo>
                <a:lnTo>
                  <a:pt x="86584" y="274359"/>
                </a:lnTo>
                <a:close/>
                <a:moveTo>
                  <a:pt x="445480" y="236042"/>
                </a:moveTo>
                <a:lnTo>
                  <a:pt x="503696" y="236042"/>
                </a:lnTo>
                <a:lnTo>
                  <a:pt x="503696" y="254530"/>
                </a:lnTo>
                <a:lnTo>
                  <a:pt x="445480" y="254530"/>
                </a:lnTo>
                <a:close/>
                <a:moveTo>
                  <a:pt x="403639" y="217487"/>
                </a:moveTo>
                <a:lnTo>
                  <a:pt x="384681" y="245929"/>
                </a:lnTo>
                <a:lnTo>
                  <a:pt x="28837" y="245929"/>
                </a:lnTo>
                <a:cubicBezTo>
                  <a:pt x="33466" y="283436"/>
                  <a:pt x="65597" y="312677"/>
                  <a:pt x="103958" y="312677"/>
                </a:cubicBezTo>
                <a:lnTo>
                  <a:pt x="483833" y="312677"/>
                </a:lnTo>
                <a:lnTo>
                  <a:pt x="483833" y="312588"/>
                </a:lnTo>
                <a:cubicBezTo>
                  <a:pt x="512315" y="312588"/>
                  <a:pt x="538037" y="301567"/>
                  <a:pt x="557974" y="281658"/>
                </a:cubicBezTo>
                <a:cubicBezTo>
                  <a:pt x="575508" y="264060"/>
                  <a:pt x="586100" y="241574"/>
                  <a:pt x="588325" y="217487"/>
                </a:cubicBezTo>
                <a:close/>
                <a:moveTo>
                  <a:pt x="217796" y="187891"/>
                </a:moveTo>
                <a:lnTo>
                  <a:pt x="217796" y="227442"/>
                </a:lnTo>
                <a:lnTo>
                  <a:pt x="341513" y="227442"/>
                </a:lnTo>
                <a:lnTo>
                  <a:pt x="341513" y="217487"/>
                </a:lnTo>
                <a:lnTo>
                  <a:pt x="237555" y="217487"/>
                </a:lnTo>
                <a:lnTo>
                  <a:pt x="237555" y="199001"/>
                </a:lnTo>
                <a:lnTo>
                  <a:pt x="341513" y="199001"/>
                </a:lnTo>
                <a:lnTo>
                  <a:pt x="341513" y="187891"/>
                </a:lnTo>
                <a:close/>
                <a:moveTo>
                  <a:pt x="133651" y="169357"/>
                </a:moveTo>
                <a:lnTo>
                  <a:pt x="152210" y="169357"/>
                </a:lnTo>
                <a:lnTo>
                  <a:pt x="152210" y="187916"/>
                </a:lnTo>
                <a:lnTo>
                  <a:pt x="133651" y="187916"/>
                </a:lnTo>
                <a:close/>
                <a:moveTo>
                  <a:pt x="360115" y="150739"/>
                </a:moveTo>
                <a:lnTo>
                  <a:pt x="360115" y="227442"/>
                </a:lnTo>
                <a:lnTo>
                  <a:pt x="374712" y="227442"/>
                </a:lnTo>
                <a:lnTo>
                  <a:pt x="393670" y="199001"/>
                </a:lnTo>
                <a:lnTo>
                  <a:pt x="530917" y="199001"/>
                </a:lnTo>
                <a:lnTo>
                  <a:pt x="530917" y="179180"/>
                </a:lnTo>
                <a:lnTo>
                  <a:pt x="381120" y="179180"/>
                </a:lnTo>
                <a:lnTo>
                  <a:pt x="381120" y="160694"/>
                </a:lnTo>
                <a:lnTo>
                  <a:pt x="530917" y="160694"/>
                </a:lnTo>
                <a:lnTo>
                  <a:pt x="530917" y="150739"/>
                </a:lnTo>
                <a:close/>
                <a:moveTo>
                  <a:pt x="133651" y="140919"/>
                </a:moveTo>
                <a:lnTo>
                  <a:pt x="152210" y="140919"/>
                </a:lnTo>
                <a:lnTo>
                  <a:pt x="152210" y="159478"/>
                </a:lnTo>
                <a:lnTo>
                  <a:pt x="133651" y="159478"/>
                </a:lnTo>
                <a:close/>
                <a:moveTo>
                  <a:pt x="313099" y="132240"/>
                </a:moveTo>
                <a:lnTo>
                  <a:pt x="331658" y="132240"/>
                </a:lnTo>
                <a:lnTo>
                  <a:pt x="331658" y="159478"/>
                </a:lnTo>
                <a:lnTo>
                  <a:pt x="313099" y="159478"/>
                </a:lnTo>
                <a:close/>
                <a:moveTo>
                  <a:pt x="285861" y="132240"/>
                </a:moveTo>
                <a:lnTo>
                  <a:pt x="304420" y="132240"/>
                </a:lnTo>
                <a:lnTo>
                  <a:pt x="304420" y="159478"/>
                </a:lnTo>
                <a:lnTo>
                  <a:pt x="285861" y="159478"/>
                </a:lnTo>
                <a:close/>
                <a:moveTo>
                  <a:pt x="257423" y="132240"/>
                </a:moveTo>
                <a:lnTo>
                  <a:pt x="275982" y="132240"/>
                </a:lnTo>
                <a:lnTo>
                  <a:pt x="275982" y="159478"/>
                </a:lnTo>
                <a:lnTo>
                  <a:pt x="257423" y="159478"/>
                </a:lnTo>
                <a:close/>
                <a:moveTo>
                  <a:pt x="228914" y="132240"/>
                </a:moveTo>
                <a:lnTo>
                  <a:pt x="247543" y="132240"/>
                </a:lnTo>
                <a:lnTo>
                  <a:pt x="247543" y="159478"/>
                </a:lnTo>
                <a:lnTo>
                  <a:pt x="228914" y="159478"/>
                </a:lnTo>
                <a:close/>
                <a:moveTo>
                  <a:pt x="217796" y="122387"/>
                </a:moveTo>
                <a:lnTo>
                  <a:pt x="217796" y="169315"/>
                </a:lnTo>
                <a:lnTo>
                  <a:pt x="341513" y="169315"/>
                </a:lnTo>
                <a:lnTo>
                  <a:pt x="341513" y="132252"/>
                </a:lnTo>
                <a:lnTo>
                  <a:pt x="341513" y="122387"/>
                </a:lnTo>
                <a:close/>
                <a:moveTo>
                  <a:pt x="76729" y="112481"/>
                </a:moveTo>
                <a:lnTo>
                  <a:pt x="95334" y="112481"/>
                </a:lnTo>
                <a:lnTo>
                  <a:pt x="95334" y="217482"/>
                </a:lnTo>
                <a:lnTo>
                  <a:pt x="46997" y="217482"/>
                </a:lnTo>
                <a:lnTo>
                  <a:pt x="46997" y="199005"/>
                </a:lnTo>
                <a:lnTo>
                  <a:pt x="76729" y="199005"/>
                </a:lnTo>
                <a:close/>
                <a:moveTo>
                  <a:pt x="456558" y="85314"/>
                </a:moveTo>
                <a:lnTo>
                  <a:pt x="475187" y="85314"/>
                </a:lnTo>
                <a:lnTo>
                  <a:pt x="475187" y="122431"/>
                </a:lnTo>
                <a:lnTo>
                  <a:pt x="456558" y="122431"/>
                </a:lnTo>
                <a:close/>
                <a:moveTo>
                  <a:pt x="426921" y="85314"/>
                </a:moveTo>
                <a:lnTo>
                  <a:pt x="445480" y="85314"/>
                </a:lnTo>
                <a:lnTo>
                  <a:pt x="445480" y="122431"/>
                </a:lnTo>
                <a:lnTo>
                  <a:pt x="426921" y="122431"/>
                </a:lnTo>
                <a:close/>
                <a:moveTo>
                  <a:pt x="399683" y="85314"/>
                </a:moveTo>
                <a:lnTo>
                  <a:pt x="418242" y="85314"/>
                </a:lnTo>
                <a:lnTo>
                  <a:pt x="418242" y="122431"/>
                </a:lnTo>
                <a:lnTo>
                  <a:pt x="399683" y="122431"/>
                </a:lnTo>
                <a:close/>
                <a:moveTo>
                  <a:pt x="371245" y="85314"/>
                </a:moveTo>
                <a:lnTo>
                  <a:pt x="389804" y="85314"/>
                </a:lnTo>
                <a:lnTo>
                  <a:pt x="389804" y="122431"/>
                </a:lnTo>
                <a:lnTo>
                  <a:pt x="371245" y="122431"/>
                </a:lnTo>
                <a:close/>
                <a:moveTo>
                  <a:pt x="334127" y="56876"/>
                </a:moveTo>
                <a:lnTo>
                  <a:pt x="512305" y="56876"/>
                </a:lnTo>
                <a:lnTo>
                  <a:pt x="512305" y="122431"/>
                </a:lnTo>
                <a:lnTo>
                  <a:pt x="493793" y="122431"/>
                </a:lnTo>
                <a:lnTo>
                  <a:pt x="493793" y="75377"/>
                </a:lnTo>
                <a:lnTo>
                  <a:pt x="352728" y="75377"/>
                </a:lnTo>
                <a:lnTo>
                  <a:pt x="352728" y="93967"/>
                </a:lnTo>
                <a:lnTo>
                  <a:pt x="334127" y="93967"/>
                </a:lnTo>
                <a:close/>
                <a:moveTo>
                  <a:pt x="123717" y="0"/>
                </a:moveTo>
                <a:lnTo>
                  <a:pt x="142319" y="0"/>
                </a:lnTo>
                <a:lnTo>
                  <a:pt x="142319" y="56883"/>
                </a:lnTo>
                <a:lnTo>
                  <a:pt x="180680" y="56883"/>
                </a:lnTo>
                <a:lnTo>
                  <a:pt x="180680" y="75370"/>
                </a:lnTo>
                <a:lnTo>
                  <a:pt x="76722" y="75370"/>
                </a:lnTo>
                <a:lnTo>
                  <a:pt x="76722" y="85324"/>
                </a:lnTo>
                <a:lnTo>
                  <a:pt x="180680" y="85324"/>
                </a:lnTo>
                <a:lnTo>
                  <a:pt x="180680" y="227353"/>
                </a:lnTo>
                <a:lnTo>
                  <a:pt x="199194" y="227353"/>
                </a:lnTo>
                <a:lnTo>
                  <a:pt x="199194" y="103811"/>
                </a:lnTo>
                <a:lnTo>
                  <a:pt x="360115" y="103811"/>
                </a:lnTo>
                <a:lnTo>
                  <a:pt x="360115" y="132252"/>
                </a:lnTo>
                <a:lnTo>
                  <a:pt x="549430" y="132252"/>
                </a:lnTo>
                <a:lnTo>
                  <a:pt x="549430" y="199001"/>
                </a:lnTo>
                <a:lnTo>
                  <a:pt x="607639" y="199001"/>
                </a:lnTo>
                <a:lnTo>
                  <a:pt x="607639" y="208244"/>
                </a:lnTo>
                <a:cubicBezTo>
                  <a:pt x="607639" y="240685"/>
                  <a:pt x="594555" y="271437"/>
                  <a:pt x="571236" y="294723"/>
                </a:cubicBezTo>
                <a:cubicBezTo>
                  <a:pt x="564383" y="301656"/>
                  <a:pt x="556817" y="307611"/>
                  <a:pt x="548807" y="312677"/>
                </a:cubicBezTo>
                <a:lnTo>
                  <a:pt x="606393" y="312677"/>
                </a:lnTo>
                <a:lnTo>
                  <a:pt x="606393" y="331164"/>
                </a:lnTo>
                <a:lnTo>
                  <a:pt x="0" y="331164"/>
                </a:lnTo>
                <a:lnTo>
                  <a:pt x="0" y="312677"/>
                </a:lnTo>
                <a:lnTo>
                  <a:pt x="48063" y="312677"/>
                </a:lnTo>
                <a:cubicBezTo>
                  <a:pt x="24921" y="295434"/>
                  <a:pt x="9879" y="267793"/>
                  <a:pt x="9879" y="236685"/>
                </a:cubicBezTo>
                <a:lnTo>
                  <a:pt x="9879" y="227353"/>
                </a:lnTo>
                <a:lnTo>
                  <a:pt x="162078" y="227353"/>
                </a:lnTo>
                <a:lnTo>
                  <a:pt x="162078" y="131008"/>
                </a:lnTo>
                <a:lnTo>
                  <a:pt x="123717" y="131008"/>
                </a:lnTo>
                <a:lnTo>
                  <a:pt x="123717" y="112432"/>
                </a:lnTo>
                <a:lnTo>
                  <a:pt x="162078" y="112432"/>
                </a:lnTo>
                <a:lnTo>
                  <a:pt x="162078" y="103811"/>
                </a:lnTo>
                <a:lnTo>
                  <a:pt x="58120" y="103811"/>
                </a:lnTo>
                <a:lnTo>
                  <a:pt x="58120" y="56883"/>
                </a:lnTo>
                <a:lnTo>
                  <a:pt x="123717" y="5688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armonyOS Sans SC" panose="00000500000000000000" pitchFamily="2" charset="-122"/>
              <a:ea typeface="HarmonyOS Sans SC" panose="00000500000000000000" pitchFamily="2" charset="-122"/>
            </a:endParaRPr>
          </a:p>
        </p:txBody>
      </p:sp>
      <p:sp>
        <p:nvSpPr>
          <p:cNvPr id="96" name="矩形: 圆角 84"/>
          <p:cNvSpPr/>
          <p:nvPr/>
        </p:nvSpPr>
        <p:spPr>
          <a:xfrm>
            <a:off x="4384991" y="3275034"/>
            <a:ext cx="3422018" cy="242525"/>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accent4"/>
                </a:solidFill>
                <a:latin typeface="HarmonyOS Sans SC" panose="00000500000000000000" pitchFamily="2" charset="-122"/>
                <a:ea typeface="HarmonyOS Sans SC" panose="00000500000000000000" pitchFamily="2" charset="-122"/>
              </a:rPr>
              <a:t>小洲工业园</a:t>
            </a:r>
            <a:r>
              <a:rPr lang="zh-CN" altLang="en-US" sz="1100">
                <a:solidFill>
                  <a:schemeClr val="accent4"/>
                </a:solidFill>
                <a:latin typeface="HarmonyOS Sans SC" panose="00000500000000000000" pitchFamily="2" charset="-122"/>
                <a:ea typeface="HarmonyOS Sans SC" panose="00000500000000000000" pitchFamily="2" charset="-122"/>
              </a:rPr>
              <a:t>  小洲工业集聚区地块</a:t>
            </a:r>
            <a:endParaRPr kumimoji="0" lang="zh-CN" altLang="en-US" sz="1100" b="0" i="0" u="none" strike="noStrike" kern="1200" cap="none" spc="0" normalizeH="0" baseline="0" noProof="0" dirty="0">
              <a:ln>
                <a:noFill/>
              </a:ln>
              <a:solidFill>
                <a:schemeClr val="accent4"/>
              </a:solidFill>
              <a:effectLst/>
              <a:uLnTx/>
              <a:uFillTx/>
              <a:latin typeface="HarmonyOS Sans SC" panose="00000500000000000000" pitchFamily="2" charset="-122"/>
              <a:ea typeface="HarmonyOS Sans SC" panose="00000500000000000000" pitchFamily="2" charset="-122"/>
              <a:cs typeface="+mn-cs"/>
            </a:endParaRPr>
          </a:p>
        </p:txBody>
      </p:sp>
      <p:grpSp>
        <p:nvGrpSpPr>
          <p:cNvPr id="138" name="组合 137"/>
          <p:cNvGrpSpPr/>
          <p:nvPr/>
        </p:nvGrpSpPr>
        <p:grpSpPr>
          <a:xfrm>
            <a:off x="694692" y="4802324"/>
            <a:ext cx="590407" cy="973605"/>
            <a:chOff x="4125913" y="1785938"/>
            <a:chExt cx="330200" cy="544513"/>
          </a:xfrm>
          <a:gradFill>
            <a:gsLst>
              <a:gs pos="0">
                <a:srgbClr val="00B0F0"/>
              </a:gs>
              <a:gs pos="95000">
                <a:schemeClr val="tx2"/>
              </a:gs>
            </a:gsLst>
            <a:lin ang="5400000" scaled="1"/>
          </a:gradFill>
        </p:grpSpPr>
        <p:sp>
          <p:nvSpPr>
            <p:cNvPr id="160" name="Freeform 2332"/>
            <p:cNvSpPr/>
            <p:nvPr/>
          </p:nvSpPr>
          <p:spPr bwMode="auto">
            <a:xfrm>
              <a:off x="4210051" y="1785938"/>
              <a:ext cx="68263" cy="114300"/>
            </a:xfrm>
            <a:custGeom>
              <a:avLst/>
              <a:gdLst>
                <a:gd name="T0" fmla="*/ 59 w 72"/>
                <a:gd name="T1" fmla="*/ 7 h 121"/>
                <a:gd name="T2" fmla="*/ 45 w 72"/>
                <a:gd name="T3" fmla="*/ 16 h 121"/>
                <a:gd name="T4" fmla="*/ 31 w 72"/>
                <a:gd name="T5" fmla="*/ 36 h 121"/>
                <a:gd name="T6" fmla="*/ 21 w 72"/>
                <a:gd name="T7" fmla="*/ 59 h 121"/>
                <a:gd name="T8" fmla="*/ 16 w 72"/>
                <a:gd name="T9" fmla="*/ 79 h 121"/>
                <a:gd name="T10" fmla="*/ 9 w 72"/>
                <a:gd name="T11" fmla="*/ 101 h 121"/>
                <a:gd name="T12" fmla="*/ 0 w 72"/>
                <a:gd name="T13" fmla="*/ 117 h 121"/>
                <a:gd name="T14" fmla="*/ 0 w 72"/>
                <a:gd name="T15" fmla="*/ 121 h 121"/>
                <a:gd name="T16" fmla="*/ 3 w 72"/>
                <a:gd name="T17" fmla="*/ 118 h 121"/>
                <a:gd name="T18" fmla="*/ 11 w 72"/>
                <a:gd name="T19" fmla="*/ 102 h 121"/>
                <a:gd name="T20" fmla="*/ 25 w 72"/>
                <a:gd name="T21" fmla="*/ 84 h 121"/>
                <a:gd name="T22" fmla="*/ 39 w 72"/>
                <a:gd name="T23" fmla="*/ 69 h 121"/>
                <a:gd name="T24" fmla="*/ 54 w 72"/>
                <a:gd name="T25" fmla="*/ 49 h 121"/>
                <a:gd name="T26" fmla="*/ 64 w 72"/>
                <a:gd name="T27" fmla="*/ 29 h 121"/>
                <a:gd name="T28" fmla="*/ 67 w 72"/>
                <a:gd name="T29" fmla="*/ 12 h 121"/>
                <a:gd name="T30" fmla="*/ 69 w 72"/>
                <a:gd name="T31" fmla="*/ 0 h 121"/>
                <a:gd name="T32" fmla="*/ 59 w 72"/>
                <a:gd name="T33" fmla="*/ 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121">
                  <a:moveTo>
                    <a:pt x="59" y="7"/>
                  </a:moveTo>
                  <a:cubicBezTo>
                    <a:pt x="52" y="4"/>
                    <a:pt x="53" y="15"/>
                    <a:pt x="45" y="16"/>
                  </a:cubicBezTo>
                  <a:cubicBezTo>
                    <a:pt x="38" y="17"/>
                    <a:pt x="37" y="33"/>
                    <a:pt x="31" y="36"/>
                  </a:cubicBezTo>
                  <a:cubicBezTo>
                    <a:pt x="25" y="38"/>
                    <a:pt x="22" y="46"/>
                    <a:pt x="21" y="59"/>
                  </a:cubicBezTo>
                  <a:cubicBezTo>
                    <a:pt x="21" y="65"/>
                    <a:pt x="14" y="66"/>
                    <a:pt x="16" y="79"/>
                  </a:cubicBezTo>
                  <a:cubicBezTo>
                    <a:pt x="16" y="84"/>
                    <a:pt x="13" y="93"/>
                    <a:pt x="9" y="101"/>
                  </a:cubicBezTo>
                  <a:cubicBezTo>
                    <a:pt x="9" y="101"/>
                    <a:pt x="5" y="109"/>
                    <a:pt x="0" y="117"/>
                  </a:cubicBezTo>
                  <a:cubicBezTo>
                    <a:pt x="0" y="121"/>
                    <a:pt x="0" y="121"/>
                    <a:pt x="0" y="121"/>
                  </a:cubicBezTo>
                  <a:cubicBezTo>
                    <a:pt x="3" y="118"/>
                    <a:pt x="3" y="118"/>
                    <a:pt x="3" y="118"/>
                  </a:cubicBezTo>
                  <a:cubicBezTo>
                    <a:pt x="7" y="110"/>
                    <a:pt x="10" y="103"/>
                    <a:pt x="11" y="102"/>
                  </a:cubicBezTo>
                  <a:cubicBezTo>
                    <a:pt x="15" y="94"/>
                    <a:pt x="20" y="86"/>
                    <a:pt x="25" y="84"/>
                  </a:cubicBezTo>
                  <a:cubicBezTo>
                    <a:pt x="37" y="79"/>
                    <a:pt x="34" y="72"/>
                    <a:pt x="39" y="69"/>
                  </a:cubicBezTo>
                  <a:cubicBezTo>
                    <a:pt x="49" y="62"/>
                    <a:pt x="55" y="55"/>
                    <a:pt x="54" y="49"/>
                  </a:cubicBezTo>
                  <a:cubicBezTo>
                    <a:pt x="53" y="43"/>
                    <a:pt x="67" y="35"/>
                    <a:pt x="64" y="29"/>
                  </a:cubicBezTo>
                  <a:cubicBezTo>
                    <a:pt x="62" y="21"/>
                    <a:pt x="72" y="17"/>
                    <a:pt x="67" y="12"/>
                  </a:cubicBezTo>
                  <a:cubicBezTo>
                    <a:pt x="65" y="10"/>
                    <a:pt x="69" y="0"/>
                    <a:pt x="69" y="0"/>
                  </a:cubicBezTo>
                  <a:cubicBezTo>
                    <a:pt x="69" y="0"/>
                    <a:pt x="62" y="8"/>
                    <a:pt x="59"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61" name="Freeform 2333"/>
            <p:cNvSpPr/>
            <p:nvPr/>
          </p:nvSpPr>
          <p:spPr bwMode="auto">
            <a:xfrm>
              <a:off x="4157663" y="1895476"/>
              <a:ext cx="298450" cy="434975"/>
            </a:xfrm>
            <a:custGeom>
              <a:avLst/>
              <a:gdLst>
                <a:gd name="T0" fmla="*/ 57 w 320"/>
                <a:gd name="T1" fmla="*/ 0 h 465"/>
                <a:gd name="T2" fmla="*/ 36 w 320"/>
                <a:gd name="T3" fmla="*/ 48 h 465"/>
                <a:gd name="T4" fmla="*/ 11 w 320"/>
                <a:gd name="T5" fmla="*/ 129 h 465"/>
                <a:gd name="T6" fmla="*/ 6 w 320"/>
                <a:gd name="T7" fmla="*/ 235 h 465"/>
                <a:gd name="T8" fmla="*/ 23 w 320"/>
                <a:gd name="T9" fmla="*/ 289 h 465"/>
                <a:gd name="T10" fmla="*/ 56 w 320"/>
                <a:gd name="T11" fmla="*/ 337 h 465"/>
                <a:gd name="T12" fmla="*/ 146 w 320"/>
                <a:gd name="T13" fmla="*/ 402 h 465"/>
                <a:gd name="T14" fmla="*/ 233 w 320"/>
                <a:gd name="T15" fmla="*/ 437 h 465"/>
                <a:gd name="T16" fmla="*/ 296 w 320"/>
                <a:gd name="T17" fmla="*/ 457 h 465"/>
                <a:gd name="T18" fmla="*/ 320 w 320"/>
                <a:gd name="T19" fmla="*/ 465 h 465"/>
                <a:gd name="T20" fmla="*/ 320 w 320"/>
                <a:gd name="T21" fmla="*/ 463 h 465"/>
                <a:gd name="T22" fmla="*/ 297 w 320"/>
                <a:gd name="T23" fmla="*/ 455 h 465"/>
                <a:gd name="T24" fmla="*/ 234 w 320"/>
                <a:gd name="T25" fmla="*/ 435 h 465"/>
                <a:gd name="T26" fmla="*/ 146 w 320"/>
                <a:gd name="T27" fmla="*/ 399 h 465"/>
                <a:gd name="T28" fmla="*/ 57 w 320"/>
                <a:gd name="T29" fmla="*/ 334 h 465"/>
                <a:gd name="T30" fmla="*/ 25 w 320"/>
                <a:gd name="T31" fmla="*/ 287 h 465"/>
                <a:gd name="T32" fmla="*/ 8 w 320"/>
                <a:gd name="T33" fmla="*/ 233 h 465"/>
                <a:gd name="T34" fmla="*/ 13 w 320"/>
                <a:gd name="T35" fmla="*/ 128 h 465"/>
                <a:gd name="T36" fmla="*/ 39 w 320"/>
                <a:gd name="T37" fmla="*/ 48 h 465"/>
                <a:gd name="T38" fmla="*/ 60 w 320"/>
                <a:gd name="T39" fmla="*/ 1 h 465"/>
                <a:gd name="T40" fmla="*/ 57 w 320"/>
                <a:gd name="T41" fmla="*/ 0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465">
                  <a:moveTo>
                    <a:pt x="57" y="0"/>
                  </a:moveTo>
                  <a:cubicBezTo>
                    <a:pt x="53" y="10"/>
                    <a:pt x="45" y="26"/>
                    <a:pt x="36" y="48"/>
                  </a:cubicBezTo>
                  <a:cubicBezTo>
                    <a:pt x="28" y="69"/>
                    <a:pt x="18" y="97"/>
                    <a:pt x="11" y="129"/>
                  </a:cubicBezTo>
                  <a:cubicBezTo>
                    <a:pt x="4" y="161"/>
                    <a:pt x="0" y="197"/>
                    <a:pt x="6" y="235"/>
                  </a:cubicBezTo>
                  <a:cubicBezTo>
                    <a:pt x="9" y="253"/>
                    <a:pt x="15" y="272"/>
                    <a:pt x="23" y="289"/>
                  </a:cubicBezTo>
                  <a:cubicBezTo>
                    <a:pt x="32" y="307"/>
                    <a:pt x="43" y="323"/>
                    <a:pt x="56" y="337"/>
                  </a:cubicBezTo>
                  <a:cubicBezTo>
                    <a:pt x="82" y="365"/>
                    <a:pt x="114" y="386"/>
                    <a:pt x="146" y="402"/>
                  </a:cubicBezTo>
                  <a:cubicBezTo>
                    <a:pt x="177" y="417"/>
                    <a:pt x="207" y="428"/>
                    <a:pt x="233" y="437"/>
                  </a:cubicBezTo>
                  <a:cubicBezTo>
                    <a:pt x="259" y="446"/>
                    <a:pt x="281" y="453"/>
                    <a:pt x="296" y="457"/>
                  </a:cubicBezTo>
                  <a:cubicBezTo>
                    <a:pt x="320" y="465"/>
                    <a:pt x="320" y="465"/>
                    <a:pt x="320" y="465"/>
                  </a:cubicBezTo>
                  <a:cubicBezTo>
                    <a:pt x="320" y="463"/>
                    <a:pt x="320" y="463"/>
                    <a:pt x="320" y="463"/>
                  </a:cubicBezTo>
                  <a:cubicBezTo>
                    <a:pt x="297" y="455"/>
                    <a:pt x="297" y="455"/>
                    <a:pt x="297" y="455"/>
                  </a:cubicBezTo>
                  <a:cubicBezTo>
                    <a:pt x="282" y="450"/>
                    <a:pt x="260" y="444"/>
                    <a:pt x="234" y="435"/>
                  </a:cubicBezTo>
                  <a:cubicBezTo>
                    <a:pt x="208" y="426"/>
                    <a:pt x="177" y="415"/>
                    <a:pt x="146" y="399"/>
                  </a:cubicBezTo>
                  <a:cubicBezTo>
                    <a:pt x="115" y="383"/>
                    <a:pt x="83" y="363"/>
                    <a:pt x="57" y="334"/>
                  </a:cubicBezTo>
                  <a:cubicBezTo>
                    <a:pt x="44" y="320"/>
                    <a:pt x="33" y="304"/>
                    <a:pt x="25" y="287"/>
                  </a:cubicBezTo>
                  <a:cubicBezTo>
                    <a:pt x="17" y="270"/>
                    <a:pt x="11" y="251"/>
                    <a:pt x="8" y="233"/>
                  </a:cubicBezTo>
                  <a:cubicBezTo>
                    <a:pt x="2" y="196"/>
                    <a:pt x="6" y="160"/>
                    <a:pt x="13" y="128"/>
                  </a:cubicBezTo>
                  <a:cubicBezTo>
                    <a:pt x="20" y="97"/>
                    <a:pt x="30" y="69"/>
                    <a:pt x="39" y="48"/>
                  </a:cubicBezTo>
                  <a:cubicBezTo>
                    <a:pt x="48" y="26"/>
                    <a:pt x="55" y="10"/>
                    <a:pt x="60" y="1"/>
                  </a:cubicBezTo>
                  <a:lnTo>
                    <a:pt x="5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62" name="Freeform 2334"/>
            <p:cNvSpPr/>
            <p:nvPr/>
          </p:nvSpPr>
          <p:spPr bwMode="auto">
            <a:xfrm>
              <a:off x="4187826" y="1825626"/>
              <a:ext cx="33338" cy="107950"/>
            </a:xfrm>
            <a:custGeom>
              <a:avLst/>
              <a:gdLst>
                <a:gd name="T0" fmla="*/ 25 w 35"/>
                <a:gd name="T1" fmla="*/ 0 h 116"/>
                <a:gd name="T2" fmla="*/ 19 w 35"/>
                <a:gd name="T3" fmla="*/ 10 h 116"/>
                <a:gd name="T4" fmla="*/ 10 w 35"/>
                <a:gd name="T5" fmla="*/ 24 h 116"/>
                <a:gd name="T6" fmla="*/ 5 w 35"/>
                <a:gd name="T7" fmla="*/ 44 h 116"/>
                <a:gd name="T8" fmla="*/ 4 w 35"/>
                <a:gd name="T9" fmla="*/ 66 h 116"/>
                <a:gd name="T10" fmla="*/ 7 w 35"/>
                <a:gd name="T11" fmla="*/ 83 h 116"/>
                <a:gd name="T12" fmla="*/ 9 w 35"/>
                <a:gd name="T13" fmla="*/ 102 h 116"/>
                <a:gd name="T14" fmla="*/ 8 w 35"/>
                <a:gd name="T15" fmla="*/ 116 h 116"/>
                <a:gd name="T16" fmla="*/ 10 w 35"/>
                <a:gd name="T17" fmla="*/ 110 h 116"/>
                <a:gd name="T18" fmla="*/ 11 w 35"/>
                <a:gd name="T19" fmla="*/ 102 h 116"/>
                <a:gd name="T20" fmla="*/ 17 w 35"/>
                <a:gd name="T21" fmla="*/ 82 h 116"/>
                <a:gd name="T22" fmla="*/ 24 w 35"/>
                <a:gd name="T23" fmla="*/ 65 h 116"/>
                <a:gd name="T24" fmla="*/ 30 w 35"/>
                <a:gd name="T25" fmla="*/ 43 h 116"/>
                <a:gd name="T26" fmla="*/ 31 w 35"/>
                <a:gd name="T27" fmla="*/ 24 h 116"/>
                <a:gd name="T28" fmla="*/ 27 w 35"/>
                <a:gd name="T29" fmla="*/ 10 h 116"/>
                <a:gd name="T30" fmla="*/ 25 w 35"/>
                <a:gd name="T3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116">
                  <a:moveTo>
                    <a:pt x="25" y="0"/>
                  </a:moveTo>
                  <a:cubicBezTo>
                    <a:pt x="25" y="0"/>
                    <a:pt x="21" y="9"/>
                    <a:pt x="19" y="10"/>
                  </a:cubicBezTo>
                  <a:cubicBezTo>
                    <a:pt x="11" y="12"/>
                    <a:pt x="16" y="19"/>
                    <a:pt x="10" y="24"/>
                  </a:cubicBezTo>
                  <a:cubicBezTo>
                    <a:pt x="4" y="28"/>
                    <a:pt x="9" y="40"/>
                    <a:pt x="5" y="44"/>
                  </a:cubicBezTo>
                  <a:cubicBezTo>
                    <a:pt x="1" y="49"/>
                    <a:pt x="0" y="57"/>
                    <a:pt x="4" y="66"/>
                  </a:cubicBezTo>
                  <a:cubicBezTo>
                    <a:pt x="6" y="71"/>
                    <a:pt x="0" y="75"/>
                    <a:pt x="7" y="83"/>
                  </a:cubicBezTo>
                  <a:cubicBezTo>
                    <a:pt x="10" y="87"/>
                    <a:pt x="9" y="95"/>
                    <a:pt x="9" y="102"/>
                  </a:cubicBezTo>
                  <a:cubicBezTo>
                    <a:pt x="8" y="116"/>
                    <a:pt x="8" y="116"/>
                    <a:pt x="8" y="116"/>
                  </a:cubicBezTo>
                  <a:cubicBezTo>
                    <a:pt x="10" y="110"/>
                    <a:pt x="10" y="110"/>
                    <a:pt x="10" y="110"/>
                  </a:cubicBezTo>
                  <a:cubicBezTo>
                    <a:pt x="11" y="102"/>
                    <a:pt x="11" y="102"/>
                    <a:pt x="11" y="102"/>
                  </a:cubicBezTo>
                  <a:cubicBezTo>
                    <a:pt x="12" y="95"/>
                    <a:pt x="13" y="86"/>
                    <a:pt x="17" y="82"/>
                  </a:cubicBezTo>
                  <a:cubicBezTo>
                    <a:pt x="25" y="73"/>
                    <a:pt x="20" y="70"/>
                    <a:pt x="24" y="65"/>
                  </a:cubicBezTo>
                  <a:cubicBezTo>
                    <a:pt x="30" y="55"/>
                    <a:pt x="32" y="47"/>
                    <a:pt x="30" y="43"/>
                  </a:cubicBezTo>
                  <a:cubicBezTo>
                    <a:pt x="27" y="39"/>
                    <a:pt x="35" y="27"/>
                    <a:pt x="31" y="24"/>
                  </a:cubicBezTo>
                  <a:cubicBezTo>
                    <a:pt x="26" y="19"/>
                    <a:pt x="34" y="12"/>
                    <a:pt x="27" y="10"/>
                  </a:cubicBezTo>
                  <a:cubicBezTo>
                    <a:pt x="25" y="9"/>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63" name="Freeform 2335"/>
            <p:cNvSpPr/>
            <p:nvPr/>
          </p:nvSpPr>
          <p:spPr bwMode="auto">
            <a:xfrm>
              <a:off x="4195763" y="1857376"/>
              <a:ext cx="74613" cy="76200"/>
            </a:xfrm>
            <a:custGeom>
              <a:avLst/>
              <a:gdLst>
                <a:gd name="T0" fmla="*/ 80 w 80"/>
                <a:gd name="T1" fmla="*/ 3 h 82"/>
                <a:gd name="T2" fmla="*/ 75 w 80"/>
                <a:gd name="T3" fmla="*/ 12 h 82"/>
                <a:gd name="T4" fmla="*/ 69 w 80"/>
                <a:gd name="T5" fmla="*/ 26 h 82"/>
                <a:gd name="T6" fmla="*/ 56 w 80"/>
                <a:gd name="T7" fmla="*/ 41 h 82"/>
                <a:gd name="T8" fmla="*/ 39 w 80"/>
                <a:gd name="T9" fmla="*/ 53 h 82"/>
                <a:gd name="T10" fmla="*/ 25 w 80"/>
                <a:gd name="T11" fmla="*/ 61 h 82"/>
                <a:gd name="T12" fmla="*/ 9 w 80"/>
                <a:gd name="T13" fmla="*/ 72 h 82"/>
                <a:gd name="T14" fmla="*/ 0 w 80"/>
                <a:gd name="T15" fmla="*/ 82 h 82"/>
                <a:gd name="T16" fmla="*/ 2 w 80"/>
                <a:gd name="T17" fmla="*/ 76 h 82"/>
                <a:gd name="T18" fmla="*/ 8 w 80"/>
                <a:gd name="T19" fmla="*/ 70 h 82"/>
                <a:gd name="T20" fmla="*/ 19 w 80"/>
                <a:gd name="T21" fmla="*/ 53 h 82"/>
                <a:gd name="T22" fmla="*/ 28 w 80"/>
                <a:gd name="T23" fmla="*/ 37 h 82"/>
                <a:gd name="T24" fmla="*/ 42 w 80"/>
                <a:gd name="T25" fmla="*/ 20 h 82"/>
                <a:gd name="T26" fmla="*/ 57 w 80"/>
                <a:gd name="T27" fmla="*/ 8 h 82"/>
                <a:gd name="T28" fmla="*/ 71 w 80"/>
                <a:gd name="T29" fmla="*/ 5 h 82"/>
                <a:gd name="T30" fmla="*/ 80 w 80"/>
                <a:gd name="T3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0" h="82">
                  <a:moveTo>
                    <a:pt x="80" y="3"/>
                  </a:moveTo>
                  <a:cubicBezTo>
                    <a:pt x="80" y="3"/>
                    <a:pt x="74" y="10"/>
                    <a:pt x="75" y="12"/>
                  </a:cubicBezTo>
                  <a:cubicBezTo>
                    <a:pt x="78" y="19"/>
                    <a:pt x="69" y="18"/>
                    <a:pt x="69" y="26"/>
                  </a:cubicBezTo>
                  <a:cubicBezTo>
                    <a:pt x="69" y="32"/>
                    <a:pt x="57" y="35"/>
                    <a:pt x="56" y="41"/>
                  </a:cubicBezTo>
                  <a:cubicBezTo>
                    <a:pt x="55" y="46"/>
                    <a:pt x="49" y="50"/>
                    <a:pt x="39" y="53"/>
                  </a:cubicBezTo>
                  <a:cubicBezTo>
                    <a:pt x="34" y="54"/>
                    <a:pt x="35" y="61"/>
                    <a:pt x="25" y="61"/>
                  </a:cubicBezTo>
                  <a:cubicBezTo>
                    <a:pt x="20" y="61"/>
                    <a:pt x="14" y="66"/>
                    <a:pt x="9" y="72"/>
                  </a:cubicBezTo>
                  <a:cubicBezTo>
                    <a:pt x="9" y="72"/>
                    <a:pt x="5" y="77"/>
                    <a:pt x="0" y="82"/>
                  </a:cubicBezTo>
                  <a:cubicBezTo>
                    <a:pt x="2" y="76"/>
                    <a:pt x="2" y="76"/>
                    <a:pt x="2" y="76"/>
                  </a:cubicBezTo>
                  <a:cubicBezTo>
                    <a:pt x="8" y="70"/>
                    <a:pt x="8" y="70"/>
                    <a:pt x="8" y="70"/>
                  </a:cubicBezTo>
                  <a:cubicBezTo>
                    <a:pt x="13" y="65"/>
                    <a:pt x="18" y="58"/>
                    <a:pt x="19" y="53"/>
                  </a:cubicBezTo>
                  <a:cubicBezTo>
                    <a:pt x="21" y="41"/>
                    <a:pt x="26" y="43"/>
                    <a:pt x="28" y="37"/>
                  </a:cubicBezTo>
                  <a:cubicBezTo>
                    <a:pt x="32" y="26"/>
                    <a:pt x="37" y="20"/>
                    <a:pt x="42" y="20"/>
                  </a:cubicBezTo>
                  <a:cubicBezTo>
                    <a:pt x="47" y="20"/>
                    <a:pt x="52" y="7"/>
                    <a:pt x="57" y="8"/>
                  </a:cubicBezTo>
                  <a:cubicBezTo>
                    <a:pt x="64" y="10"/>
                    <a:pt x="66" y="0"/>
                    <a:pt x="71" y="5"/>
                  </a:cubicBezTo>
                  <a:cubicBezTo>
                    <a:pt x="73" y="7"/>
                    <a:pt x="80" y="3"/>
                    <a:pt x="8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64" name="Freeform 2336"/>
            <p:cNvSpPr/>
            <p:nvPr/>
          </p:nvSpPr>
          <p:spPr bwMode="auto">
            <a:xfrm>
              <a:off x="4160838" y="1889126"/>
              <a:ext cx="28575" cy="106363"/>
            </a:xfrm>
            <a:custGeom>
              <a:avLst/>
              <a:gdLst>
                <a:gd name="T0" fmla="*/ 20 w 32"/>
                <a:gd name="T1" fmla="*/ 0 h 115"/>
                <a:gd name="T2" fmla="*/ 15 w 32"/>
                <a:gd name="T3" fmla="*/ 10 h 115"/>
                <a:gd name="T4" fmla="*/ 7 w 32"/>
                <a:gd name="T5" fmla="*/ 25 h 115"/>
                <a:gd name="T6" fmla="*/ 4 w 32"/>
                <a:gd name="T7" fmla="*/ 45 h 115"/>
                <a:gd name="T8" fmla="*/ 5 w 32"/>
                <a:gd name="T9" fmla="*/ 67 h 115"/>
                <a:gd name="T10" fmla="*/ 10 w 32"/>
                <a:gd name="T11" fmla="*/ 83 h 115"/>
                <a:gd name="T12" fmla="*/ 14 w 32"/>
                <a:gd name="T13" fmla="*/ 102 h 115"/>
                <a:gd name="T14" fmla="*/ 14 w 32"/>
                <a:gd name="T15" fmla="*/ 115 h 115"/>
                <a:gd name="T16" fmla="*/ 16 w 32"/>
                <a:gd name="T17" fmla="*/ 109 h 115"/>
                <a:gd name="T18" fmla="*/ 16 w 32"/>
                <a:gd name="T19" fmla="*/ 101 h 115"/>
                <a:gd name="T20" fmla="*/ 19 w 32"/>
                <a:gd name="T21" fmla="*/ 81 h 115"/>
                <a:gd name="T22" fmla="*/ 24 w 32"/>
                <a:gd name="T23" fmla="*/ 64 h 115"/>
                <a:gd name="T24" fmla="*/ 28 w 32"/>
                <a:gd name="T25" fmla="*/ 42 h 115"/>
                <a:gd name="T26" fmla="*/ 28 w 32"/>
                <a:gd name="T27" fmla="*/ 22 h 115"/>
                <a:gd name="T28" fmla="*/ 23 w 32"/>
                <a:gd name="T29" fmla="*/ 9 h 115"/>
                <a:gd name="T30" fmla="*/ 20 w 32"/>
                <a:gd name="T3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 h="115">
                  <a:moveTo>
                    <a:pt x="20" y="0"/>
                  </a:moveTo>
                  <a:cubicBezTo>
                    <a:pt x="20" y="0"/>
                    <a:pt x="17" y="9"/>
                    <a:pt x="15" y="10"/>
                  </a:cubicBezTo>
                  <a:cubicBezTo>
                    <a:pt x="8" y="13"/>
                    <a:pt x="13" y="19"/>
                    <a:pt x="7" y="25"/>
                  </a:cubicBezTo>
                  <a:cubicBezTo>
                    <a:pt x="2" y="29"/>
                    <a:pt x="7" y="41"/>
                    <a:pt x="4" y="45"/>
                  </a:cubicBezTo>
                  <a:cubicBezTo>
                    <a:pt x="0" y="50"/>
                    <a:pt x="1" y="58"/>
                    <a:pt x="5" y="67"/>
                  </a:cubicBezTo>
                  <a:cubicBezTo>
                    <a:pt x="8" y="71"/>
                    <a:pt x="2" y="76"/>
                    <a:pt x="10" y="83"/>
                  </a:cubicBezTo>
                  <a:cubicBezTo>
                    <a:pt x="13" y="86"/>
                    <a:pt x="13" y="94"/>
                    <a:pt x="14" y="102"/>
                  </a:cubicBezTo>
                  <a:cubicBezTo>
                    <a:pt x="14" y="102"/>
                    <a:pt x="14" y="108"/>
                    <a:pt x="14" y="115"/>
                  </a:cubicBezTo>
                  <a:cubicBezTo>
                    <a:pt x="16" y="109"/>
                    <a:pt x="16" y="109"/>
                    <a:pt x="16" y="109"/>
                  </a:cubicBezTo>
                  <a:cubicBezTo>
                    <a:pt x="16" y="101"/>
                    <a:pt x="16" y="101"/>
                    <a:pt x="16" y="101"/>
                  </a:cubicBezTo>
                  <a:cubicBezTo>
                    <a:pt x="15" y="94"/>
                    <a:pt x="16" y="86"/>
                    <a:pt x="19" y="81"/>
                  </a:cubicBezTo>
                  <a:cubicBezTo>
                    <a:pt x="27" y="71"/>
                    <a:pt x="21" y="69"/>
                    <a:pt x="24" y="64"/>
                  </a:cubicBezTo>
                  <a:cubicBezTo>
                    <a:pt x="29" y="53"/>
                    <a:pt x="31" y="46"/>
                    <a:pt x="28" y="42"/>
                  </a:cubicBezTo>
                  <a:cubicBezTo>
                    <a:pt x="25" y="38"/>
                    <a:pt x="32" y="25"/>
                    <a:pt x="28" y="22"/>
                  </a:cubicBezTo>
                  <a:cubicBezTo>
                    <a:pt x="23" y="18"/>
                    <a:pt x="30" y="10"/>
                    <a:pt x="23" y="9"/>
                  </a:cubicBezTo>
                  <a:cubicBezTo>
                    <a:pt x="21" y="9"/>
                    <a:pt x="20"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65" name="Freeform 2337"/>
            <p:cNvSpPr/>
            <p:nvPr/>
          </p:nvSpPr>
          <p:spPr bwMode="auto">
            <a:xfrm>
              <a:off x="4173538" y="1916113"/>
              <a:ext cx="65088" cy="79375"/>
            </a:xfrm>
            <a:custGeom>
              <a:avLst/>
              <a:gdLst>
                <a:gd name="T0" fmla="*/ 70 w 70"/>
                <a:gd name="T1" fmla="*/ 1 h 85"/>
                <a:gd name="T2" fmla="*/ 67 w 70"/>
                <a:gd name="T3" fmla="*/ 10 h 85"/>
                <a:gd name="T4" fmla="*/ 62 w 70"/>
                <a:gd name="T5" fmla="*/ 25 h 85"/>
                <a:gd name="T6" fmla="*/ 50 w 70"/>
                <a:gd name="T7" fmla="*/ 40 h 85"/>
                <a:gd name="T8" fmla="*/ 35 w 70"/>
                <a:gd name="T9" fmla="*/ 53 h 85"/>
                <a:gd name="T10" fmla="*/ 22 w 70"/>
                <a:gd name="T11" fmla="*/ 62 h 85"/>
                <a:gd name="T12" fmla="*/ 8 w 70"/>
                <a:gd name="T13" fmla="*/ 74 h 85"/>
                <a:gd name="T14" fmla="*/ 0 w 70"/>
                <a:gd name="T15" fmla="*/ 85 h 85"/>
                <a:gd name="T16" fmla="*/ 2 w 70"/>
                <a:gd name="T17" fmla="*/ 79 h 85"/>
                <a:gd name="T18" fmla="*/ 6 w 70"/>
                <a:gd name="T19" fmla="*/ 73 h 85"/>
                <a:gd name="T20" fmla="*/ 15 w 70"/>
                <a:gd name="T21" fmla="*/ 55 h 85"/>
                <a:gd name="T22" fmla="*/ 23 w 70"/>
                <a:gd name="T23" fmla="*/ 39 h 85"/>
                <a:gd name="T24" fmla="*/ 35 w 70"/>
                <a:gd name="T25" fmla="*/ 21 h 85"/>
                <a:gd name="T26" fmla="*/ 49 w 70"/>
                <a:gd name="T27" fmla="*/ 8 h 85"/>
                <a:gd name="T28" fmla="*/ 62 w 70"/>
                <a:gd name="T29" fmla="*/ 4 h 85"/>
                <a:gd name="T30" fmla="*/ 70 w 70"/>
                <a:gd name="T31" fmla="*/ 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0" h="85">
                  <a:moveTo>
                    <a:pt x="70" y="1"/>
                  </a:moveTo>
                  <a:cubicBezTo>
                    <a:pt x="70" y="1"/>
                    <a:pt x="65" y="8"/>
                    <a:pt x="67" y="10"/>
                  </a:cubicBezTo>
                  <a:cubicBezTo>
                    <a:pt x="70" y="17"/>
                    <a:pt x="61" y="17"/>
                    <a:pt x="62" y="25"/>
                  </a:cubicBezTo>
                  <a:cubicBezTo>
                    <a:pt x="62" y="30"/>
                    <a:pt x="51" y="34"/>
                    <a:pt x="50" y="40"/>
                  </a:cubicBezTo>
                  <a:cubicBezTo>
                    <a:pt x="50" y="45"/>
                    <a:pt x="44" y="49"/>
                    <a:pt x="35" y="53"/>
                  </a:cubicBezTo>
                  <a:cubicBezTo>
                    <a:pt x="31" y="54"/>
                    <a:pt x="32" y="61"/>
                    <a:pt x="22" y="62"/>
                  </a:cubicBezTo>
                  <a:cubicBezTo>
                    <a:pt x="18" y="63"/>
                    <a:pt x="12" y="68"/>
                    <a:pt x="8" y="74"/>
                  </a:cubicBezTo>
                  <a:cubicBezTo>
                    <a:pt x="8" y="74"/>
                    <a:pt x="4" y="79"/>
                    <a:pt x="0" y="85"/>
                  </a:cubicBezTo>
                  <a:cubicBezTo>
                    <a:pt x="2" y="79"/>
                    <a:pt x="2" y="79"/>
                    <a:pt x="2" y="79"/>
                  </a:cubicBezTo>
                  <a:cubicBezTo>
                    <a:pt x="6" y="73"/>
                    <a:pt x="6" y="73"/>
                    <a:pt x="6" y="73"/>
                  </a:cubicBezTo>
                  <a:cubicBezTo>
                    <a:pt x="11" y="67"/>
                    <a:pt x="15" y="60"/>
                    <a:pt x="15" y="55"/>
                  </a:cubicBezTo>
                  <a:cubicBezTo>
                    <a:pt x="16" y="43"/>
                    <a:pt x="22" y="44"/>
                    <a:pt x="23" y="39"/>
                  </a:cubicBezTo>
                  <a:cubicBezTo>
                    <a:pt x="26" y="28"/>
                    <a:pt x="30" y="21"/>
                    <a:pt x="35" y="21"/>
                  </a:cubicBezTo>
                  <a:cubicBezTo>
                    <a:pt x="40" y="21"/>
                    <a:pt x="44" y="7"/>
                    <a:pt x="49" y="8"/>
                  </a:cubicBezTo>
                  <a:cubicBezTo>
                    <a:pt x="55" y="9"/>
                    <a:pt x="57" y="0"/>
                    <a:pt x="62" y="4"/>
                  </a:cubicBezTo>
                  <a:cubicBezTo>
                    <a:pt x="64" y="6"/>
                    <a:pt x="70" y="1"/>
                    <a:pt x="7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66" name="Freeform 2338"/>
            <p:cNvSpPr/>
            <p:nvPr/>
          </p:nvSpPr>
          <p:spPr bwMode="auto">
            <a:xfrm>
              <a:off x="4138613" y="1954213"/>
              <a:ext cx="28575" cy="106363"/>
            </a:xfrm>
            <a:custGeom>
              <a:avLst/>
              <a:gdLst>
                <a:gd name="T0" fmla="*/ 15 w 30"/>
                <a:gd name="T1" fmla="*/ 1 h 114"/>
                <a:gd name="T2" fmla="*/ 11 w 30"/>
                <a:gd name="T3" fmla="*/ 11 h 114"/>
                <a:gd name="T4" fmla="*/ 4 w 30"/>
                <a:gd name="T5" fmla="*/ 26 h 114"/>
                <a:gd name="T6" fmla="*/ 4 w 30"/>
                <a:gd name="T7" fmla="*/ 47 h 114"/>
                <a:gd name="T8" fmla="*/ 8 w 30"/>
                <a:gd name="T9" fmla="*/ 68 h 114"/>
                <a:gd name="T10" fmla="*/ 15 w 30"/>
                <a:gd name="T11" fmla="*/ 84 h 114"/>
                <a:gd name="T12" fmla="*/ 22 w 30"/>
                <a:gd name="T13" fmla="*/ 101 h 114"/>
                <a:gd name="T14" fmla="*/ 25 w 30"/>
                <a:gd name="T15" fmla="*/ 114 h 114"/>
                <a:gd name="T16" fmla="*/ 25 w 30"/>
                <a:gd name="T17" fmla="*/ 108 h 114"/>
                <a:gd name="T18" fmla="*/ 24 w 30"/>
                <a:gd name="T19" fmla="*/ 100 h 114"/>
                <a:gd name="T20" fmla="*/ 24 w 30"/>
                <a:gd name="T21" fmla="*/ 80 h 114"/>
                <a:gd name="T22" fmla="*/ 26 w 30"/>
                <a:gd name="T23" fmla="*/ 62 h 114"/>
                <a:gd name="T24" fmla="*/ 27 w 30"/>
                <a:gd name="T25" fmla="*/ 41 h 114"/>
                <a:gd name="T26" fmla="*/ 25 w 30"/>
                <a:gd name="T27" fmla="*/ 21 h 114"/>
                <a:gd name="T28" fmla="*/ 18 w 30"/>
                <a:gd name="T29" fmla="*/ 9 h 114"/>
                <a:gd name="T30" fmla="*/ 15 w 30"/>
                <a:gd name="T31" fmla="*/ 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114">
                  <a:moveTo>
                    <a:pt x="15" y="1"/>
                  </a:moveTo>
                  <a:cubicBezTo>
                    <a:pt x="15" y="0"/>
                    <a:pt x="13" y="10"/>
                    <a:pt x="11" y="11"/>
                  </a:cubicBezTo>
                  <a:cubicBezTo>
                    <a:pt x="4" y="14"/>
                    <a:pt x="10" y="20"/>
                    <a:pt x="4" y="26"/>
                  </a:cubicBezTo>
                  <a:cubicBezTo>
                    <a:pt x="0" y="31"/>
                    <a:pt x="7" y="42"/>
                    <a:pt x="4" y="47"/>
                  </a:cubicBezTo>
                  <a:cubicBezTo>
                    <a:pt x="1" y="52"/>
                    <a:pt x="2" y="60"/>
                    <a:pt x="8" y="68"/>
                  </a:cubicBezTo>
                  <a:cubicBezTo>
                    <a:pt x="11" y="72"/>
                    <a:pt x="7" y="77"/>
                    <a:pt x="15" y="84"/>
                  </a:cubicBezTo>
                  <a:cubicBezTo>
                    <a:pt x="18" y="86"/>
                    <a:pt x="20" y="94"/>
                    <a:pt x="22" y="101"/>
                  </a:cubicBezTo>
                  <a:cubicBezTo>
                    <a:pt x="22" y="101"/>
                    <a:pt x="23" y="107"/>
                    <a:pt x="25" y="114"/>
                  </a:cubicBezTo>
                  <a:cubicBezTo>
                    <a:pt x="25" y="108"/>
                    <a:pt x="25" y="108"/>
                    <a:pt x="25" y="108"/>
                  </a:cubicBezTo>
                  <a:cubicBezTo>
                    <a:pt x="24" y="100"/>
                    <a:pt x="24" y="100"/>
                    <a:pt x="24" y="100"/>
                  </a:cubicBezTo>
                  <a:cubicBezTo>
                    <a:pt x="22" y="93"/>
                    <a:pt x="22" y="85"/>
                    <a:pt x="24" y="80"/>
                  </a:cubicBezTo>
                  <a:cubicBezTo>
                    <a:pt x="29" y="69"/>
                    <a:pt x="24" y="68"/>
                    <a:pt x="26" y="62"/>
                  </a:cubicBezTo>
                  <a:cubicBezTo>
                    <a:pt x="30" y="52"/>
                    <a:pt x="30" y="44"/>
                    <a:pt x="27" y="41"/>
                  </a:cubicBezTo>
                  <a:cubicBezTo>
                    <a:pt x="24" y="37"/>
                    <a:pt x="29" y="24"/>
                    <a:pt x="25" y="21"/>
                  </a:cubicBezTo>
                  <a:cubicBezTo>
                    <a:pt x="19" y="18"/>
                    <a:pt x="25" y="10"/>
                    <a:pt x="18" y="9"/>
                  </a:cubicBezTo>
                  <a:cubicBezTo>
                    <a:pt x="16" y="9"/>
                    <a:pt x="15" y="1"/>
                    <a:pt x="1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67" name="Freeform 2339"/>
            <p:cNvSpPr/>
            <p:nvPr/>
          </p:nvSpPr>
          <p:spPr bwMode="auto">
            <a:xfrm>
              <a:off x="4162426" y="1976438"/>
              <a:ext cx="52388" cy="84138"/>
            </a:xfrm>
            <a:custGeom>
              <a:avLst/>
              <a:gdLst>
                <a:gd name="T0" fmla="*/ 56 w 57"/>
                <a:gd name="T1" fmla="*/ 0 h 90"/>
                <a:gd name="T2" fmla="*/ 53 w 57"/>
                <a:gd name="T3" fmla="*/ 9 h 90"/>
                <a:gd name="T4" fmla="*/ 50 w 57"/>
                <a:gd name="T5" fmla="*/ 23 h 90"/>
                <a:gd name="T6" fmla="*/ 41 w 57"/>
                <a:gd name="T7" fmla="*/ 39 h 90"/>
                <a:gd name="T8" fmla="*/ 28 w 57"/>
                <a:gd name="T9" fmla="*/ 53 h 90"/>
                <a:gd name="T10" fmla="*/ 17 w 57"/>
                <a:gd name="T11" fmla="*/ 64 h 90"/>
                <a:gd name="T12" fmla="*/ 5 w 57"/>
                <a:gd name="T13" fmla="*/ 78 h 90"/>
                <a:gd name="T14" fmla="*/ 0 w 57"/>
                <a:gd name="T15" fmla="*/ 90 h 90"/>
                <a:gd name="T16" fmla="*/ 0 w 57"/>
                <a:gd name="T17" fmla="*/ 84 h 90"/>
                <a:gd name="T18" fmla="*/ 4 w 57"/>
                <a:gd name="T19" fmla="*/ 77 h 90"/>
                <a:gd name="T20" fmla="*/ 9 w 57"/>
                <a:gd name="T21" fmla="*/ 58 h 90"/>
                <a:gd name="T22" fmla="*/ 14 w 57"/>
                <a:gd name="T23" fmla="*/ 41 h 90"/>
                <a:gd name="T24" fmla="*/ 23 w 57"/>
                <a:gd name="T25" fmla="*/ 23 h 90"/>
                <a:gd name="T26" fmla="*/ 35 w 57"/>
                <a:gd name="T27" fmla="*/ 9 h 90"/>
                <a:gd name="T28" fmla="*/ 48 w 57"/>
                <a:gd name="T29" fmla="*/ 4 h 90"/>
                <a:gd name="T30" fmla="*/ 56 w 57"/>
                <a:gd name="T31"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90">
                  <a:moveTo>
                    <a:pt x="56" y="0"/>
                  </a:moveTo>
                  <a:cubicBezTo>
                    <a:pt x="56" y="0"/>
                    <a:pt x="52" y="7"/>
                    <a:pt x="53" y="9"/>
                  </a:cubicBezTo>
                  <a:cubicBezTo>
                    <a:pt x="57" y="15"/>
                    <a:pt x="49" y="16"/>
                    <a:pt x="50" y="23"/>
                  </a:cubicBezTo>
                  <a:cubicBezTo>
                    <a:pt x="51" y="29"/>
                    <a:pt x="40" y="33"/>
                    <a:pt x="41" y="39"/>
                  </a:cubicBezTo>
                  <a:cubicBezTo>
                    <a:pt x="41" y="44"/>
                    <a:pt x="37" y="49"/>
                    <a:pt x="28" y="53"/>
                  </a:cubicBezTo>
                  <a:cubicBezTo>
                    <a:pt x="24" y="55"/>
                    <a:pt x="26" y="61"/>
                    <a:pt x="17" y="64"/>
                  </a:cubicBezTo>
                  <a:cubicBezTo>
                    <a:pt x="13" y="65"/>
                    <a:pt x="8" y="72"/>
                    <a:pt x="5" y="78"/>
                  </a:cubicBezTo>
                  <a:cubicBezTo>
                    <a:pt x="5" y="78"/>
                    <a:pt x="3" y="84"/>
                    <a:pt x="0" y="90"/>
                  </a:cubicBezTo>
                  <a:cubicBezTo>
                    <a:pt x="0" y="84"/>
                    <a:pt x="0" y="84"/>
                    <a:pt x="0" y="84"/>
                  </a:cubicBezTo>
                  <a:cubicBezTo>
                    <a:pt x="4" y="77"/>
                    <a:pt x="4" y="77"/>
                    <a:pt x="4" y="77"/>
                  </a:cubicBezTo>
                  <a:cubicBezTo>
                    <a:pt x="7" y="71"/>
                    <a:pt x="10" y="63"/>
                    <a:pt x="9" y="58"/>
                  </a:cubicBezTo>
                  <a:cubicBezTo>
                    <a:pt x="8" y="46"/>
                    <a:pt x="14" y="47"/>
                    <a:pt x="14" y="41"/>
                  </a:cubicBezTo>
                  <a:cubicBezTo>
                    <a:pt x="15" y="30"/>
                    <a:pt x="19" y="24"/>
                    <a:pt x="23" y="23"/>
                  </a:cubicBezTo>
                  <a:cubicBezTo>
                    <a:pt x="28" y="22"/>
                    <a:pt x="30" y="8"/>
                    <a:pt x="35" y="9"/>
                  </a:cubicBezTo>
                  <a:cubicBezTo>
                    <a:pt x="42" y="9"/>
                    <a:pt x="42" y="0"/>
                    <a:pt x="48" y="4"/>
                  </a:cubicBezTo>
                  <a:cubicBezTo>
                    <a:pt x="49" y="5"/>
                    <a:pt x="56" y="0"/>
                    <a:pt x="5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68" name="Freeform 2340"/>
            <p:cNvSpPr/>
            <p:nvPr/>
          </p:nvSpPr>
          <p:spPr bwMode="auto">
            <a:xfrm>
              <a:off x="4125913" y="2022476"/>
              <a:ext cx="39688" cy="101600"/>
            </a:xfrm>
            <a:custGeom>
              <a:avLst/>
              <a:gdLst>
                <a:gd name="T0" fmla="*/ 10 w 43"/>
                <a:gd name="T1" fmla="*/ 0 h 108"/>
                <a:gd name="T2" fmla="*/ 7 w 43"/>
                <a:gd name="T3" fmla="*/ 11 h 108"/>
                <a:gd name="T4" fmla="*/ 4 w 43"/>
                <a:gd name="T5" fmla="*/ 28 h 108"/>
                <a:gd name="T6" fmla="*/ 7 w 43"/>
                <a:gd name="T7" fmla="*/ 49 h 108"/>
                <a:gd name="T8" fmla="*/ 16 w 43"/>
                <a:gd name="T9" fmla="*/ 68 h 108"/>
                <a:gd name="T10" fmla="*/ 26 w 43"/>
                <a:gd name="T11" fmla="*/ 82 h 108"/>
                <a:gd name="T12" fmla="*/ 36 w 43"/>
                <a:gd name="T13" fmla="*/ 96 h 108"/>
                <a:gd name="T14" fmla="*/ 43 w 43"/>
                <a:gd name="T15" fmla="*/ 108 h 108"/>
                <a:gd name="T16" fmla="*/ 42 w 43"/>
                <a:gd name="T17" fmla="*/ 102 h 108"/>
                <a:gd name="T18" fmla="*/ 38 w 43"/>
                <a:gd name="T19" fmla="*/ 96 h 108"/>
                <a:gd name="T20" fmla="*/ 33 w 43"/>
                <a:gd name="T21" fmla="*/ 76 h 108"/>
                <a:gd name="T22" fmla="*/ 32 w 43"/>
                <a:gd name="T23" fmla="*/ 59 h 108"/>
                <a:gd name="T24" fmla="*/ 28 w 43"/>
                <a:gd name="T25" fmla="*/ 38 h 108"/>
                <a:gd name="T26" fmla="*/ 23 w 43"/>
                <a:gd name="T27" fmla="*/ 19 h 108"/>
                <a:gd name="T28" fmla="*/ 15 w 43"/>
                <a:gd name="T29" fmla="*/ 8 h 108"/>
                <a:gd name="T30" fmla="*/ 10 w 43"/>
                <a:gd name="T31"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 h="108">
                  <a:moveTo>
                    <a:pt x="10" y="0"/>
                  </a:moveTo>
                  <a:cubicBezTo>
                    <a:pt x="10" y="0"/>
                    <a:pt x="9" y="10"/>
                    <a:pt x="7" y="11"/>
                  </a:cubicBezTo>
                  <a:cubicBezTo>
                    <a:pt x="1" y="15"/>
                    <a:pt x="8" y="20"/>
                    <a:pt x="4" y="28"/>
                  </a:cubicBezTo>
                  <a:cubicBezTo>
                    <a:pt x="0" y="33"/>
                    <a:pt x="9" y="43"/>
                    <a:pt x="7" y="49"/>
                  </a:cubicBezTo>
                  <a:cubicBezTo>
                    <a:pt x="5" y="54"/>
                    <a:pt x="8" y="62"/>
                    <a:pt x="16" y="68"/>
                  </a:cubicBezTo>
                  <a:cubicBezTo>
                    <a:pt x="19" y="71"/>
                    <a:pt x="16" y="78"/>
                    <a:pt x="26" y="82"/>
                  </a:cubicBezTo>
                  <a:cubicBezTo>
                    <a:pt x="29" y="83"/>
                    <a:pt x="33" y="90"/>
                    <a:pt x="36" y="96"/>
                  </a:cubicBezTo>
                  <a:cubicBezTo>
                    <a:pt x="37" y="97"/>
                    <a:pt x="39" y="102"/>
                    <a:pt x="43" y="108"/>
                  </a:cubicBezTo>
                  <a:cubicBezTo>
                    <a:pt x="42" y="106"/>
                    <a:pt x="42" y="104"/>
                    <a:pt x="42" y="102"/>
                  </a:cubicBezTo>
                  <a:cubicBezTo>
                    <a:pt x="40" y="98"/>
                    <a:pt x="38" y="96"/>
                    <a:pt x="38" y="96"/>
                  </a:cubicBezTo>
                  <a:cubicBezTo>
                    <a:pt x="35" y="89"/>
                    <a:pt x="32" y="81"/>
                    <a:pt x="33" y="76"/>
                  </a:cubicBezTo>
                  <a:cubicBezTo>
                    <a:pt x="36" y="65"/>
                    <a:pt x="31" y="64"/>
                    <a:pt x="32" y="59"/>
                  </a:cubicBezTo>
                  <a:cubicBezTo>
                    <a:pt x="33" y="48"/>
                    <a:pt x="32" y="40"/>
                    <a:pt x="28" y="38"/>
                  </a:cubicBezTo>
                  <a:cubicBezTo>
                    <a:pt x="24" y="35"/>
                    <a:pt x="27" y="21"/>
                    <a:pt x="23" y="19"/>
                  </a:cubicBezTo>
                  <a:cubicBezTo>
                    <a:pt x="17" y="17"/>
                    <a:pt x="21" y="7"/>
                    <a:pt x="15" y="8"/>
                  </a:cubicBezTo>
                  <a:cubicBezTo>
                    <a:pt x="12" y="8"/>
                    <a:pt x="10" y="0"/>
                    <a:pt x="1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69" name="Freeform 2341"/>
            <p:cNvSpPr/>
            <p:nvPr/>
          </p:nvSpPr>
          <p:spPr bwMode="auto">
            <a:xfrm>
              <a:off x="4162426" y="2035176"/>
              <a:ext cx="38100" cy="88900"/>
            </a:xfrm>
            <a:custGeom>
              <a:avLst/>
              <a:gdLst>
                <a:gd name="T0" fmla="*/ 37 w 41"/>
                <a:gd name="T1" fmla="*/ 0 h 96"/>
                <a:gd name="T2" fmla="*/ 36 w 41"/>
                <a:gd name="T3" fmla="*/ 9 h 96"/>
                <a:gd name="T4" fmla="*/ 36 w 41"/>
                <a:gd name="T5" fmla="*/ 23 h 96"/>
                <a:gd name="T6" fmla="*/ 30 w 41"/>
                <a:gd name="T7" fmla="*/ 39 h 96"/>
                <a:gd name="T8" fmla="*/ 21 w 41"/>
                <a:gd name="T9" fmla="*/ 55 h 96"/>
                <a:gd name="T10" fmla="*/ 12 w 41"/>
                <a:gd name="T11" fmla="*/ 68 h 96"/>
                <a:gd name="T12" fmla="*/ 5 w 41"/>
                <a:gd name="T13" fmla="*/ 83 h 96"/>
                <a:gd name="T14" fmla="*/ 3 w 41"/>
                <a:gd name="T15" fmla="*/ 96 h 96"/>
                <a:gd name="T16" fmla="*/ 2 w 41"/>
                <a:gd name="T17" fmla="*/ 90 h 96"/>
                <a:gd name="T18" fmla="*/ 3 w 41"/>
                <a:gd name="T19" fmla="*/ 83 h 96"/>
                <a:gd name="T20" fmla="*/ 4 w 41"/>
                <a:gd name="T21" fmla="*/ 64 h 96"/>
                <a:gd name="T22" fmla="*/ 5 w 41"/>
                <a:gd name="T23" fmla="*/ 47 h 96"/>
                <a:gd name="T24" fmla="*/ 10 w 41"/>
                <a:gd name="T25" fmla="*/ 27 h 96"/>
                <a:gd name="T26" fmla="*/ 19 w 41"/>
                <a:gd name="T27" fmla="*/ 12 h 96"/>
                <a:gd name="T28" fmla="*/ 30 w 41"/>
                <a:gd name="T29" fmla="*/ 5 h 96"/>
                <a:gd name="T30" fmla="*/ 37 w 41"/>
                <a:gd name="T31"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1" h="96">
                  <a:moveTo>
                    <a:pt x="37" y="0"/>
                  </a:moveTo>
                  <a:cubicBezTo>
                    <a:pt x="37" y="0"/>
                    <a:pt x="34" y="8"/>
                    <a:pt x="36" y="9"/>
                  </a:cubicBezTo>
                  <a:cubicBezTo>
                    <a:pt x="41" y="14"/>
                    <a:pt x="33" y="16"/>
                    <a:pt x="36" y="23"/>
                  </a:cubicBezTo>
                  <a:cubicBezTo>
                    <a:pt x="38" y="28"/>
                    <a:pt x="28" y="34"/>
                    <a:pt x="30" y="39"/>
                  </a:cubicBezTo>
                  <a:cubicBezTo>
                    <a:pt x="31" y="44"/>
                    <a:pt x="28" y="49"/>
                    <a:pt x="21" y="55"/>
                  </a:cubicBezTo>
                  <a:cubicBezTo>
                    <a:pt x="17" y="58"/>
                    <a:pt x="21" y="63"/>
                    <a:pt x="12" y="68"/>
                  </a:cubicBezTo>
                  <a:cubicBezTo>
                    <a:pt x="9" y="70"/>
                    <a:pt x="6" y="76"/>
                    <a:pt x="5" y="83"/>
                  </a:cubicBezTo>
                  <a:cubicBezTo>
                    <a:pt x="5" y="84"/>
                    <a:pt x="4" y="89"/>
                    <a:pt x="3" y="96"/>
                  </a:cubicBezTo>
                  <a:cubicBezTo>
                    <a:pt x="2" y="94"/>
                    <a:pt x="2" y="92"/>
                    <a:pt x="2" y="90"/>
                  </a:cubicBezTo>
                  <a:cubicBezTo>
                    <a:pt x="2" y="86"/>
                    <a:pt x="3" y="83"/>
                    <a:pt x="3" y="83"/>
                  </a:cubicBezTo>
                  <a:cubicBezTo>
                    <a:pt x="4" y="76"/>
                    <a:pt x="5" y="68"/>
                    <a:pt x="4" y="64"/>
                  </a:cubicBezTo>
                  <a:cubicBezTo>
                    <a:pt x="0" y="53"/>
                    <a:pt x="5" y="52"/>
                    <a:pt x="5" y="47"/>
                  </a:cubicBezTo>
                  <a:cubicBezTo>
                    <a:pt x="4" y="36"/>
                    <a:pt x="6" y="29"/>
                    <a:pt x="10" y="27"/>
                  </a:cubicBezTo>
                  <a:cubicBezTo>
                    <a:pt x="14" y="26"/>
                    <a:pt x="14" y="12"/>
                    <a:pt x="19" y="12"/>
                  </a:cubicBezTo>
                  <a:cubicBezTo>
                    <a:pt x="25" y="11"/>
                    <a:pt x="24" y="2"/>
                    <a:pt x="30" y="5"/>
                  </a:cubicBezTo>
                  <a:cubicBezTo>
                    <a:pt x="32" y="6"/>
                    <a:pt x="37" y="0"/>
                    <a:pt x="3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70" name="Freeform 2342"/>
            <p:cNvSpPr/>
            <p:nvPr/>
          </p:nvSpPr>
          <p:spPr bwMode="auto">
            <a:xfrm>
              <a:off x="4125913" y="2095501"/>
              <a:ext cx="63500" cy="87313"/>
            </a:xfrm>
            <a:custGeom>
              <a:avLst/>
              <a:gdLst>
                <a:gd name="T0" fmla="*/ 4 w 67"/>
                <a:gd name="T1" fmla="*/ 0 h 93"/>
                <a:gd name="T2" fmla="*/ 5 w 67"/>
                <a:gd name="T3" fmla="*/ 11 h 93"/>
                <a:gd name="T4" fmla="*/ 5 w 67"/>
                <a:gd name="T5" fmla="*/ 29 h 93"/>
                <a:gd name="T6" fmla="*/ 9 w 67"/>
                <a:gd name="T7" fmla="*/ 39 h 93"/>
                <a:gd name="T8" fmla="*/ 14 w 67"/>
                <a:gd name="T9" fmla="*/ 48 h 93"/>
                <a:gd name="T10" fmla="*/ 29 w 67"/>
                <a:gd name="T11" fmla="*/ 65 h 93"/>
                <a:gd name="T12" fmla="*/ 42 w 67"/>
                <a:gd name="T13" fmla="*/ 74 h 93"/>
                <a:gd name="T14" fmla="*/ 57 w 67"/>
                <a:gd name="T15" fmla="*/ 84 h 93"/>
                <a:gd name="T16" fmla="*/ 67 w 67"/>
                <a:gd name="T17" fmla="*/ 93 h 93"/>
                <a:gd name="T18" fmla="*/ 64 w 67"/>
                <a:gd name="T19" fmla="*/ 88 h 93"/>
                <a:gd name="T20" fmla="*/ 58 w 67"/>
                <a:gd name="T21" fmla="*/ 83 h 93"/>
                <a:gd name="T22" fmla="*/ 48 w 67"/>
                <a:gd name="T23" fmla="*/ 67 h 93"/>
                <a:gd name="T24" fmla="*/ 40 w 67"/>
                <a:gd name="T25" fmla="*/ 51 h 93"/>
                <a:gd name="T26" fmla="*/ 31 w 67"/>
                <a:gd name="T27" fmla="*/ 32 h 93"/>
                <a:gd name="T28" fmla="*/ 26 w 67"/>
                <a:gd name="T29" fmla="*/ 23 h 93"/>
                <a:gd name="T30" fmla="*/ 21 w 67"/>
                <a:gd name="T31" fmla="*/ 15 h 93"/>
                <a:gd name="T32" fmla="*/ 11 w 67"/>
                <a:gd name="T33" fmla="*/ 7 h 93"/>
                <a:gd name="T34" fmla="*/ 4 w 67"/>
                <a:gd name="T35"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 h="93">
                  <a:moveTo>
                    <a:pt x="4" y="0"/>
                  </a:moveTo>
                  <a:cubicBezTo>
                    <a:pt x="4" y="0"/>
                    <a:pt x="6" y="9"/>
                    <a:pt x="5" y="11"/>
                  </a:cubicBezTo>
                  <a:cubicBezTo>
                    <a:pt x="0" y="17"/>
                    <a:pt x="8" y="20"/>
                    <a:pt x="5" y="29"/>
                  </a:cubicBezTo>
                  <a:cubicBezTo>
                    <a:pt x="5" y="32"/>
                    <a:pt x="7" y="35"/>
                    <a:pt x="9" y="39"/>
                  </a:cubicBezTo>
                  <a:cubicBezTo>
                    <a:pt x="12" y="42"/>
                    <a:pt x="14" y="45"/>
                    <a:pt x="14" y="48"/>
                  </a:cubicBezTo>
                  <a:cubicBezTo>
                    <a:pt x="15" y="54"/>
                    <a:pt x="20" y="61"/>
                    <a:pt x="29" y="65"/>
                  </a:cubicBezTo>
                  <a:cubicBezTo>
                    <a:pt x="33" y="66"/>
                    <a:pt x="32" y="73"/>
                    <a:pt x="42" y="74"/>
                  </a:cubicBezTo>
                  <a:cubicBezTo>
                    <a:pt x="46" y="75"/>
                    <a:pt x="52" y="80"/>
                    <a:pt x="57" y="84"/>
                  </a:cubicBezTo>
                  <a:cubicBezTo>
                    <a:pt x="57" y="85"/>
                    <a:pt x="62" y="89"/>
                    <a:pt x="67" y="93"/>
                  </a:cubicBezTo>
                  <a:cubicBezTo>
                    <a:pt x="66" y="91"/>
                    <a:pt x="65" y="90"/>
                    <a:pt x="64" y="88"/>
                  </a:cubicBezTo>
                  <a:cubicBezTo>
                    <a:pt x="61" y="85"/>
                    <a:pt x="59" y="83"/>
                    <a:pt x="58" y="83"/>
                  </a:cubicBezTo>
                  <a:cubicBezTo>
                    <a:pt x="53" y="78"/>
                    <a:pt x="48" y="72"/>
                    <a:pt x="48" y="67"/>
                  </a:cubicBezTo>
                  <a:cubicBezTo>
                    <a:pt x="47" y="55"/>
                    <a:pt x="42" y="56"/>
                    <a:pt x="40" y="51"/>
                  </a:cubicBezTo>
                  <a:cubicBezTo>
                    <a:pt x="38" y="40"/>
                    <a:pt x="35" y="33"/>
                    <a:pt x="31" y="32"/>
                  </a:cubicBezTo>
                  <a:cubicBezTo>
                    <a:pt x="29" y="31"/>
                    <a:pt x="28" y="27"/>
                    <a:pt x="26" y="23"/>
                  </a:cubicBezTo>
                  <a:cubicBezTo>
                    <a:pt x="25" y="19"/>
                    <a:pt x="24" y="16"/>
                    <a:pt x="21" y="15"/>
                  </a:cubicBezTo>
                  <a:cubicBezTo>
                    <a:pt x="15" y="15"/>
                    <a:pt x="17" y="4"/>
                    <a:pt x="11" y="7"/>
                  </a:cubicBezTo>
                  <a:cubicBezTo>
                    <a:pt x="9" y="8"/>
                    <a:pt x="4"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71" name="Freeform 2343"/>
            <p:cNvSpPr/>
            <p:nvPr/>
          </p:nvSpPr>
          <p:spPr bwMode="auto">
            <a:xfrm>
              <a:off x="4171951" y="2090738"/>
              <a:ext cx="26988" cy="92075"/>
            </a:xfrm>
            <a:custGeom>
              <a:avLst/>
              <a:gdLst>
                <a:gd name="T0" fmla="*/ 23 w 30"/>
                <a:gd name="T1" fmla="*/ 0 h 97"/>
                <a:gd name="T2" fmla="*/ 24 w 30"/>
                <a:gd name="T3" fmla="*/ 9 h 97"/>
                <a:gd name="T4" fmla="*/ 27 w 30"/>
                <a:gd name="T5" fmla="*/ 21 h 97"/>
                <a:gd name="T6" fmla="*/ 27 w 30"/>
                <a:gd name="T7" fmla="*/ 29 h 97"/>
                <a:gd name="T8" fmla="*/ 26 w 30"/>
                <a:gd name="T9" fmla="*/ 37 h 97"/>
                <a:gd name="T10" fmla="*/ 22 w 30"/>
                <a:gd name="T11" fmla="*/ 54 h 97"/>
                <a:gd name="T12" fmla="*/ 18 w 30"/>
                <a:gd name="T13" fmla="*/ 68 h 97"/>
                <a:gd name="T14" fmla="*/ 16 w 30"/>
                <a:gd name="T15" fmla="*/ 85 h 97"/>
                <a:gd name="T16" fmla="*/ 19 w 30"/>
                <a:gd name="T17" fmla="*/ 97 h 97"/>
                <a:gd name="T18" fmla="*/ 16 w 30"/>
                <a:gd name="T19" fmla="*/ 92 h 97"/>
                <a:gd name="T20" fmla="*/ 14 w 30"/>
                <a:gd name="T21" fmla="*/ 85 h 97"/>
                <a:gd name="T22" fmla="*/ 9 w 30"/>
                <a:gd name="T23" fmla="*/ 67 h 97"/>
                <a:gd name="T24" fmla="*/ 5 w 30"/>
                <a:gd name="T25" fmla="*/ 51 h 97"/>
                <a:gd name="T26" fmla="*/ 4 w 30"/>
                <a:gd name="T27" fmla="*/ 32 h 97"/>
                <a:gd name="T28" fmla="*/ 6 w 30"/>
                <a:gd name="T29" fmla="*/ 23 h 97"/>
                <a:gd name="T30" fmla="*/ 9 w 30"/>
                <a:gd name="T31" fmla="*/ 15 h 97"/>
                <a:gd name="T32" fmla="*/ 17 w 30"/>
                <a:gd name="T33" fmla="*/ 6 h 97"/>
                <a:gd name="T34" fmla="*/ 23 w 30"/>
                <a:gd name="T35"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97">
                  <a:moveTo>
                    <a:pt x="23" y="0"/>
                  </a:moveTo>
                  <a:cubicBezTo>
                    <a:pt x="23" y="0"/>
                    <a:pt x="22" y="7"/>
                    <a:pt x="24" y="9"/>
                  </a:cubicBezTo>
                  <a:cubicBezTo>
                    <a:pt x="30" y="12"/>
                    <a:pt x="23" y="16"/>
                    <a:pt x="27" y="21"/>
                  </a:cubicBezTo>
                  <a:cubicBezTo>
                    <a:pt x="29" y="23"/>
                    <a:pt x="28" y="26"/>
                    <a:pt x="27" y="29"/>
                  </a:cubicBezTo>
                  <a:cubicBezTo>
                    <a:pt x="26" y="32"/>
                    <a:pt x="24" y="35"/>
                    <a:pt x="26" y="37"/>
                  </a:cubicBezTo>
                  <a:cubicBezTo>
                    <a:pt x="28" y="40"/>
                    <a:pt x="27" y="46"/>
                    <a:pt x="22" y="54"/>
                  </a:cubicBezTo>
                  <a:cubicBezTo>
                    <a:pt x="20" y="57"/>
                    <a:pt x="24" y="61"/>
                    <a:pt x="18" y="68"/>
                  </a:cubicBezTo>
                  <a:cubicBezTo>
                    <a:pt x="15" y="71"/>
                    <a:pt x="15" y="78"/>
                    <a:pt x="16" y="85"/>
                  </a:cubicBezTo>
                  <a:cubicBezTo>
                    <a:pt x="16" y="85"/>
                    <a:pt x="17" y="91"/>
                    <a:pt x="19" y="97"/>
                  </a:cubicBezTo>
                  <a:cubicBezTo>
                    <a:pt x="18" y="95"/>
                    <a:pt x="17" y="94"/>
                    <a:pt x="16" y="92"/>
                  </a:cubicBezTo>
                  <a:cubicBezTo>
                    <a:pt x="15" y="88"/>
                    <a:pt x="14" y="85"/>
                    <a:pt x="14" y="85"/>
                  </a:cubicBezTo>
                  <a:cubicBezTo>
                    <a:pt x="13" y="78"/>
                    <a:pt x="12" y="71"/>
                    <a:pt x="9" y="67"/>
                  </a:cubicBezTo>
                  <a:cubicBezTo>
                    <a:pt x="2" y="58"/>
                    <a:pt x="7" y="56"/>
                    <a:pt x="5" y="51"/>
                  </a:cubicBezTo>
                  <a:cubicBezTo>
                    <a:pt x="0" y="41"/>
                    <a:pt x="1" y="34"/>
                    <a:pt x="4" y="32"/>
                  </a:cubicBezTo>
                  <a:cubicBezTo>
                    <a:pt x="6" y="30"/>
                    <a:pt x="6" y="26"/>
                    <a:pt x="6" y="23"/>
                  </a:cubicBezTo>
                  <a:cubicBezTo>
                    <a:pt x="6" y="19"/>
                    <a:pt x="6" y="16"/>
                    <a:pt x="9" y="15"/>
                  </a:cubicBezTo>
                  <a:cubicBezTo>
                    <a:pt x="15" y="13"/>
                    <a:pt x="11" y="5"/>
                    <a:pt x="17" y="6"/>
                  </a:cubicBezTo>
                  <a:cubicBezTo>
                    <a:pt x="19" y="6"/>
                    <a:pt x="23" y="0"/>
                    <a:pt x="2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72" name="Freeform 2344"/>
            <p:cNvSpPr/>
            <p:nvPr/>
          </p:nvSpPr>
          <p:spPr bwMode="auto">
            <a:xfrm>
              <a:off x="4146551" y="2166938"/>
              <a:ext cx="82550" cy="60325"/>
            </a:xfrm>
            <a:custGeom>
              <a:avLst/>
              <a:gdLst>
                <a:gd name="T0" fmla="*/ 0 w 89"/>
                <a:gd name="T1" fmla="*/ 0 h 66"/>
                <a:gd name="T2" fmla="*/ 5 w 89"/>
                <a:gd name="T3" fmla="*/ 11 h 66"/>
                <a:gd name="T4" fmla="*/ 11 w 89"/>
                <a:gd name="T5" fmla="*/ 27 h 66"/>
                <a:gd name="T6" fmla="*/ 18 w 89"/>
                <a:gd name="T7" fmla="*/ 35 h 66"/>
                <a:gd name="T8" fmla="*/ 26 w 89"/>
                <a:gd name="T9" fmla="*/ 42 h 66"/>
                <a:gd name="T10" fmla="*/ 45 w 89"/>
                <a:gd name="T11" fmla="*/ 52 h 66"/>
                <a:gd name="T12" fmla="*/ 60 w 89"/>
                <a:gd name="T13" fmla="*/ 57 h 66"/>
                <a:gd name="T14" fmla="*/ 77 w 89"/>
                <a:gd name="T15" fmla="*/ 61 h 66"/>
                <a:gd name="T16" fmla="*/ 89 w 89"/>
                <a:gd name="T17" fmla="*/ 66 h 66"/>
                <a:gd name="T18" fmla="*/ 84 w 89"/>
                <a:gd name="T19" fmla="*/ 62 h 66"/>
                <a:gd name="T20" fmla="*/ 78 w 89"/>
                <a:gd name="T21" fmla="*/ 60 h 66"/>
                <a:gd name="T22" fmla="*/ 63 w 89"/>
                <a:gd name="T23" fmla="*/ 48 h 66"/>
                <a:gd name="T24" fmla="*/ 51 w 89"/>
                <a:gd name="T25" fmla="*/ 36 h 66"/>
                <a:gd name="T26" fmla="*/ 36 w 89"/>
                <a:gd name="T27" fmla="*/ 21 h 66"/>
                <a:gd name="T28" fmla="*/ 29 w 89"/>
                <a:gd name="T29" fmla="*/ 15 h 66"/>
                <a:gd name="T30" fmla="*/ 21 w 89"/>
                <a:gd name="T31" fmla="*/ 9 h 66"/>
                <a:gd name="T32" fmla="*/ 9 w 89"/>
                <a:gd name="T33" fmla="*/ 5 h 66"/>
                <a:gd name="T34" fmla="*/ 0 w 89"/>
                <a:gd name="T35"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9" h="66">
                  <a:moveTo>
                    <a:pt x="0" y="0"/>
                  </a:moveTo>
                  <a:cubicBezTo>
                    <a:pt x="0" y="0"/>
                    <a:pt x="5" y="9"/>
                    <a:pt x="5" y="11"/>
                  </a:cubicBezTo>
                  <a:cubicBezTo>
                    <a:pt x="2" y="18"/>
                    <a:pt x="10" y="19"/>
                    <a:pt x="11" y="27"/>
                  </a:cubicBezTo>
                  <a:cubicBezTo>
                    <a:pt x="12" y="30"/>
                    <a:pt x="15" y="33"/>
                    <a:pt x="18" y="35"/>
                  </a:cubicBezTo>
                  <a:cubicBezTo>
                    <a:pt x="22" y="37"/>
                    <a:pt x="25" y="39"/>
                    <a:pt x="26" y="42"/>
                  </a:cubicBezTo>
                  <a:cubicBezTo>
                    <a:pt x="28" y="48"/>
                    <a:pt x="35" y="52"/>
                    <a:pt x="45" y="52"/>
                  </a:cubicBezTo>
                  <a:cubicBezTo>
                    <a:pt x="49" y="52"/>
                    <a:pt x="51" y="59"/>
                    <a:pt x="60" y="57"/>
                  </a:cubicBezTo>
                  <a:cubicBezTo>
                    <a:pt x="64" y="56"/>
                    <a:pt x="71" y="59"/>
                    <a:pt x="77" y="61"/>
                  </a:cubicBezTo>
                  <a:cubicBezTo>
                    <a:pt x="77" y="62"/>
                    <a:pt x="83" y="64"/>
                    <a:pt x="89" y="66"/>
                  </a:cubicBezTo>
                  <a:cubicBezTo>
                    <a:pt x="84" y="62"/>
                    <a:pt x="84" y="62"/>
                    <a:pt x="84" y="62"/>
                  </a:cubicBezTo>
                  <a:cubicBezTo>
                    <a:pt x="81" y="61"/>
                    <a:pt x="78" y="60"/>
                    <a:pt x="78" y="60"/>
                  </a:cubicBezTo>
                  <a:cubicBezTo>
                    <a:pt x="72" y="57"/>
                    <a:pt x="65" y="53"/>
                    <a:pt x="63" y="48"/>
                  </a:cubicBezTo>
                  <a:cubicBezTo>
                    <a:pt x="58" y="38"/>
                    <a:pt x="54" y="40"/>
                    <a:pt x="51" y="36"/>
                  </a:cubicBezTo>
                  <a:cubicBezTo>
                    <a:pt x="45" y="26"/>
                    <a:pt x="41" y="21"/>
                    <a:pt x="36" y="21"/>
                  </a:cubicBezTo>
                  <a:cubicBezTo>
                    <a:pt x="34" y="21"/>
                    <a:pt x="31" y="18"/>
                    <a:pt x="29" y="15"/>
                  </a:cubicBezTo>
                  <a:cubicBezTo>
                    <a:pt x="26" y="12"/>
                    <a:pt x="24" y="9"/>
                    <a:pt x="21" y="9"/>
                  </a:cubicBezTo>
                  <a:cubicBezTo>
                    <a:pt x="15" y="11"/>
                    <a:pt x="14" y="0"/>
                    <a:pt x="9" y="5"/>
                  </a:cubicBezTo>
                  <a:cubicBezTo>
                    <a:pt x="7" y="6"/>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73" name="Freeform 2345"/>
            <p:cNvSpPr/>
            <p:nvPr/>
          </p:nvSpPr>
          <p:spPr bwMode="auto">
            <a:xfrm>
              <a:off x="4194176" y="2143126"/>
              <a:ext cx="34925" cy="84138"/>
            </a:xfrm>
            <a:custGeom>
              <a:avLst/>
              <a:gdLst>
                <a:gd name="T0" fmla="*/ 10 w 38"/>
                <a:gd name="T1" fmla="*/ 0 h 90"/>
                <a:gd name="T2" fmla="*/ 14 w 38"/>
                <a:gd name="T3" fmla="*/ 7 h 90"/>
                <a:gd name="T4" fmla="*/ 21 w 38"/>
                <a:gd name="T5" fmla="*/ 17 h 90"/>
                <a:gd name="T6" fmla="*/ 23 w 38"/>
                <a:gd name="T7" fmla="*/ 24 h 90"/>
                <a:gd name="T8" fmla="*/ 25 w 38"/>
                <a:gd name="T9" fmla="*/ 32 h 90"/>
                <a:gd name="T10" fmla="*/ 27 w 38"/>
                <a:gd name="T11" fmla="*/ 49 h 90"/>
                <a:gd name="T12" fmla="*/ 28 w 38"/>
                <a:gd name="T13" fmla="*/ 63 h 90"/>
                <a:gd name="T14" fmla="*/ 32 w 38"/>
                <a:gd name="T15" fmla="*/ 79 h 90"/>
                <a:gd name="T16" fmla="*/ 38 w 38"/>
                <a:gd name="T17" fmla="*/ 90 h 90"/>
                <a:gd name="T18" fmla="*/ 33 w 38"/>
                <a:gd name="T19" fmla="*/ 86 h 90"/>
                <a:gd name="T20" fmla="*/ 30 w 38"/>
                <a:gd name="T21" fmla="*/ 80 h 90"/>
                <a:gd name="T22" fmla="*/ 19 w 38"/>
                <a:gd name="T23" fmla="*/ 66 h 90"/>
                <a:gd name="T24" fmla="*/ 10 w 38"/>
                <a:gd name="T25" fmla="*/ 52 h 90"/>
                <a:gd name="T26" fmla="*/ 3 w 38"/>
                <a:gd name="T27" fmla="*/ 34 h 90"/>
                <a:gd name="T28" fmla="*/ 2 w 38"/>
                <a:gd name="T29" fmla="*/ 26 h 90"/>
                <a:gd name="T30" fmla="*/ 2 w 38"/>
                <a:gd name="T31" fmla="*/ 18 h 90"/>
                <a:gd name="T32" fmla="*/ 7 w 38"/>
                <a:gd name="T33" fmla="*/ 7 h 90"/>
                <a:gd name="T34" fmla="*/ 10 w 38"/>
                <a:gd name="T3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8" h="90">
                  <a:moveTo>
                    <a:pt x="10" y="0"/>
                  </a:moveTo>
                  <a:cubicBezTo>
                    <a:pt x="10" y="0"/>
                    <a:pt x="12" y="6"/>
                    <a:pt x="14" y="7"/>
                  </a:cubicBezTo>
                  <a:cubicBezTo>
                    <a:pt x="20" y="8"/>
                    <a:pt x="15" y="14"/>
                    <a:pt x="21" y="17"/>
                  </a:cubicBezTo>
                  <a:cubicBezTo>
                    <a:pt x="23" y="18"/>
                    <a:pt x="23" y="21"/>
                    <a:pt x="23" y="24"/>
                  </a:cubicBezTo>
                  <a:cubicBezTo>
                    <a:pt x="23" y="27"/>
                    <a:pt x="23" y="30"/>
                    <a:pt x="25" y="32"/>
                  </a:cubicBezTo>
                  <a:cubicBezTo>
                    <a:pt x="28" y="34"/>
                    <a:pt x="29" y="40"/>
                    <a:pt x="27" y="49"/>
                  </a:cubicBezTo>
                  <a:cubicBezTo>
                    <a:pt x="26" y="53"/>
                    <a:pt x="31" y="55"/>
                    <a:pt x="28" y="63"/>
                  </a:cubicBezTo>
                  <a:cubicBezTo>
                    <a:pt x="26" y="67"/>
                    <a:pt x="29" y="74"/>
                    <a:pt x="32" y="79"/>
                  </a:cubicBezTo>
                  <a:cubicBezTo>
                    <a:pt x="32" y="80"/>
                    <a:pt x="34" y="85"/>
                    <a:pt x="38" y="90"/>
                  </a:cubicBezTo>
                  <a:cubicBezTo>
                    <a:pt x="33" y="86"/>
                    <a:pt x="33" y="86"/>
                    <a:pt x="33" y="86"/>
                  </a:cubicBezTo>
                  <a:cubicBezTo>
                    <a:pt x="31" y="83"/>
                    <a:pt x="30" y="81"/>
                    <a:pt x="30" y="80"/>
                  </a:cubicBezTo>
                  <a:cubicBezTo>
                    <a:pt x="27" y="74"/>
                    <a:pt x="23" y="68"/>
                    <a:pt x="19" y="66"/>
                  </a:cubicBezTo>
                  <a:cubicBezTo>
                    <a:pt x="10" y="60"/>
                    <a:pt x="14" y="56"/>
                    <a:pt x="10" y="52"/>
                  </a:cubicBezTo>
                  <a:cubicBezTo>
                    <a:pt x="3" y="45"/>
                    <a:pt x="1" y="38"/>
                    <a:pt x="3" y="34"/>
                  </a:cubicBezTo>
                  <a:cubicBezTo>
                    <a:pt x="4" y="33"/>
                    <a:pt x="3" y="29"/>
                    <a:pt x="2" y="26"/>
                  </a:cubicBezTo>
                  <a:cubicBezTo>
                    <a:pt x="1" y="22"/>
                    <a:pt x="0" y="19"/>
                    <a:pt x="2" y="18"/>
                  </a:cubicBezTo>
                  <a:cubicBezTo>
                    <a:pt x="7" y="14"/>
                    <a:pt x="1" y="8"/>
                    <a:pt x="7" y="7"/>
                  </a:cubicBezTo>
                  <a:cubicBezTo>
                    <a:pt x="9" y="6"/>
                    <a:pt x="10" y="0"/>
                    <a:pt x="1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74" name="Freeform 2346"/>
            <p:cNvSpPr/>
            <p:nvPr/>
          </p:nvSpPr>
          <p:spPr bwMode="auto">
            <a:xfrm>
              <a:off x="4184651" y="2224088"/>
              <a:ext cx="93663" cy="39688"/>
            </a:xfrm>
            <a:custGeom>
              <a:avLst/>
              <a:gdLst>
                <a:gd name="T0" fmla="*/ 0 w 100"/>
                <a:gd name="T1" fmla="*/ 4 h 43"/>
                <a:gd name="T2" fmla="*/ 7 w 100"/>
                <a:gd name="T3" fmla="*/ 13 h 43"/>
                <a:gd name="T4" fmla="*/ 18 w 100"/>
                <a:gd name="T5" fmla="*/ 25 h 43"/>
                <a:gd name="T6" fmla="*/ 36 w 100"/>
                <a:gd name="T7" fmla="*/ 34 h 43"/>
                <a:gd name="T8" fmla="*/ 55 w 100"/>
                <a:gd name="T9" fmla="*/ 39 h 43"/>
                <a:gd name="T10" fmla="*/ 71 w 100"/>
                <a:gd name="T11" fmla="*/ 39 h 43"/>
                <a:gd name="T12" fmla="*/ 88 w 100"/>
                <a:gd name="T13" fmla="*/ 39 h 43"/>
                <a:gd name="T14" fmla="*/ 100 w 100"/>
                <a:gd name="T15" fmla="*/ 42 h 43"/>
                <a:gd name="T16" fmla="*/ 95 w 100"/>
                <a:gd name="T17" fmla="*/ 39 h 43"/>
                <a:gd name="T18" fmla="*/ 88 w 100"/>
                <a:gd name="T19" fmla="*/ 38 h 43"/>
                <a:gd name="T20" fmla="*/ 71 w 100"/>
                <a:gd name="T21" fmla="*/ 30 h 43"/>
                <a:gd name="T22" fmla="*/ 57 w 100"/>
                <a:gd name="T23" fmla="*/ 21 h 43"/>
                <a:gd name="T24" fmla="*/ 39 w 100"/>
                <a:gd name="T25" fmla="*/ 12 h 43"/>
                <a:gd name="T26" fmla="*/ 22 w 100"/>
                <a:gd name="T27" fmla="*/ 6 h 43"/>
                <a:gd name="T28" fmla="*/ 9 w 100"/>
                <a:gd name="T29" fmla="*/ 6 h 43"/>
                <a:gd name="T30" fmla="*/ 0 w 100"/>
                <a:gd name="T31" fmla="*/ 4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0" h="43">
                  <a:moveTo>
                    <a:pt x="0" y="4"/>
                  </a:moveTo>
                  <a:cubicBezTo>
                    <a:pt x="0" y="4"/>
                    <a:pt x="7" y="10"/>
                    <a:pt x="7" y="13"/>
                  </a:cubicBezTo>
                  <a:cubicBezTo>
                    <a:pt x="7" y="20"/>
                    <a:pt x="15" y="18"/>
                    <a:pt x="18" y="25"/>
                  </a:cubicBezTo>
                  <a:cubicBezTo>
                    <a:pt x="20" y="31"/>
                    <a:pt x="32" y="30"/>
                    <a:pt x="36" y="34"/>
                  </a:cubicBezTo>
                  <a:cubicBezTo>
                    <a:pt x="39" y="39"/>
                    <a:pt x="46" y="41"/>
                    <a:pt x="55" y="39"/>
                  </a:cubicBezTo>
                  <a:cubicBezTo>
                    <a:pt x="59" y="38"/>
                    <a:pt x="62" y="43"/>
                    <a:pt x="71" y="39"/>
                  </a:cubicBezTo>
                  <a:cubicBezTo>
                    <a:pt x="74" y="37"/>
                    <a:pt x="81" y="38"/>
                    <a:pt x="88" y="39"/>
                  </a:cubicBezTo>
                  <a:cubicBezTo>
                    <a:pt x="88" y="40"/>
                    <a:pt x="94" y="41"/>
                    <a:pt x="100" y="42"/>
                  </a:cubicBezTo>
                  <a:cubicBezTo>
                    <a:pt x="95" y="39"/>
                    <a:pt x="95" y="39"/>
                    <a:pt x="95" y="39"/>
                  </a:cubicBezTo>
                  <a:cubicBezTo>
                    <a:pt x="88" y="38"/>
                    <a:pt x="88" y="38"/>
                    <a:pt x="88" y="38"/>
                  </a:cubicBezTo>
                  <a:cubicBezTo>
                    <a:pt x="82" y="36"/>
                    <a:pt x="74" y="34"/>
                    <a:pt x="71" y="30"/>
                  </a:cubicBezTo>
                  <a:cubicBezTo>
                    <a:pt x="64" y="21"/>
                    <a:pt x="61" y="25"/>
                    <a:pt x="57" y="21"/>
                  </a:cubicBezTo>
                  <a:cubicBezTo>
                    <a:pt x="49" y="14"/>
                    <a:pt x="43" y="11"/>
                    <a:pt x="39" y="12"/>
                  </a:cubicBezTo>
                  <a:cubicBezTo>
                    <a:pt x="35" y="14"/>
                    <a:pt x="26" y="3"/>
                    <a:pt x="22" y="6"/>
                  </a:cubicBezTo>
                  <a:cubicBezTo>
                    <a:pt x="17" y="9"/>
                    <a:pt x="12" y="0"/>
                    <a:pt x="9" y="6"/>
                  </a:cubicBezTo>
                  <a:cubicBezTo>
                    <a:pt x="8" y="7"/>
                    <a:pt x="0" y="4"/>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75" name="Freeform 2347"/>
            <p:cNvSpPr/>
            <p:nvPr/>
          </p:nvSpPr>
          <p:spPr bwMode="auto">
            <a:xfrm>
              <a:off x="4224338" y="2187576"/>
              <a:ext cx="53975" cy="74613"/>
            </a:xfrm>
            <a:custGeom>
              <a:avLst/>
              <a:gdLst>
                <a:gd name="T0" fmla="*/ 6 w 58"/>
                <a:gd name="T1" fmla="*/ 0 h 80"/>
                <a:gd name="T2" fmla="*/ 12 w 58"/>
                <a:gd name="T3" fmla="*/ 5 h 80"/>
                <a:gd name="T4" fmla="*/ 22 w 58"/>
                <a:gd name="T5" fmla="*/ 13 h 80"/>
                <a:gd name="T6" fmla="*/ 30 w 58"/>
                <a:gd name="T7" fmla="*/ 26 h 80"/>
                <a:gd name="T8" fmla="*/ 38 w 58"/>
                <a:gd name="T9" fmla="*/ 42 h 80"/>
                <a:gd name="T10" fmla="*/ 42 w 58"/>
                <a:gd name="T11" fmla="*/ 56 h 80"/>
                <a:gd name="T12" fmla="*/ 50 w 58"/>
                <a:gd name="T13" fmla="*/ 71 h 80"/>
                <a:gd name="T14" fmla="*/ 58 w 58"/>
                <a:gd name="T15" fmla="*/ 80 h 80"/>
                <a:gd name="T16" fmla="*/ 53 w 58"/>
                <a:gd name="T17" fmla="*/ 77 h 80"/>
                <a:gd name="T18" fmla="*/ 48 w 58"/>
                <a:gd name="T19" fmla="*/ 72 h 80"/>
                <a:gd name="T20" fmla="*/ 35 w 58"/>
                <a:gd name="T21" fmla="*/ 60 h 80"/>
                <a:gd name="T22" fmla="*/ 22 w 58"/>
                <a:gd name="T23" fmla="*/ 50 h 80"/>
                <a:gd name="T24" fmla="*/ 10 w 58"/>
                <a:gd name="T25" fmla="*/ 35 h 80"/>
                <a:gd name="T26" fmla="*/ 4 w 58"/>
                <a:gd name="T27" fmla="*/ 19 h 80"/>
                <a:gd name="T28" fmla="*/ 5 w 58"/>
                <a:gd name="T29" fmla="*/ 8 h 80"/>
                <a:gd name="T30" fmla="*/ 6 w 58"/>
                <a:gd name="T3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8" h="80">
                  <a:moveTo>
                    <a:pt x="6" y="0"/>
                  </a:moveTo>
                  <a:cubicBezTo>
                    <a:pt x="6" y="0"/>
                    <a:pt x="10" y="6"/>
                    <a:pt x="12" y="5"/>
                  </a:cubicBezTo>
                  <a:cubicBezTo>
                    <a:pt x="18" y="5"/>
                    <a:pt x="15" y="12"/>
                    <a:pt x="22" y="13"/>
                  </a:cubicBezTo>
                  <a:cubicBezTo>
                    <a:pt x="26" y="14"/>
                    <a:pt x="26" y="25"/>
                    <a:pt x="30" y="26"/>
                  </a:cubicBezTo>
                  <a:cubicBezTo>
                    <a:pt x="35" y="28"/>
                    <a:pt x="37" y="34"/>
                    <a:pt x="38" y="42"/>
                  </a:cubicBezTo>
                  <a:cubicBezTo>
                    <a:pt x="38" y="47"/>
                    <a:pt x="44" y="47"/>
                    <a:pt x="42" y="56"/>
                  </a:cubicBezTo>
                  <a:cubicBezTo>
                    <a:pt x="42" y="60"/>
                    <a:pt x="46" y="66"/>
                    <a:pt x="50" y="71"/>
                  </a:cubicBezTo>
                  <a:cubicBezTo>
                    <a:pt x="50" y="71"/>
                    <a:pt x="54" y="75"/>
                    <a:pt x="58" y="80"/>
                  </a:cubicBezTo>
                  <a:cubicBezTo>
                    <a:pt x="53" y="77"/>
                    <a:pt x="53" y="77"/>
                    <a:pt x="53" y="77"/>
                  </a:cubicBezTo>
                  <a:cubicBezTo>
                    <a:pt x="48" y="72"/>
                    <a:pt x="48" y="72"/>
                    <a:pt x="48" y="72"/>
                  </a:cubicBezTo>
                  <a:cubicBezTo>
                    <a:pt x="44" y="67"/>
                    <a:pt x="39" y="61"/>
                    <a:pt x="35" y="60"/>
                  </a:cubicBezTo>
                  <a:cubicBezTo>
                    <a:pt x="24" y="57"/>
                    <a:pt x="27" y="52"/>
                    <a:pt x="22" y="50"/>
                  </a:cubicBezTo>
                  <a:cubicBezTo>
                    <a:pt x="14" y="45"/>
                    <a:pt x="9" y="39"/>
                    <a:pt x="10" y="35"/>
                  </a:cubicBezTo>
                  <a:cubicBezTo>
                    <a:pt x="11" y="31"/>
                    <a:pt x="1" y="23"/>
                    <a:pt x="4" y="19"/>
                  </a:cubicBezTo>
                  <a:cubicBezTo>
                    <a:pt x="7" y="14"/>
                    <a:pt x="0" y="11"/>
                    <a:pt x="5" y="8"/>
                  </a:cubicBezTo>
                  <a:cubicBezTo>
                    <a:pt x="7" y="7"/>
                    <a:pt x="6" y="0"/>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76" name="Freeform 2348"/>
            <p:cNvSpPr/>
            <p:nvPr/>
          </p:nvSpPr>
          <p:spPr bwMode="auto">
            <a:xfrm>
              <a:off x="4237038" y="2263776"/>
              <a:ext cx="95250" cy="30163"/>
            </a:xfrm>
            <a:custGeom>
              <a:avLst/>
              <a:gdLst>
                <a:gd name="T0" fmla="*/ 0 w 102"/>
                <a:gd name="T1" fmla="*/ 8 h 32"/>
                <a:gd name="T2" fmla="*/ 9 w 102"/>
                <a:gd name="T3" fmla="*/ 14 h 32"/>
                <a:gd name="T4" fmla="*/ 21 w 102"/>
                <a:gd name="T5" fmla="*/ 23 h 32"/>
                <a:gd name="T6" fmla="*/ 39 w 102"/>
                <a:gd name="T7" fmla="*/ 28 h 32"/>
                <a:gd name="T8" fmla="*/ 58 w 102"/>
                <a:gd name="T9" fmla="*/ 28 h 32"/>
                <a:gd name="T10" fmla="*/ 73 w 102"/>
                <a:gd name="T11" fmla="*/ 26 h 32"/>
                <a:gd name="T12" fmla="*/ 90 w 102"/>
                <a:gd name="T13" fmla="*/ 24 h 32"/>
                <a:gd name="T14" fmla="*/ 102 w 102"/>
                <a:gd name="T15" fmla="*/ 25 h 32"/>
                <a:gd name="T16" fmla="*/ 97 w 102"/>
                <a:gd name="T17" fmla="*/ 23 h 32"/>
                <a:gd name="T18" fmla="*/ 90 w 102"/>
                <a:gd name="T19" fmla="*/ 22 h 32"/>
                <a:gd name="T20" fmla="*/ 73 w 102"/>
                <a:gd name="T21" fmla="*/ 17 h 32"/>
                <a:gd name="T22" fmla="*/ 57 w 102"/>
                <a:gd name="T23" fmla="*/ 11 h 32"/>
                <a:gd name="T24" fmla="*/ 39 w 102"/>
                <a:gd name="T25" fmla="*/ 6 h 32"/>
                <a:gd name="T26" fmla="*/ 21 w 102"/>
                <a:gd name="T27" fmla="*/ 4 h 32"/>
                <a:gd name="T28" fmla="*/ 9 w 102"/>
                <a:gd name="T29" fmla="*/ 6 h 32"/>
                <a:gd name="T30" fmla="*/ 0 w 102"/>
                <a:gd name="T31"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2" h="32">
                  <a:moveTo>
                    <a:pt x="0" y="8"/>
                  </a:moveTo>
                  <a:cubicBezTo>
                    <a:pt x="0" y="8"/>
                    <a:pt x="8" y="11"/>
                    <a:pt x="9" y="14"/>
                  </a:cubicBezTo>
                  <a:cubicBezTo>
                    <a:pt x="10" y="20"/>
                    <a:pt x="17" y="16"/>
                    <a:pt x="21" y="23"/>
                  </a:cubicBezTo>
                  <a:cubicBezTo>
                    <a:pt x="24" y="28"/>
                    <a:pt x="35" y="24"/>
                    <a:pt x="39" y="28"/>
                  </a:cubicBezTo>
                  <a:cubicBezTo>
                    <a:pt x="43" y="31"/>
                    <a:pt x="50" y="32"/>
                    <a:pt x="58" y="28"/>
                  </a:cubicBezTo>
                  <a:cubicBezTo>
                    <a:pt x="62" y="26"/>
                    <a:pt x="66" y="32"/>
                    <a:pt x="73" y="26"/>
                  </a:cubicBezTo>
                  <a:cubicBezTo>
                    <a:pt x="76" y="24"/>
                    <a:pt x="83" y="24"/>
                    <a:pt x="90" y="24"/>
                  </a:cubicBezTo>
                  <a:cubicBezTo>
                    <a:pt x="102" y="25"/>
                    <a:pt x="102" y="25"/>
                    <a:pt x="102" y="25"/>
                  </a:cubicBezTo>
                  <a:cubicBezTo>
                    <a:pt x="97" y="23"/>
                    <a:pt x="97" y="23"/>
                    <a:pt x="97" y="23"/>
                  </a:cubicBezTo>
                  <a:cubicBezTo>
                    <a:pt x="90" y="22"/>
                    <a:pt x="90" y="22"/>
                    <a:pt x="90" y="22"/>
                  </a:cubicBezTo>
                  <a:cubicBezTo>
                    <a:pt x="84" y="22"/>
                    <a:pt x="76" y="20"/>
                    <a:pt x="73" y="17"/>
                  </a:cubicBezTo>
                  <a:cubicBezTo>
                    <a:pt x="64" y="10"/>
                    <a:pt x="62" y="14"/>
                    <a:pt x="57" y="11"/>
                  </a:cubicBezTo>
                  <a:cubicBezTo>
                    <a:pt x="49" y="6"/>
                    <a:pt x="42" y="4"/>
                    <a:pt x="39" y="6"/>
                  </a:cubicBezTo>
                  <a:cubicBezTo>
                    <a:pt x="35" y="8"/>
                    <a:pt x="24" y="0"/>
                    <a:pt x="21" y="4"/>
                  </a:cubicBezTo>
                  <a:cubicBezTo>
                    <a:pt x="17" y="8"/>
                    <a:pt x="11" y="1"/>
                    <a:pt x="9" y="6"/>
                  </a:cubicBezTo>
                  <a:cubicBezTo>
                    <a:pt x="8" y="8"/>
                    <a:pt x="0" y="8"/>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77" name="Freeform 2349"/>
            <p:cNvSpPr/>
            <p:nvPr/>
          </p:nvSpPr>
          <p:spPr bwMode="auto">
            <a:xfrm>
              <a:off x="4267201" y="2222501"/>
              <a:ext cx="65088" cy="65088"/>
            </a:xfrm>
            <a:custGeom>
              <a:avLst/>
              <a:gdLst>
                <a:gd name="T0" fmla="*/ 3 w 69"/>
                <a:gd name="T1" fmla="*/ 0 h 70"/>
                <a:gd name="T2" fmla="*/ 10 w 69"/>
                <a:gd name="T3" fmla="*/ 5 h 70"/>
                <a:gd name="T4" fmla="*/ 22 w 69"/>
                <a:gd name="T5" fmla="*/ 10 h 70"/>
                <a:gd name="T6" fmla="*/ 33 w 69"/>
                <a:gd name="T7" fmla="*/ 22 h 70"/>
                <a:gd name="T8" fmla="*/ 44 w 69"/>
                <a:gd name="T9" fmla="*/ 36 h 70"/>
                <a:gd name="T10" fmla="*/ 50 w 69"/>
                <a:gd name="T11" fmla="*/ 49 h 70"/>
                <a:gd name="T12" fmla="*/ 60 w 69"/>
                <a:gd name="T13" fmla="*/ 62 h 70"/>
                <a:gd name="T14" fmla="*/ 69 w 69"/>
                <a:gd name="T15" fmla="*/ 70 h 70"/>
                <a:gd name="T16" fmla="*/ 64 w 69"/>
                <a:gd name="T17" fmla="*/ 68 h 70"/>
                <a:gd name="T18" fmla="*/ 59 w 69"/>
                <a:gd name="T19" fmla="*/ 63 h 70"/>
                <a:gd name="T20" fmla="*/ 44 w 69"/>
                <a:gd name="T21" fmla="*/ 54 h 70"/>
                <a:gd name="T22" fmla="*/ 30 w 69"/>
                <a:gd name="T23" fmla="*/ 46 h 70"/>
                <a:gd name="T24" fmla="*/ 16 w 69"/>
                <a:gd name="T25" fmla="*/ 33 h 70"/>
                <a:gd name="T26" fmla="*/ 6 w 69"/>
                <a:gd name="T27" fmla="*/ 20 h 70"/>
                <a:gd name="T28" fmla="*/ 4 w 69"/>
                <a:gd name="T29" fmla="*/ 8 h 70"/>
                <a:gd name="T30" fmla="*/ 3 w 69"/>
                <a:gd name="T31"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70">
                  <a:moveTo>
                    <a:pt x="3" y="0"/>
                  </a:moveTo>
                  <a:cubicBezTo>
                    <a:pt x="3" y="0"/>
                    <a:pt x="8" y="5"/>
                    <a:pt x="10" y="5"/>
                  </a:cubicBezTo>
                  <a:cubicBezTo>
                    <a:pt x="16" y="3"/>
                    <a:pt x="15" y="10"/>
                    <a:pt x="22" y="10"/>
                  </a:cubicBezTo>
                  <a:cubicBezTo>
                    <a:pt x="27" y="10"/>
                    <a:pt x="29" y="21"/>
                    <a:pt x="33" y="22"/>
                  </a:cubicBezTo>
                  <a:cubicBezTo>
                    <a:pt x="38" y="23"/>
                    <a:pt x="41" y="28"/>
                    <a:pt x="44" y="36"/>
                  </a:cubicBezTo>
                  <a:cubicBezTo>
                    <a:pt x="44" y="40"/>
                    <a:pt x="50" y="39"/>
                    <a:pt x="50" y="49"/>
                  </a:cubicBezTo>
                  <a:cubicBezTo>
                    <a:pt x="51" y="52"/>
                    <a:pt x="55" y="58"/>
                    <a:pt x="60" y="62"/>
                  </a:cubicBezTo>
                  <a:cubicBezTo>
                    <a:pt x="60" y="62"/>
                    <a:pt x="64" y="66"/>
                    <a:pt x="69" y="70"/>
                  </a:cubicBezTo>
                  <a:cubicBezTo>
                    <a:pt x="64" y="68"/>
                    <a:pt x="64" y="68"/>
                    <a:pt x="64" y="68"/>
                  </a:cubicBezTo>
                  <a:cubicBezTo>
                    <a:pt x="59" y="63"/>
                    <a:pt x="59" y="63"/>
                    <a:pt x="59" y="63"/>
                  </a:cubicBezTo>
                  <a:cubicBezTo>
                    <a:pt x="54" y="59"/>
                    <a:pt x="48" y="54"/>
                    <a:pt x="44" y="54"/>
                  </a:cubicBezTo>
                  <a:cubicBezTo>
                    <a:pt x="33" y="52"/>
                    <a:pt x="35" y="47"/>
                    <a:pt x="30" y="46"/>
                  </a:cubicBezTo>
                  <a:cubicBezTo>
                    <a:pt x="21" y="42"/>
                    <a:pt x="15" y="38"/>
                    <a:pt x="16" y="33"/>
                  </a:cubicBezTo>
                  <a:cubicBezTo>
                    <a:pt x="16" y="29"/>
                    <a:pt x="4" y="24"/>
                    <a:pt x="6" y="20"/>
                  </a:cubicBezTo>
                  <a:cubicBezTo>
                    <a:pt x="8" y="14"/>
                    <a:pt x="0" y="12"/>
                    <a:pt x="4" y="8"/>
                  </a:cubicBezTo>
                  <a:cubicBezTo>
                    <a:pt x="6" y="7"/>
                    <a:pt x="3"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78" name="Freeform 2350"/>
            <p:cNvSpPr/>
            <p:nvPr/>
          </p:nvSpPr>
          <p:spPr bwMode="auto">
            <a:xfrm>
              <a:off x="4294188" y="2292351"/>
              <a:ext cx="92075" cy="25400"/>
            </a:xfrm>
            <a:custGeom>
              <a:avLst/>
              <a:gdLst>
                <a:gd name="T0" fmla="*/ 0 w 99"/>
                <a:gd name="T1" fmla="*/ 11 h 27"/>
                <a:gd name="T2" fmla="*/ 8 w 99"/>
                <a:gd name="T3" fmla="*/ 15 h 27"/>
                <a:gd name="T4" fmla="*/ 21 w 99"/>
                <a:gd name="T5" fmla="*/ 22 h 27"/>
                <a:gd name="T6" fmla="*/ 39 w 99"/>
                <a:gd name="T7" fmla="*/ 24 h 27"/>
                <a:gd name="T8" fmla="*/ 57 w 99"/>
                <a:gd name="T9" fmla="*/ 23 h 27"/>
                <a:gd name="T10" fmla="*/ 71 w 99"/>
                <a:gd name="T11" fmla="*/ 19 h 27"/>
                <a:gd name="T12" fmla="*/ 87 w 99"/>
                <a:gd name="T13" fmla="*/ 16 h 27"/>
                <a:gd name="T14" fmla="*/ 99 w 99"/>
                <a:gd name="T15" fmla="*/ 16 h 27"/>
                <a:gd name="T16" fmla="*/ 94 w 99"/>
                <a:gd name="T17" fmla="*/ 14 h 27"/>
                <a:gd name="T18" fmla="*/ 87 w 99"/>
                <a:gd name="T19" fmla="*/ 14 h 27"/>
                <a:gd name="T20" fmla="*/ 70 w 99"/>
                <a:gd name="T21" fmla="*/ 11 h 27"/>
                <a:gd name="T22" fmla="*/ 55 w 99"/>
                <a:gd name="T23" fmla="*/ 6 h 27"/>
                <a:gd name="T24" fmla="*/ 36 w 99"/>
                <a:gd name="T25" fmla="*/ 3 h 27"/>
                <a:gd name="T26" fmla="*/ 19 w 99"/>
                <a:gd name="T27" fmla="*/ 3 h 27"/>
                <a:gd name="T28" fmla="*/ 8 w 99"/>
                <a:gd name="T29" fmla="*/ 8 h 27"/>
                <a:gd name="T30" fmla="*/ 0 w 99"/>
                <a:gd name="T31" fmla="*/ 1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9" h="27">
                  <a:moveTo>
                    <a:pt x="0" y="11"/>
                  </a:moveTo>
                  <a:cubicBezTo>
                    <a:pt x="0" y="11"/>
                    <a:pt x="8" y="13"/>
                    <a:pt x="8" y="15"/>
                  </a:cubicBezTo>
                  <a:cubicBezTo>
                    <a:pt x="11" y="21"/>
                    <a:pt x="16" y="16"/>
                    <a:pt x="21" y="22"/>
                  </a:cubicBezTo>
                  <a:cubicBezTo>
                    <a:pt x="25" y="26"/>
                    <a:pt x="35" y="21"/>
                    <a:pt x="39" y="24"/>
                  </a:cubicBezTo>
                  <a:cubicBezTo>
                    <a:pt x="43" y="27"/>
                    <a:pt x="50" y="27"/>
                    <a:pt x="57" y="23"/>
                  </a:cubicBezTo>
                  <a:cubicBezTo>
                    <a:pt x="61" y="21"/>
                    <a:pt x="65" y="25"/>
                    <a:pt x="71" y="19"/>
                  </a:cubicBezTo>
                  <a:cubicBezTo>
                    <a:pt x="74" y="17"/>
                    <a:pt x="81" y="16"/>
                    <a:pt x="87" y="16"/>
                  </a:cubicBezTo>
                  <a:cubicBezTo>
                    <a:pt x="99" y="16"/>
                    <a:pt x="99" y="16"/>
                    <a:pt x="99" y="16"/>
                  </a:cubicBezTo>
                  <a:cubicBezTo>
                    <a:pt x="94" y="14"/>
                    <a:pt x="94" y="14"/>
                    <a:pt x="94" y="14"/>
                  </a:cubicBezTo>
                  <a:cubicBezTo>
                    <a:pt x="87" y="14"/>
                    <a:pt x="87" y="14"/>
                    <a:pt x="87" y="14"/>
                  </a:cubicBezTo>
                  <a:cubicBezTo>
                    <a:pt x="81" y="14"/>
                    <a:pt x="74" y="14"/>
                    <a:pt x="70" y="11"/>
                  </a:cubicBezTo>
                  <a:cubicBezTo>
                    <a:pt x="61" y="4"/>
                    <a:pt x="59" y="9"/>
                    <a:pt x="55" y="6"/>
                  </a:cubicBezTo>
                  <a:cubicBezTo>
                    <a:pt x="46" y="2"/>
                    <a:pt x="39" y="1"/>
                    <a:pt x="36" y="3"/>
                  </a:cubicBezTo>
                  <a:cubicBezTo>
                    <a:pt x="33" y="6"/>
                    <a:pt x="21" y="0"/>
                    <a:pt x="19" y="3"/>
                  </a:cubicBezTo>
                  <a:cubicBezTo>
                    <a:pt x="15" y="8"/>
                    <a:pt x="8" y="2"/>
                    <a:pt x="8" y="8"/>
                  </a:cubicBezTo>
                  <a:cubicBezTo>
                    <a:pt x="7" y="10"/>
                    <a:pt x="0" y="11"/>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79" name="Freeform 2351"/>
            <p:cNvSpPr/>
            <p:nvPr/>
          </p:nvSpPr>
          <p:spPr bwMode="auto">
            <a:xfrm>
              <a:off x="4318001" y="2249488"/>
              <a:ext cx="68263" cy="58738"/>
            </a:xfrm>
            <a:custGeom>
              <a:avLst/>
              <a:gdLst>
                <a:gd name="T0" fmla="*/ 1 w 74"/>
                <a:gd name="T1" fmla="*/ 0 h 62"/>
                <a:gd name="T2" fmla="*/ 9 w 74"/>
                <a:gd name="T3" fmla="*/ 4 h 62"/>
                <a:gd name="T4" fmla="*/ 21 w 74"/>
                <a:gd name="T5" fmla="*/ 8 h 62"/>
                <a:gd name="T6" fmla="*/ 35 w 74"/>
                <a:gd name="T7" fmla="*/ 18 h 62"/>
                <a:gd name="T8" fmla="*/ 46 w 74"/>
                <a:gd name="T9" fmla="*/ 31 h 62"/>
                <a:gd name="T10" fmla="*/ 54 w 74"/>
                <a:gd name="T11" fmla="*/ 42 h 62"/>
                <a:gd name="T12" fmla="*/ 65 w 74"/>
                <a:gd name="T13" fmla="*/ 55 h 62"/>
                <a:gd name="T14" fmla="*/ 74 w 74"/>
                <a:gd name="T15" fmla="*/ 62 h 62"/>
                <a:gd name="T16" fmla="*/ 69 w 74"/>
                <a:gd name="T17" fmla="*/ 60 h 62"/>
                <a:gd name="T18" fmla="*/ 64 w 74"/>
                <a:gd name="T19" fmla="*/ 56 h 62"/>
                <a:gd name="T20" fmla="*/ 48 w 74"/>
                <a:gd name="T21" fmla="*/ 48 h 62"/>
                <a:gd name="T22" fmla="*/ 34 w 74"/>
                <a:gd name="T23" fmla="*/ 41 h 62"/>
                <a:gd name="T24" fmla="*/ 18 w 74"/>
                <a:gd name="T25" fmla="*/ 31 h 62"/>
                <a:gd name="T26" fmla="*/ 7 w 74"/>
                <a:gd name="T27" fmla="*/ 19 h 62"/>
                <a:gd name="T28" fmla="*/ 4 w 74"/>
                <a:gd name="T29" fmla="*/ 8 h 62"/>
                <a:gd name="T30" fmla="*/ 1 w 74"/>
                <a:gd name="T31"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 h="62">
                  <a:moveTo>
                    <a:pt x="1" y="0"/>
                  </a:moveTo>
                  <a:cubicBezTo>
                    <a:pt x="1" y="0"/>
                    <a:pt x="7" y="5"/>
                    <a:pt x="9" y="4"/>
                  </a:cubicBezTo>
                  <a:cubicBezTo>
                    <a:pt x="15" y="1"/>
                    <a:pt x="15" y="8"/>
                    <a:pt x="21" y="8"/>
                  </a:cubicBezTo>
                  <a:cubicBezTo>
                    <a:pt x="26" y="7"/>
                    <a:pt x="30" y="17"/>
                    <a:pt x="35" y="18"/>
                  </a:cubicBezTo>
                  <a:cubicBezTo>
                    <a:pt x="39" y="18"/>
                    <a:pt x="43" y="23"/>
                    <a:pt x="46" y="31"/>
                  </a:cubicBezTo>
                  <a:cubicBezTo>
                    <a:pt x="48" y="35"/>
                    <a:pt x="53" y="33"/>
                    <a:pt x="54" y="42"/>
                  </a:cubicBezTo>
                  <a:cubicBezTo>
                    <a:pt x="55" y="46"/>
                    <a:pt x="60" y="51"/>
                    <a:pt x="65" y="55"/>
                  </a:cubicBezTo>
                  <a:cubicBezTo>
                    <a:pt x="74" y="62"/>
                    <a:pt x="74" y="62"/>
                    <a:pt x="74" y="62"/>
                  </a:cubicBezTo>
                  <a:cubicBezTo>
                    <a:pt x="69" y="60"/>
                    <a:pt x="69" y="60"/>
                    <a:pt x="69" y="60"/>
                  </a:cubicBezTo>
                  <a:cubicBezTo>
                    <a:pt x="64" y="56"/>
                    <a:pt x="64" y="56"/>
                    <a:pt x="64" y="56"/>
                  </a:cubicBezTo>
                  <a:cubicBezTo>
                    <a:pt x="59" y="52"/>
                    <a:pt x="53" y="48"/>
                    <a:pt x="48" y="48"/>
                  </a:cubicBezTo>
                  <a:cubicBezTo>
                    <a:pt x="37" y="47"/>
                    <a:pt x="39" y="43"/>
                    <a:pt x="34" y="41"/>
                  </a:cubicBezTo>
                  <a:cubicBezTo>
                    <a:pt x="24" y="39"/>
                    <a:pt x="19" y="35"/>
                    <a:pt x="18" y="31"/>
                  </a:cubicBezTo>
                  <a:cubicBezTo>
                    <a:pt x="18" y="27"/>
                    <a:pt x="6" y="24"/>
                    <a:pt x="7" y="19"/>
                  </a:cubicBezTo>
                  <a:cubicBezTo>
                    <a:pt x="8" y="13"/>
                    <a:pt x="0" y="13"/>
                    <a:pt x="4" y="8"/>
                  </a:cubicBezTo>
                  <a:cubicBezTo>
                    <a:pt x="5" y="6"/>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grpSp>
      <p:grpSp>
        <p:nvGrpSpPr>
          <p:cNvPr id="139" name="组合 138"/>
          <p:cNvGrpSpPr/>
          <p:nvPr/>
        </p:nvGrpSpPr>
        <p:grpSpPr>
          <a:xfrm>
            <a:off x="3532122" y="4802324"/>
            <a:ext cx="590409" cy="973605"/>
            <a:chOff x="4360863" y="1785938"/>
            <a:chExt cx="330201" cy="544513"/>
          </a:xfrm>
          <a:gradFill>
            <a:gsLst>
              <a:gs pos="0">
                <a:srgbClr val="00B0F0"/>
              </a:gs>
              <a:gs pos="95000">
                <a:schemeClr val="tx2"/>
              </a:gs>
            </a:gsLst>
            <a:lin ang="5400000" scaled="1"/>
          </a:gradFill>
        </p:grpSpPr>
        <p:sp>
          <p:nvSpPr>
            <p:cNvPr id="140" name="Freeform 2352"/>
            <p:cNvSpPr/>
            <p:nvPr/>
          </p:nvSpPr>
          <p:spPr bwMode="auto">
            <a:xfrm>
              <a:off x="4540251" y="1785938"/>
              <a:ext cx="66675" cy="114300"/>
            </a:xfrm>
            <a:custGeom>
              <a:avLst/>
              <a:gdLst>
                <a:gd name="T0" fmla="*/ 13 w 72"/>
                <a:gd name="T1" fmla="*/ 7 h 121"/>
                <a:gd name="T2" fmla="*/ 27 w 72"/>
                <a:gd name="T3" fmla="*/ 16 h 121"/>
                <a:gd name="T4" fmla="*/ 41 w 72"/>
                <a:gd name="T5" fmla="*/ 36 h 121"/>
                <a:gd name="T6" fmla="*/ 51 w 72"/>
                <a:gd name="T7" fmla="*/ 59 h 121"/>
                <a:gd name="T8" fmla="*/ 56 w 72"/>
                <a:gd name="T9" fmla="*/ 79 h 121"/>
                <a:gd name="T10" fmla="*/ 63 w 72"/>
                <a:gd name="T11" fmla="*/ 101 h 121"/>
                <a:gd name="T12" fmla="*/ 71 w 72"/>
                <a:gd name="T13" fmla="*/ 117 h 121"/>
                <a:gd name="T14" fmla="*/ 72 w 72"/>
                <a:gd name="T15" fmla="*/ 121 h 121"/>
                <a:gd name="T16" fmla="*/ 69 w 72"/>
                <a:gd name="T17" fmla="*/ 118 h 121"/>
                <a:gd name="T18" fmla="*/ 61 w 72"/>
                <a:gd name="T19" fmla="*/ 102 h 121"/>
                <a:gd name="T20" fmla="*/ 47 w 72"/>
                <a:gd name="T21" fmla="*/ 84 h 121"/>
                <a:gd name="T22" fmla="*/ 33 w 72"/>
                <a:gd name="T23" fmla="*/ 69 h 121"/>
                <a:gd name="T24" fmla="*/ 18 w 72"/>
                <a:gd name="T25" fmla="*/ 49 h 121"/>
                <a:gd name="T26" fmla="*/ 7 w 72"/>
                <a:gd name="T27" fmla="*/ 29 h 121"/>
                <a:gd name="T28" fmla="*/ 5 w 72"/>
                <a:gd name="T29" fmla="*/ 12 h 121"/>
                <a:gd name="T30" fmla="*/ 3 w 72"/>
                <a:gd name="T31" fmla="*/ 0 h 121"/>
                <a:gd name="T32" fmla="*/ 13 w 72"/>
                <a:gd name="T33" fmla="*/ 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121">
                  <a:moveTo>
                    <a:pt x="13" y="7"/>
                  </a:moveTo>
                  <a:cubicBezTo>
                    <a:pt x="20" y="4"/>
                    <a:pt x="19" y="15"/>
                    <a:pt x="27" y="16"/>
                  </a:cubicBezTo>
                  <a:cubicBezTo>
                    <a:pt x="34" y="17"/>
                    <a:pt x="35" y="33"/>
                    <a:pt x="41" y="36"/>
                  </a:cubicBezTo>
                  <a:cubicBezTo>
                    <a:pt x="46" y="38"/>
                    <a:pt x="50" y="46"/>
                    <a:pt x="51" y="59"/>
                  </a:cubicBezTo>
                  <a:cubicBezTo>
                    <a:pt x="51" y="65"/>
                    <a:pt x="58" y="66"/>
                    <a:pt x="56" y="79"/>
                  </a:cubicBezTo>
                  <a:cubicBezTo>
                    <a:pt x="55" y="84"/>
                    <a:pt x="59" y="93"/>
                    <a:pt x="63" y="101"/>
                  </a:cubicBezTo>
                  <a:cubicBezTo>
                    <a:pt x="63" y="101"/>
                    <a:pt x="67" y="109"/>
                    <a:pt x="71" y="117"/>
                  </a:cubicBezTo>
                  <a:cubicBezTo>
                    <a:pt x="72" y="121"/>
                    <a:pt x="72" y="121"/>
                    <a:pt x="72" y="121"/>
                  </a:cubicBezTo>
                  <a:cubicBezTo>
                    <a:pt x="69" y="118"/>
                    <a:pt x="69" y="118"/>
                    <a:pt x="69" y="118"/>
                  </a:cubicBezTo>
                  <a:cubicBezTo>
                    <a:pt x="65" y="110"/>
                    <a:pt x="61" y="103"/>
                    <a:pt x="61" y="102"/>
                  </a:cubicBezTo>
                  <a:cubicBezTo>
                    <a:pt x="57" y="94"/>
                    <a:pt x="52" y="86"/>
                    <a:pt x="47" y="84"/>
                  </a:cubicBezTo>
                  <a:cubicBezTo>
                    <a:pt x="35" y="79"/>
                    <a:pt x="38" y="72"/>
                    <a:pt x="33" y="69"/>
                  </a:cubicBezTo>
                  <a:cubicBezTo>
                    <a:pt x="23" y="62"/>
                    <a:pt x="17" y="55"/>
                    <a:pt x="18" y="49"/>
                  </a:cubicBezTo>
                  <a:cubicBezTo>
                    <a:pt x="19" y="43"/>
                    <a:pt x="5" y="35"/>
                    <a:pt x="7" y="29"/>
                  </a:cubicBezTo>
                  <a:cubicBezTo>
                    <a:pt x="10" y="21"/>
                    <a:pt x="0" y="17"/>
                    <a:pt x="5" y="12"/>
                  </a:cubicBezTo>
                  <a:cubicBezTo>
                    <a:pt x="7" y="10"/>
                    <a:pt x="3" y="0"/>
                    <a:pt x="3" y="0"/>
                  </a:cubicBezTo>
                  <a:cubicBezTo>
                    <a:pt x="3" y="0"/>
                    <a:pt x="10" y="8"/>
                    <a:pt x="1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41" name="Freeform 2353"/>
            <p:cNvSpPr/>
            <p:nvPr/>
          </p:nvSpPr>
          <p:spPr bwMode="auto">
            <a:xfrm>
              <a:off x="4360863" y="1895476"/>
              <a:ext cx="300038" cy="434975"/>
            </a:xfrm>
            <a:custGeom>
              <a:avLst/>
              <a:gdLst>
                <a:gd name="T0" fmla="*/ 262 w 320"/>
                <a:gd name="T1" fmla="*/ 0 h 465"/>
                <a:gd name="T2" fmla="*/ 284 w 320"/>
                <a:gd name="T3" fmla="*/ 48 h 465"/>
                <a:gd name="T4" fmla="*/ 309 w 320"/>
                <a:gd name="T5" fmla="*/ 129 h 465"/>
                <a:gd name="T6" fmla="*/ 314 w 320"/>
                <a:gd name="T7" fmla="*/ 235 h 465"/>
                <a:gd name="T8" fmla="*/ 297 w 320"/>
                <a:gd name="T9" fmla="*/ 289 h 465"/>
                <a:gd name="T10" fmla="*/ 264 w 320"/>
                <a:gd name="T11" fmla="*/ 337 h 465"/>
                <a:gd name="T12" fmla="*/ 174 w 320"/>
                <a:gd name="T13" fmla="*/ 402 h 465"/>
                <a:gd name="T14" fmla="*/ 87 w 320"/>
                <a:gd name="T15" fmla="*/ 437 h 465"/>
                <a:gd name="T16" fmla="*/ 24 w 320"/>
                <a:gd name="T17" fmla="*/ 457 h 465"/>
                <a:gd name="T18" fmla="*/ 0 w 320"/>
                <a:gd name="T19" fmla="*/ 465 h 465"/>
                <a:gd name="T20" fmla="*/ 0 w 320"/>
                <a:gd name="T21" fmla="*/ 463 h 465"/>
                <a:gd name="T22" fmla="*/ 23 w 320"/>
                <a:gd name="T23" fmla="*/ 455 h 465"/>
                <a:gd name="T24" fmla="*/ 86 w 320"/>
                <a:gd name="T25" fmla="*/ 435 h 465"/>
                <a:gd name="T26" fmla="*/ 174 w 320"/>
                <a:gd name="T27" fmla="*/ 399 h 465"/>
                <a:gd name="T28" fmla="*/ 263 w 320"/>
                <a:gd name="T29" fmla="*/ 334 h 465"/>
                <a:gd name="T30" fmla="*/ 295 w 320"/>
                <a:gd name="T31" fmla="*/ 287 h 465"/>
                <a:gd name="T32" fmla="*/ 312 w 320"/>
                <a:gd name="T33" fmla="*/ 233 h 465"/>
                <a:gd name="T34" fmla="*/ 306 w 320"/>
                <a:gd name="T35" fmla="*/ 128 h 465"/>
                <a:gd name="T36" fmla="*/ 281 w 320"/>
                <a:gd name="T37" fmla="*/ 48 h 465"/>
                <a:gd name="T38" fmla="*/ 260 w 320"/>
                <a:gd name="T39" fmla="*/ 1 h 465"/>
                <a:gd name="T40" fmla="*/ 262 w 320"/>
                <a:gd name="T41" fmla="*/ 0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465">
                  <a:moveTo>
                    <a:pt x="262" y="0"/>
                  </a:moveTo>
                  <a:cubicBezTo>
                    <a:pt x="267" y="10"/>
                    <a:pt x="275" y="26"/>
                    <a:pt x="284" y="48"/>
                  </a:cubicBezTo>
                  <a:cubicBezTo>
                    <a:pt x="292" y="69"/>
                    <a:pt x="302" y="97"/>
                    <a:pt x="309" y="129"/>
                  </a:cubicBezTo>
                  <a:cubicBezTo>
                    <a:pt x="316" y="161"/>
                    <a:pt x="320" y="197"/>
                    <a:pt x="314" y="235"/>
                  </a:cubicBezTo>
                  <a:cubicBezTo>
                    <a:pt x="311" y="253"/>
                    <a:pt x="305" y="272"/>
                    <a:pt x="297" y="289"/>
                  </a:cubicBezTo>
                  <a:cubicBezTo>
                    <a:pt x="288" y="307"/>
                    <a:pt x="277" y="323"/>
                    <a:pt x="264" y="337"/>
                  </a:cubicBezTo>
                  <a:cubicBezTo>
                    <a:pt x="238" y="365"/>
                    <a:pt x="205" y="386"/>
                    <a:pt x="174" y="402"/>
                  </a:cubicBezTo>
                  <a:cubicBezTo>
                    <a:pt x="143" y="417"/>
                    <a:pt x="112" y="428"/>
                    <a:pt x="87" y="437"/>
                  </a:cubicBezTo>
                  <a:cubicBezTo>
                    <a:pt x="61" y="446"/>
                    <a:pt x="39" y="453"/>
                    <a:pt x="24" y="457"/>
                  </a:cubicBezTo>
                  <a:cubicBezTo>
                    <a:pt x="0" y="465"/>
                    <a:pt x="0" y="465"/>
                    <a:pt x="0" y="465"/>
                  </a:cubicBezTo>
                  <a:cubicBezTo>
                    <a:pt x="0" y="463"/>
                    <a:pt x="0" y="463"/>
                    <a:pt x="0" y="463"/>
                  </a:cubicBezTo>
                  <a:cubicBezTo>
                    <a:pt x="23" y="455"/>
                    <a:pt x="23" y="455"/>
                    <a:pt x="23" y="455"/>
                  </a:cubicBezTo>
                  <a:cubicBezTo>
                    <a:pt x="38" y="450"/>
                    <a:pt x="60" y="444"/>
                    <a:pt x="86" y="435"/>
                  </a:cubicBezTo>
                  <a:cubicBezTo>
                    <a:pt x="112" y="426"/>
                    <a:pt x="143" y="415"/>
                    <a:pt x="174" y="399"/>
                  </a:cubicBezTo>
                  <a:cubicBezTo>
                    <a:pt x="205" y="383"/>
                    <a:pt x="237" y="363"/>
                    <a:pt x="263" y="334"/>
                  </a:cubicBezTo>
                  <a:cubicBezTo>
                    <a:pt x="276" y="320"/>
                    <a:pt x="287" y="304"/>
                    <a:pt x="295" y="287"/>
                  </a:cubicBezTo>
                  <a:cubicBezTo>
                    <a:pt x="303" y="270"/>
                    <a:pt x="309" y="251"/>
                    <a:pt x="312" y="233"/>
                  </a:cubicBezTo>
                  <a:cubicBezTo>
                    <a:pt x="318" y="196"/>
                    <a:pt x="313" y="160"/>
                    <a:pt x="306" y="128"/>
                  </a:cubicBezTo>
                  <a:cubicBezTo>
                    <a:pt x="299" y="97"/>
                    <a:pt x="290" y="69"/>
                    <a:pt x="281" y="48"/>
                  </a:cubicBezTo>
                  <a:cubicBezTo>
                    <a:pt x="272" y="26"/>
                    <a:pt x="265" y="10"/>
                    <a:pt x="260" y="1"/>
                  </a:cubicBezTo>
                  <a:lnTo>
                    <a:pt x="26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42" name="Freeform 2354"/>
            <p:cNvSpPr/>
            <p:nvPr/>
          </p:nvSpPr>
          <p:spPr bwMode="auto">
            <a:xfrm>
              <a:off x="4595813" y="1825626"/>
              <a:ext cx="33338" cy="107950"/>
            </a:xfrm>
            <a:custGeom>
              <a:avLst/>
              <a:gdLst>
                <a:gd name="T0" fmla="*/ 11 w 35"/>
                <a:gd name="T1" fmla="*/ 0 h 116"/>
                <a:gd name="T2" fmla="*/ 17 w 35"/>
                <a:gd name="T3" fmla="*/ 10 h 116"/>
                <a:gd name="T4" fmla="*/ 26 w 35"/>
                <a:gd name="T5" fmla="*/ 24 h 116"/>
                <a:gd name="T6" fmla="*/ 31 w 35"/>
                <a:gd name="T7" fmla="*/ 44 h 116"/>
                <a:gd name="T8" fmla="*/ 32 w 35"/>
                <a:gd name="T9" fmla="*/ 66 h 116"/>
                <a:gd name="T10" fmla="*/ 29 w 35"/>
                <a:gd name="T11" fmla="*/ 83 h 116"/>
                <a:gd name="T12" fmla="*/ 27 w 35"/>
                <a:gd name="T13" fmla="*/ 102 h 116"/>
                <a:gd name="T14" fmla="*/ 28 w 35"/>
                <a:gd name="T15" fmla="*/ 116 h 116"/>
                <a:gd name="T16" fmla="*/ 25 w 35"/>
                <a:gd name="T17" fmla="*/ 110 h 116"/>
                <a:gd name="T18" fmla="*/ 25 w 35"/>
                <a:gd name="T19" fmla="*/ 102 h 116"/>
                <a:gd name="T20" fmla="*/ 19 w 35"/>
                <a:gd name="T21" fmla="*/ 82 h 116"/>
                <a:gd name="T22" fmla="*/ 12 w 35"/>
                <a:gd name="T23" fmla="*/ 65 h 116"/>
                <a:gd name="T24" fmla="*/ 6 w 35"/>
                <a:gd name="T25" fmla="*/ 43 h 116"/>
                <a:gd name="T26" fmla="*/ 4 w 35"/>
                <a:gd name="T27" fmla="*/ 24 h 116"/>
                <a:gd name="T28" fmla="*/ 9 w 35"/>
                <a:gd name="T29" fmla="*/ 10 h 116"/>
                <a:gd name="T30" fmla="*/ 11 w 35"/>
                <a:gd name="T3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116">
                  <a:moveTo>
                    <a:pt x="11" y="0"/>
                  </a:moveTo>
                  <a:cubicBezTo>
                    <a:pt x="11" y="0"/>
                    <a:pt x="14" y="9"/>
                    <a:pt x="17" y="10"/>
                  </a:cubicBezTo>
                  <a:cubicBezTo>
                    <a:pt x="24" y="12"/>
                    <a:pt x="19" y="19"/>
                    <a:pt x="26" y="24"/>
                  </a:cubicBezTo>
                  <a:cubicBezTo>
                    <a:pt x="32" y="28"/>
                    <a:pt x="27" y="40"/>
                    <a:pt x="31" y="44"/>
                  </a:cubicBezTo>
                  <a:cubicBezTo>
                    <a:pt x="35" y="49"/>
                    <a:pt x="35" y="57"/>
                    <a:pt x="32" y="66"/>
                  </a:cubicBezTo>
                  <a:cubicBezTo>
                    <a:pt x="30" y="71"/>
                    <a:pt x="35" y="75"/>
                    <a:pt x="29" y="83"/>
                  </a:cubicBezTo>
                  <a:cubicBezTo>
                    <a:pt x="26" y="87"/>
                    <a:pt x="26" y="95"/>
                    <a:pt x="27" y="102"/>
                  </a:cubicBezTo>
                  <a:cubicBezTo>
                    <a:pt x="28" y="116"/>
                    <a:pt x="28" y="116"/>
                    <a:pt x="28" y="116"/>
                  </a:cubicBezTo>
                  <a:cubicBezTo>
                    <a:pt x="25" y="110"/>
                    <a:pt x="25" y="110"/>
                    <a:pt x="25" y="110"/>
                  </a:cubicBezTo>
                  <a:cubicBezTo>
                    <a:pt x="25" y="102"/>
                    <a:pt x="25" y="102"/>
                    <a:pt x="25" y="102"/>
                  </a:cubicBezTo>
                  <a:cubicBezTo>
                    <a:pt x="24" y="95"/>
                    <a:pt x="23" y="86"/>
                    <a:pt x="19" y="82"/>
                  </a:cubicBezTo>
                  <a:cubicBezTo>
                    <a:pt x="11" y="73"/>
                    <a:pt x="15" y="70"/>
                    <a:pt x="12" y="65"/>
                  </a:cubicBezTo>
                  <a:cubicBezTo>
                    <a:pt x="6" y="55"/>
                    <a:pt x="4" y="47"/>
                    <a:pt x="6" y="43"/>
                  </a:cubicBezTo>
                  <a:cubicBezTo>
                    <a:pt x="9" y="39"/>
                    <a:pt x="0" y="27"/>
                    <a:pt x="4" y="24"/>
                  </a:cubicBezTo>
                  <a:cubicBezTo>
                    <a:pt x="10" y="19"/>
                    <a:pt x="2" y="12"/>
                    <a:pt x="9" y="10"/>
                  </a:cubicBezTo>
                  <a:cubicBezTo>
                    <a:pt x="11" y="9"/>
                    <a:pt x="11"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43" name="Freeform 2355"/>
            <p:cNvSpPr/>
            <p:nvPr/>
          </p:nvSpPr>
          <p:spPr bwMode="auto">
            <a:xfrm>
              <a:off x="4548188" y="1857376"/>
              <a:ext cx="74613" cy="76200"/>
            </a:xfrm>
            <a:custGeom>
              <a:avLst/>
              <a:gdLst>
                <a:gd name="T0" fmla="*/ 0 w 80"/>
                <a:gd name="T1" fmla="*/ 3 h 82"/>
                <a:gd name="T2" fmla="*/ 5 w 80"/>
                <a:gd name="T3" fmla="*/ 12 h 82"/>
                <a:gd name="T4" fmla="*/ 11 w 80"/>
                <a:gd name="T5" fmla="*/ 26 h 82"/>
                <a:gd name="T6" fmla="*/ 24 w 80"/>
                <a:gd name="T7" fmla="*/ 41 h 82"/>
                <a:gd name="T8" fmla="*/ 41 w 80"/>
                <a:gd name="T9" fmla="*/ 53 h 82"/>
                <a:gd name="T10" fmla="*/ 55 w 80"/>
                <a:gd name="T11" fmla="*/ 61 h 82"/>
                <a:gd name="T12" fmla="*/ 71 w 80"/>
                <a:gd name="T13" fmla="*/ 72 h 82"/>
                <a:gd name="T14" fmla="*/ 80 w 80"/>
                <a:gd name="T15" fmla="*/ 82 h 82"/>
                <a:gd name="T16" fmla="*/ 77 w 80"/>
                <a:gd name="T17" fmla="*/ 76 h 82"/>
                <a:gd name="T18" fmla="*/ 72 w 80"/>
                <a:gd name="T19" fmla="*/ 70 h 82"/>
                <a:gd name="T20" fmla="*/ 61 w 80"/>
                <a:gd name="T21" fmla="*/ 53 h 82"/>
                <a:gd name="T22" fmla="*/ 52 w 80"/>
                <a:gd name="T23" fmla="*/ 37 h 82"/>
                <a:gd name="T24" fmla="*/ 38 w 80"/>
                <a:gd name="T25" fmla="*/ 20 h 82"/>
                <a:gd name="T26" fmla="*/ 23 w 80"/>
                <a:gd name="T27" fmla="*/ 8 h 82"/>
                <a:gd name="T28" fmla="*/ 9 w 80"/>
                <a:gd name="T29" fmla="*/ 5 h 82"/>
                <a:gd name="T30" fmla="*/ 0 w 80"/>
                <a:gd name="T3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0" h="82">
                  <a:moveTo>
                    <a:pt x="0" y="3"/>
                  </a:moveTo>
                  <a:cubicBezTo>
                    <a:pt x="0" y="3"/>
                    <a:pt x="6" y="10"/>
                    <a:pt x="5" y="12"/>
                  </a:cubicBezTo>
                  <a:cubicBezTo>
                    <a:pt x="2" y="19"/>
                    <a:pt x="11" y="18"/>
                    <a:pt x="11" y="26"/>
                  </a:cubicBezTo>
                  <a:cubicBezTo>
                    <a:pt x="11" y="32"/>
                    <a:pt x="23" y="35"/>
                    <a:pt x="24" y="41"/>
                  </a:cubicBezTo>
                  <a:cubicBezTo>
                    <a:pt x="25" y="46"/>
                    <a:pt x="31" y="50"/>
                    <a:pt x="41" y="53"/>
                  </a:cubicBezTo>
                  <a:cubicBezTo>
                    <a:pt x="46" y="54"/>
                    <a:pt x="45" y="61"/>
                    <a:pt x="55" y="61"/>
                  </a:cubicBezTo>
                  <a:cubicBezTo>
                    <a:pt x="60" y="61"/>
                    <a:pt x="66" y="66"/>
                    <a:pt x="71" y="72"/>
                  </a:cubicBezTo>
                  <a:cubicBezTo>
                    <a:pt x="71" y="72"/>
                    <a:pt x="75" y="77"/>
                    <a:pt x="80" y="82"/>
                  </a:cubicBezTo>
                  <a:cubicBezTo>
                    <a:pt x="77" y="76"/>
                    <a:pt x="77" y="76"/>
                    <a:pt x="77" y="76"/>
                  </a:cubicBezTo>
                  <a:cubicBezTo>
                    <a:pt x="72" y="70"/>
                    <a:pt x="72" y="70"/>
                    <a:pt x="72" y="70"/>
                  </a:cubicBezTo>
                  <a:cubicBezTo>
                    <a:pt x="67" y="65"/>
                    <a:pt x="62" y="58"/>
                    <a:pt x="61" y="53"/>
                  </a:cubicBezTo>
                  <a:cubicBezTo>
                    <a:pt x="59" y="41"/>
                    <a:pt x="54" y="43"/>
                    <a:pt x="52" y="37"/>
                  </a:cubicBezTo>
                  <a:cubicBezTo>
                    <a:pt x="48" y="26"/>
                    <a:pt x="43" y="20"/>
                    <a:pt x="38" y="20"/>
                  </a:cubicBezTo>
                  <a:cubicBezTo>
                    <a:pt x="33" y="20"/>
                    <a:pt x="28" y="7"/>
                    <a:pt x="23" y="8"/>
                  </a:cubicBezTo>
                  <a:cubicBezTo>
                    <a:pt x="16" y="10"/>
                    <a:pt x="14" y="0"/>
                    <a:pt x="9" y="5"/>
                  </a:cubicBezTo>
                  <a:cubicBezTo>
                    <a:pt x="7" y="7"/>
                    <a:pt x="0" y="3"/>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44" name="Freeform 2356"/>
            <p:cNvSpPr/>
            <p:nvPr/>
          </p:nvSpPr>
          <p:spPr bwMode="auto">
            <a:xfrm>
              <a:off x="4627563" y="1889126"/>
              <a:ext cx="30163" cy="106363"/>
            </a:xfrm>
            <a:custGeom>
              <a:avLst/>
              <a:gdLst>
                <a:gd name="T0" fmla="*/ 12 w 32"/>
                <a:gd name="T1" fmla="*/ 0 h 115"/>
                <a:gd name="T2" fmla="*/ 17 w 32"/>
                <a:gd name="T3" fmla="*/ 10 h 115"/>
                <a:gd name="T4" fmla="*/ 25 w 32"/>
                <a:gd name="T5" fmla="*/ 25 h 115"/>
                <a:gd name="T6" fmla="*/ 28 w 32"/>
                <a:gd name="T7" fmla="*/ 45 h 115"/>
                <a:gd name="T8" fmla="*/ 27 w 32"/>
                <a:gd name="T9" fmla="*/ 67 h 115"/>
                <a:gd name="T10" fmla="*/ 22 w 32"/>
                <a:gd name="T11" fmla="*/ 83 h 115"/>
                <a:gd name="T12" fmla="*/ 18 w 32"/>
                <a:gd name="T13" fmla="*/ 102 h 115"/>
                <a:gd name="T14" fmla="*/ 18 w 32"/>
                <a:gd name="T15" fmla="*/ 115 h 115"/>
                <a:gd name="T16" fmla="*/ 16 w 32"/>
                <a:gd name="T17" fmla="*/ 109 h 115"/>
                <a:gd name="T18" fmla="*/ 16 w 32"/>
                <a:gd name="T19" fmla="*/ 101 h 115"/>
                <a:gd name="T20" fmla="*/ 13 w 32"/>
                <a:gd name="T21" fmla="*/ 81 h 115"/>
                <a:gd name="T22" fmla="*/ 8 w 32"/>
                <a:gd name="T23" fmla="*/ 64 h 115"/>
                <a:gd name="T24" fmla="*/ 4 w 32"/>
                <a:gd name="T25" fmla="*/ 42 h 115"/>
                <a:gd name="T26" fmla="*/ 4 w 32"/>
                <a:gd name="T27" fmla="*/ 22 h 115"/>
                <a:gd name="T28" fmla="*/ 9 w 32"/>
                <a:gd name="T29" fmla="*/ 9 h 115"/>
                <a:gd name="T30" fmla="*/ 12 w 32"/>
                <a:gd name="T3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 h="115">
                  <a:moveTo>
                    <a:pt x="12" y="0"/>
                  </a:moveTo>
                  <a:cubicBezTo>
                    <a:pt x="12" y="0"/>
                    <a:pt x="15" y="9"/>
                    <a:pt x="17" y="10"/>
                  </a:cubicBezTo>
                  <a:cubicBezTo>
                    <a:pt x="24" y="13"/>
                    <a:pt x="19" y="19"/>
                    <a:pt x="25" y="25"/>
                  </a:cubicBezTo>
                  <a:cubicBezTo>
                    <a:pt x="30" y="29"/>
                    <a:pt x="25" y="41"/>
                    <a:pt x="28" y="45"/>
                  </a:cubicBezTo>
                  <a:cubicBezTo>
                    <a:pt x="32" y="50"/>
                    <a:pt x="31" y="58"/>
                    <a:pt x="27" y="67"/>
                  </a:cubicBezTo>
                  <a:cubicBezTo>
                    <a:pt x="24" y="71"/>
                    <a:pt x="29" y="76"/>
                    <a:pt x="22" y="83"/>
                  </a:cubicBezTo>
                  <a:cubicBezTo>
                    <a:pt x="19" y="86"/>
                    <a:pt x="18" y="94"/>
                    <a:pt x="18" y="102"/>
                  </a:cubicBezTo>
                  <a:cubicBezTo>
                    <a:pt x="18" y="102"/>
                    <a:pt x="18" y="108"/>
                    <a:pt x="18" y="115"/>
                  </a:cubicBezTo>
                  <a:cubicBezTo>
                    <a:pt x="16" y="109"/>
                    <a:pt x="16" y="109"/>
                    <a:pt x="16" y="109"/>
                  </a:cubicBezTo>
                  <a:cubicBezTo>
                    <a:pt x="16" y="101"/>
                    <a:pt x="16" y="101"/>
                    <a:pt x="16" y="101"/>
                  </a:cubicBezTo>
                  <a:cubicBezTo>
                    <a:pt x="16" y="94"/>
                    <a:pt x="16" y="86"/>
                    <a:pt x="13" y="81"/>
                  </a:cubicBezTo>
                  <a:cubicBezTo>
                    <a:pt x="5" y="71"/>
                    <a:pt x="10" y="69"/>
                    <a:pt x="8" y="64"/>
                  </a:cubicBezTo>
                  <a:cubicBezTo>
                    <a:pt x="2" y="53"/>
                    <a:pt x="1" y="46"/>
                    <a:pt x="4" y="42"/>
                  </a:cubicBezTo>
                  <a:cubicBezTo>
                    <a:pt x="7" y="38"/>
                    <a:pt x="0" y="25"/>
                    <a:pt x="4" y="22"/>
                  </a:cubicBezTo>
                  <a:cubicBezTo>
                    <a:pt x="9" y="18"/>
                    <a:pt x="2" y="10"/>
                    <a:pt x="9" y="9"/>
                  </a:cubicBezTo>
                  <a:cubicBezTo>
                    <a:pt x="11" y="9"/>
                    <a:pt x="12"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45" name="Freeform 2357"/>
            <p:cNvSpPr/>
            <p:nvPr/>
          </p:nvSpPr>
          <p:spPr bwMode="auto">
            <a:xfrm>
              <a:off x="4578351" y="1916113"/>
              <a:ext cx="66675" cy="79375"/>
            </a:xfrm>
            <a:custGeom>
              <a:avLst/>
              <a:gdLst>
                <a:gd name="T0" fmla="*/ 0 w 71"/>
                <a:gd name="T1" fmla="*/ 1 h 85"/>
                <a:gd name="T2" fmla="*/ 4 w 71"/>
                <a:gd name="T3" fmla="*/ 10 h 85"/>
                <a:gd name="T4" fmla="*/ 9 w 71"/>
                <a:gd name="T5" fmla="*/ 25 h 85"/>
                <a:gd name="T6" fmla="*/ 21 w 71"/>
                <a:gd name="T7" fmla="*/ 40 h 85"/>
                <a:gd name="T8" fmla="*/ 36 w 71"/>
                <a:gd name="T9" fmla="*/ 53 h 85"/>
                <a:gd name="T10" fmla="*/ 49 w 71"/>
                <a:gd name="T11" fmla="*/ 62 h 85"/>
                <a:gd name="T12" fmla="*/ 63 w 71"/>
                <a:gd name="T13" fmla="*/ 74 h 85"/>
                <a:gd name="T14" fmla="*/ 71 w 71"/>
                <a:gd name="T15" fmla="*/ 85 h 85"/>
                <a:gd name="T16" fmla="*/ 69 w 71"/>
                <a:gd name="T17" fmla="*/ 79 h 85"/>
                <a:gd name="T18" fmla="*/ 64 w 71"/>
                <a:gd name="T19" fmla="*/ 73 h 85"/>
                <a:gd name="T20" fmla="*/ 55 w 71"/>
                <a:gd name="T21" fmla="*/ 55 h 85"/>
                <a:gd name="T22" fmla="*/ 48 w 71"/>
                <a:gd name="T23" fmla="*/ 39 h 85"/>
                <a:gd name="T24" fmla="*/ 36 w 71"/>
                <a:gd name="T25" fmla="*/ 21 h 85"/>
                <a:gd name="T26" fmla="*/ 22 w 71"/>
                <a:gd name="T27" fmla="*/ 8 h 85"/>
                <a:gd name="T28" fmla="*/ 9 w 71"/>
                <a:gd name="T29" fmla="*/ 4 h 85"/>
                <a:gd name="T30" fmla="*/ 0 w 71"/>
                <a:gd name="T31" fmla="*/ 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1" h="85">
                  <a:moveTo>
                    <a:pt x="0" y="1"/>
                  </a:moveTo>
                  <a:cubicBezTo>
                    <a:pt x="0" y="1"/>
                    <a:pt x="5" y="8"/>
                    <a:pt x="4" y="10"/>
                  </a:cubicBezTo>
                  <a:cubicBezTo>
                    <a:pt x="1" y="17"/>
                    <a:pt x="10" y="17"/>
                    <a:pt x="9" y="25"/>
                  </a:cubicBezTo>
                  <a:cubicBezTo>
                    <a:pt x="8" y="30"/>
                    <a:pt x="20" y="34"/>
                    <a:pt x="21" y="40"/>
                  </a:cubicBezTo>
                  <a:cubicBezTo>
                    <a:pt x="21" y="45"/>
                    <a:pt x="26" y="49"/>
                    <a:pt x="36" y="53"/>
                  </a:cubicBezTo>
                  <a:cubicBezTo>
                    <a:pt x="40" y="54"/>
                    <a:pt x="39" y="61"/>
                    <a:pt x="49" y="62"/>
                  </a:cubicBezTo>
                  <a:cubicBezTo>
                    <a:pt x="53" y="63"/>
                    <a:pt x="59" y="68"/>
                    <a:pt x="63" y="74"/>
                  </a:cubicBezTo>
                  <a:cubicBezTo>
                    <a:pt x="63" y="74"/>
                    <a:pt x="67" y="79"/>
                    <a:pt x="71" y="85"/>
                  </a:cubicBezTo>
                  <a:cubicBezTo>
                    <a:pt x="69" y="79"/>
                    <a:pt x="69" y="79"/>
                    <a:pt x="69" y="79"/>
                  </a:cubicBezTo>
                  <a:cubicBezTo>
                    <a:pt x="64" y="73"/>
                    <a:pt x="64" y="73"/>
                    <a:pt x="64" y="73"/>
                  </a:cubicBezTo>
                  <a:cubicBezTo>
                    <a:pt x="60" y="67"/>
                    <a:pt x="56" y="60"/>
                    <a:pt x="55" y="55"/>
                  </a:cubicBezTo>
                  <a:cubicBezTo>
                    <a:pt x="55" y="43"/>
                    <a:pt x="49" y="44"/>
                    <a:pt x="48" y="39"/>
                  </a:cubicBezTo>
                  <a:cubicBezTo>
                    <a:pt x="45" y="28"/>
                    <a:pt x="41" y="21"/>
                    <a:pt x="36" y="21"/>
                  </a:cubicBezTo>
                  <a:cubicBezTo>
                    <a:pt x="31" y="21"/>
                    <a:pt x="27" y="7"/>
                    <a:pt x="22" y="8"/>
                  </a:cubicBezTo>
                  <a:cubicBezTo>
                    <a:pt x="15" y="9"/>
                    <a:pt x="14" y="0"/>
                    <a:pt x="9" y="4"/>
                  </a:cubicBezTo>
                  <a:cubicBezTo>
                    <a:pt x="7" y="6"/>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46" name="Freeform 2358"/>
            <p:cNvSpPr/>
            <p:nvPr/>
          </p:nvSpPr>
          <p:spPr bwMode="auto">
            <a:xfrm>
              <a:off x="4651376" y="1954213"/>
              <a:ext cx="28575" cy="106363"/>
            </a:xfrm>
            <a:custGeom>
              <a:avLst/>
              <a:gdLst>
                <a:gd name="T0" fmla="*/ 15 w 30"/>
                <a:gd name="T1" fmla="*/ 1 h 114"/>
                <a:gd name="T2" fmla="*/ 19 w 30"/>
                <a:gd name="T3" fmla="*/ 11 h 114"/>
                <a:gd name="T4" fmla="*/ 26 w 30"/>
                <a:gd name="T5" fmla="*/ 26 h 114"/>
                <a:gd name="T6" fmla="*/ 26 w 30"/>
                <a:gd name="T7" fmla="*/ 47 h 114"/>
                <a:gd name="T8" fmla="*/ 22 w 30"/>
                <a:gd name="T9" fmla="*/ 68 h 114"/>
                <a:gd name="T10" fmla="*/ 15 w 30"/>
                <a:gd name="T11" fmla="*/ 84 h 114"/>
                <a:gd name="T12" fmla="*/ 8 w 30"/>
                <a:gd name="T13" fmla="*/ 101 h 114"/>
                <a:gd name="T14" fmla="*/ 5 w 30"/>
                <a:gd name="T15" fmla="*/ 114 h 114"/>
                <a:gd name="T16" fmla="*/ 4 w 30"/>
                <a:gd name="T17" fmla="*/ 108 h 114"/>
                <a:gd name="T18" fmla="*/ 6 w 30"/>
                <a:gd name="T19" fmla="*/ 100 h 114"/>
                <a:gd name="T20" fmla="*/ 6 w 30"/>
                <a:gd name="T21" fmla="*/ 80 h 114"/>
                <a:gd name="T22" fmla="*/ 4 w 30"/>
                <a:gd name="T23" fmla="*/ 62 h 114"/>
                <a:gd name="T24" fmla="*/ 3 w 30"/>
                <a:gd name="T25" fmla="*/ 41 h 114"/>
                <a:gd name="T26" fmla="*/ 5 w 30"/>
                <a:gd name="T27" fmla="*/ 21 h 114"/>
                <a:gd name="T28" fmla="*/ 11 w 30"/>
                <a:gd name="T29" fmla="*/ 9 h 114"/>
                <a:gd name="T30" fmla="*/ 15 w 30"/>
                <a:gd name="T31" fmla="*/ 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114">
                  <a:moveTo>
                    <a:pt x="15" y="1"/>
                  </a:moveTo>
                  <a:cubicBezTo>
                    <a:pt x="15" y="0"/>
                    <a:pt x="17" y="10"/>
                    <a:pt x="19" y="11"/>
                  </a:cubicBezTo>
                  <a:cubicBezTo>
                    <a:pt x="26" y="14"/>
                    <a:pt x="20" y="20"/>
                    <a:pt x="26" y="26"/>
                  </a:cubicBezTo>
                  <a:cubicBezTo>
                    <a:pt x="30" y="31"/>
                    <a:pt x="23" y="42"/>
                    <a:pt x="26" y="47"/>
                  </a:cubicBezTo>
                  <a:cubicBezTo>
                    <a:pt x="29" y="52"/>
                    <a:pt x="27" y="60"/>
                    <a:pt x="22" y="68"/>
                  </a:cubicBezTo>
                  <a:cubicBezTo>
                    <a:pt x="19" y="72"/>
                    <a:pt x="23" y="77"/>
                    <a:pt x="15" y="84"/>
                  </a:cubicBezTo>
                  <a:cubicBezTo>
                    <a:pt x="12" y="86"/>
                    <a:pt x="10" y="94"/>
                    <a:pt x="8" y="101"/>
                  </a:cubicBezTo>
                  <a:cubicBezTo>
                    <a:pt x="8" y="101"/>
                    <a:pt x="7" y="107"/>
                    <a:pt x="5" y="114"/>
                  </a:cubicBezTo>
                  <a:cubicBezTo>
                    <a:pt x="4" y="108"/>
                    <a:pt x="4" y="108"/>
                    <a:pt x="4" y="108"/>
                  </a:cubicBezTo>
                  <a:cubicBezTo>
                    <a:pt x="6" y="100"/>
                    <a:pt x="6" y="100"/>
                    <a:pt x="6" y="100"/>
                  </a:cubicBezTo>
                  <a:cubicBezTo>
                    <a:pt x="8" y="93"/>
                    <a:pt x="8" y="85"/>
                    <a:pt x="6" y="80"/>
                  </a:cubicBezTo>
                  <a:cubicBezTo>
                    <a:pt x="0" y="69"/>
                    <a:pt x="6" y="68"/>
                    <a:pt x="4" y="62"/>
                  </a:cubicBezTo>
                  <a:cubicBezTo>
                    <a:pt x="0" y="52"/>
                    <a:pt x="0" y="44"/>
                    <a:pt x="3" y="41"/>
                  </a:cubicBezTo>
                  <a:cubicBezTo>
                    <a:pt x="6" y="37"/>
                    <a:pt x="1" y="24"/>
                    <a:pt x="5" y="21"/>
                  </a:cubicBezTo>
                  <a:cubicBezTo>
                    <a:pt x="11" y="18"/>
                    <a:pt x="5" y="10"/>
                    <a:pt x="11" y="9"/>
                  </a:cubicBezTo>
                  <a:cubicBezTo>
                    <a:pt x="14" y="9"/>
                    <a:pt x="15" y="1"/>
                    <a:pt x="1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47" name="Freeform 2359"/>
            <p:cNvSpPr/>
            <p:nvPr/>
          </p:nvSpPr>
          <p:spPr bwMode="auto">
            <a:xfrm>
              <a:off x="4602163" y="1976438"/>
              <a:ext cx="53975" cy="84138"/>
            </a:xfrm>
            <a:custGeom>
              <a:avLst/>
              <a:gdLst>
                <a:gd name="T0" fmla="*/ 1 w 57"/>
                <a:gd name="T1" fmla="*/ 0 h 90"/>
                <a:gd name="T2" fmla="*/ 4 w 57"/>
                <a:gd name="T3" fmla="*/ 9 h 90"/>
                <a:gd name="T4" fmla="*/ 7 w 57"/>
                <a:gd name="T5" fmla="*/ 23 h 90"/>
                <a:gd name="T6" fmla="*/ 16 w 57"/>
                <a:gd name="T7" fmla="*/ 39 h 90"/>
                <a:gd name="T8" fmla="*/ 29 w 57"/>
                <a:gd name="T9" fmla="*/ 53 h 90"/>
                <a:gd name="T10" fmla="*/ 40 w 57"/>
                <a:gd name="T11" fmla="*/ 64 h 90"/>
                <a:gd name="T12" fmla="*/ 51 w 57"/>
                <a:gd name="T13" fmla="*/ 78 h 90"/>
                <a:gd name="T14" fmla="*/ 57 w 57"/>
                <a:gd name="T15" fmla="*/ 90 h 90"/>
                <a:gd name="T16" fmla="*/ 56 w 57"/>
                <a:gd name="T17" fmla="*/ 84 h 90"/>
                <a:gd name="T18" fmla="*/ 53 w 57"/>
                <a:gd name="T19" fmla="*/ 77 h 90"/>
                <a:gd name="T20" fmla="*/ 48 w 57"/>
                <a:gd name="T21" fmla="*/ 58 h 90"/>
                <a:gd name="T22" fmla="*/ 43 w 57"/>
                <a:gd name="T23" fmla="*/ 41 h 90"/>
                <a:gd name="T24" fmla="*/ 34 w 57"/>
                <a:gd name="T25" fmla="*/ 23 h 90"/>
                <a:gd name="T26" fmla="*/ 21 w 57"/>
                <a:gd name="T27" fmla="*/ 9 h 90"/>
                <a:gd name="T28" fmla="*/ 9 w 57"/>
                <a:gd name="T29" fmla="*/ 4 h 90"/>
                <a:gd name="T30" fmla="*/ 1 w 57"/>
                <a:gd name="T31"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90">
                  <a:moveTo>
                    <a:pt x="1" y="0"/>
                  </a:moveTo>
                  <a:cubicBezTo>
                    <a:pt x="1" y="0"/>
                    <a:pt x="5" y="7"/>
                    <a:pt x="4" y="9"/>
                  </a:cubicBezTo>
                  <a:cubicBezTo>
                    <a:pt x="0" y="15"/>
                    <a:pt x="8" y="16"/>
                    <a:pt x="7" y="23"/>
                  </a:cubicBezTo>
                  <a:cubicBezTo>
                    <a:pt x="5" y="29"/>
                    <a:pt x="16" y="33"/>
                    <a:pt x="16" y="39"/>
                  </a:cubicBezTo>
                  <a:cubicBezTo>
                    <a:pt x="16" y="44"/>
                    <a:pt x="20" y="49"/>
                    <a:pt x="29" y="53"/>
                  </a:cubicBezTo>
                  <a:cubicBezTo>
                    <a:pt x="33" y="55"/>
                    <a:pt x="30" y="61"/>
                    <a:pt x="40" y="64"/>
                  </a:cubicBezTo>
                  <a:cubicBezTo>
                    <a:pt x="44" y="65"/>
                    <a:pt x="48" y="72"/>
                    <a:pt x="51" y="78"/>
                  </a:cubicBezTo>
                  <a:cubicBezTo>
                    <a:pt x="52" y="78"/>
                    <a:pt x="54" y="84"/>
                    <a:pt x="57" y="90"/>
                  </a:cubicBezTo>
                  <a:cubicBezTo>
                    <a:pt x="56" y="84"/>
                    <a:pt x="56" y="84"/>
                    <a:pt x="56" y="84"/>
                  </a:cubicBezTo>
                  <a:cubicBezTo>
                    <a:pt x="53" y="77"/>
                    <a:pt x="53" y="77"/>
                    <a:pt x="53" y="77"/>
                  </a:cubicBezTo>
                  <a:cubicBezTo>
                    <a:pt x="50" y="71"/>
                    <a:pt x="47" y="63"/>
                    <a:pt x="48" y="58"/>
                  </a:cubicBezTo>
                  <a:cubicBezTo>
                    <a:pt x="49" y="46"/>
                    <a:pt x="43" y="47"/>
                    <a:pt x="43" y="41"/>
                  </a:cubicBezTo>
                  <a:cubicBezTo>
                    <a:pt x="42" y="30"/>
                    <a:pt x="38" y="24"/>
                    <a:pt x="34" y="23"/>
                  </a:cubicBezTo>
                  <a:cubicBezTo>
                    <a:pt x="29" y="22"/>
                    <a:pt x="26" y="8"/>
                    <a:pt x="21" y="9"/>
                  </a:cubicBezTo>
                  <a:cubicBezTo>
                    <a:pt x="15" y="9"/>
                    <a:pt x="15" y="0"/>
                    <a:pt x="9" y="4"/>
                  </a:cubicBezTo>
                  <a:cubicBezTo>
                    <a:pt x="7" y="5"/>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48" name="Freeform 2360"/>
            <p:cNvSpPr/>
            <p:nvPr/>
          </p:nvSpPr>
          <p:spPr bwMode="auto">
            <a:xfrm>
              <a:off x="4652963" y="2022476"/>
              <a:ext cx="38100" cy="101600"/>
            </a:xfrm>
            <a:custGeom>
              <a:avLst/>
              <a:gdLst>
                <a:gd name="T0" fmla="*/ 33 w 42"/>
                <a:gd name="T1" fmla="*/ 0 h 108"/>
                <a:gd name="T2" fmla="*/ 36 w 42"/>
                <a:gd name="T3" fmla="*/ 11 h 108"/>
                <a:gd name="T4" fmla="*/ 39 w 42"/>
                <a:gd name="T5" fmla="*/ 28 h 108"/>
                <a:gd name="T6" fmla="*/ 36 w 42"/>
                <a:gd name="T7" fmla="*/ 49 h 108"/>
                <a:gd name="T8" fmla="*/ 27 w 42"/>
                <a:gd name="T9" fmla="*/ 68 h 108"/>
                <a:gd name="T10" fmla="*/ 17 w 42"/>
                <a:gd name="T11" fmla="*/ 82 h 108"/>
                <a:gd name="T12" fmla="*/ 6 w 42"/>
                <a:gd name="T13" fmla="*/ 96 h 108"/>
                <a:gd name="T14" fmla="*/ 0 w 42"/>
                <a:gd name="T15" fmla="*/ 108 h 108"/>
                <a:gd name="T16" fmla="*/ 1 w 42"/>
                <a:gd name="T17" fmla="*/ 102 h 108"/>
                <a:gd name="T18" fmla="*/ 5 w 42"/>
                <a:gd name="T19" fmla="*/ 96 h 108"/>
                <a:gd name="T20" fmla="*/ 9 w 42"/>
                <a:gd name="T21" fmla="*/ 76 h 108"/>
                <a:gd name="T22" fmla="*/ 11 w 42"/>
                <a:gd name="T23" fmla="*/ 59 h 108"/>
                <a:gd name="T24" fmla="*/ 15 w 42"/>
                <a:gd name="T25" fmla="*/ 38 h 108"/>
                <a:gd name="T26" fmla="*/ 20 w 42"/>
                <a:gd name="T27" fmla="*/ 19 h 108"/>
                <a:gd name="T28" fmla="*/ 28 w 42"/>
                <a:gd name="T29" fmla="*/ 8 h 108"/>
                <a:gd name="T30" fmla="*/ 33 w 42"/>
                <a:gd name="T31"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108">
                  <a:moveTo>
                    <a:pt x="33" y="0"/>
                  </a:moveTo>
                  <a:cubicBezTo>
                    <a:pt x="33" y="0"/>
                    <a:pt x="34" y="10"/>
                    <a:pt x="36" y="11"/>
                  </a:cubicBezTo>
                  <a:cubicBezTo>
                    <a:pt x="42" y="15"/>
                    <a:pt x="35" y="20"/>
                    <a:pt x="39" y="28"/>
                  </a:cubicBezTo>
                  <a:cubicBezTo>
                    <a:pt x="42" y="33"/>
                    <a:pt x="34" y="43"/>
                    <a:pt x="36" y="49"/>
                  </a:cubicBezTo>
                  <a:cubicBezTo>
                    <a:pt x="37" y="54"/>
                    <a:pt x="34" y="62"/>
                    <a:pt x="27" y="68"/>
                  </a:cubicBezTo>
                  <a:cubicBezTo>
                    <a:pt x="23" y="71"/>
                    <a:pt x="27" y="78"/>
                    <a:pt x="17" y="82"/>
                  </a:cubicBezTo>
                  <a:cubicBezTo>
                    <a:pt x="13" y="83"/>
                    <a:pt x="10" y="90"/>
                    <a:pt x="6" y="96"/>
                  </a:cubicBezTo>
                  <a:cubicBezTo>
                    <a:pt x="6" y="97"/>
                    <a:pt x="3" y="102"/>
                    <a:pt x="0" y="108"/>
                  </a:cubicBezTo>
                  <a:cubicBezTo>
                    <a:pt x="0" y="106"/>
                    <a:pt x="1" y="104"/>
                    <a:pt x="1" y="102"/>
                  </a:cubicBezTo>
                  <a:cubicBezTo>
                    <a:pt x="3" y="98"/>
                    <a:pt x="4" y="96"/>
                    <a:pt x="5" y="96"/>
                  </a:cubicBezTo>
                  <a:cubicBezTo>
                    <a:pt x="8" y="89"/>
                    <a:pt x="11" y="81"/>
                    <a:pt x="9" y="76"/>
                  </a:cubicBezTo>
                  <a:cubicBezTo>
                    <a:pt x="7" y="65"/>
                    <a:pt x="12" y="64"/>
                    <a:pt x="11" y="59"/>
                  </a:cubicBezTo>
                  <a:cubicBezTo>
                    <a:pt x="10" y="48"/>
                    <a:pt x="11" y="40"/>
                    <a:pt x="15" y="38"/>
                  </a:cubicBezTo>
                  <a:cubicBezTo>
                    <a:pt x="19" y="35"/>
                    <a:pt x="16" y="21"/>
                    <a:pt x="20" y="19"/>
                  </a:cubicBezTo>
                  <a:cubicBezTo>
                    <a:pt x="26" y="17"/>
                    <a:pt x="22" y="7"/>
                    <a:pt x="28" y="8"/>
                  </a:cubicBezTo>
                  <a:cubicBezTo>
                    <a:pt x="31" y="8"/>
                    <a:pt x="33" y="0"/>
                    <a:pt x="3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49" name="Freeform 2361"/>
            <p:cNvSpPr/>
            <p:nvPr/>
          </p:nvSpPr>
          <p:spPr bwMode="auto">
            <a:xfrm>
              <a:off x="4616451" y="2035176"/>
              <a:ext cx="38100" cy="88900"/>
            </a:xfrm>
            <a:custGeom>
              <a:avLst/>
              <a:gdLst>
                <a:gd name="T0" fmla="*/ 4 w 41"/>
                <a:gd name="T1" fmla="*/ 0 h 96"/>
                <a:gd name="T2" fmla="*/ 5 w 41"/>
                <a:gd name="T3" fmla="*/ 9 h 96"/>
                <a:gd name="T4" fmla="*/ 5 w 41"/>
                <a:gd name="T5" fmla="*/ 23 h 96"/>
                <a:gd name="T6" fmla="*/ 11 w 41"/>
                <a:gd name="T7" fmla="*/ 39 h 96"/>
                <a:gd name="T8" fmla="*/ 20 w 41"/>
                <a:gd name="T9" fmla="*/ 55 h 96"/>
                <a:gd name="T10" fmla="*/ 29 w 41"/>
                <a:gd name="T11" fmla="*/ 68 h 96"/>
                <a:gd name="T12" fmla="*/ 36 w 41"/>
                <a:gd name="T13" fmla="*/ 83 h 96"/>
                <a:gd name="T14" fmla="*/ 38 w 41"/>
                <a:gd name="T15" fmla="*/ 96 h 96"/>
                <a:gd name="T16" fmla="*/ 39 w 41"/>
                <a:gd name="T17" fmla="*/ 90 h 96"/>
                <a:gd name="T18" fmla="*/ 38 w 41"/>
                <a:gd name="T19" fmla="*/ 83 h 96"/>
                <a:gd name="T20" fmla="*/ 37 w 41"/>
                <a:gd name="T21" fmla="*/ 64 h 96"/>
                <a:gd name="T22" fmla="*/ 36 w 41"/>
                <a:gd name="T23" fmla="*/ 47 h 96"/>
                <a:gd name="T24" fmla="*/ 31 w 41"/>
                <a:gd name="T25" fmla="*/ 27 h 96"/>
                <a:gd name="T26" fmla="*/ 22 w 41"/>
                <a:gd name="T27" fmla="*/ 12 h 96"/>
                <a:gd name="T28" fmla="*/ 11 w 41"/>
                <a:gd name="T29" fmla="*/ 5 h 96"/>
                <a:gd name="T30" fmla="*/ 4 w 41"/>
                <a:gd name="T31"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1" h="96">
                  <a:moveTo>
                    <a:pt x="4" y="0"/>
                  </a:moveTo>
                  <a:cubicBezTo>
                    <a:pt x="4" y="0"/>
                    <a:pt x="7" y="8"/>
                    <a:pt x="5" y="9"/>
                  </a:cubicBezTo>
                  <a:cubicBezTo>
                    <a:pt x="0" y="14"/>
                    <a:pt x="8" y="16"/>
                    <a:pt x="5" y="23"/>
                  </a:cubicBezTo>
                  <a:cubicBezTo>
                    <a:pt x="3" y="28"/>
                    <a:pt x="13" y="34"/>
                    <a:pt x="11" y="39"/>
                  </a:cubicBezTo>
                  <a:cubicBezTo>
                    <a:pt x="10" y="44"/>
                    <a:pt x="13" y="49"/>
                    <a:pt x="20" y="55"/>
                  </a:cubicBezTo>
                  <a:cubicBezTo>
                    <a:pt x="24" y="58"/>
                    <a:pt x="20" y="63"/>
                    <a:pt x="29" y="68"/>
                  </a:cubicBezTo>
                  <a:cubicBezTo>
                    <a:pt x="32" y="70"/>
                    <a:pt x="35" y="76"/>
                    <a:pt x="36" y="83"/>
                  </a:cubicBezTo>
                  <a:cubicBezTo>
                    <a:pt x="36" y="84"/>
                    <a:pt x="37" y="89"/>
                    <a:pt x="38" y="96"/>
                  </a:cubicBezTo>
                  <a:cubicBezTo>
                    <a:pt x="38" y="94"/>
                    <a:pt x="39" y="92"/>
                    <a:pt x="39" y="90"/>
                  </a:cubicBezTo>
                  <a:cubicBezTo>
                    <a:pt x="39" y="86"/>
                    <a:pt x="38" y="83"/>
                    <a:pt x="38" y="83"/>
                  </a:cubicBezTo>
                  <a:cubicBezTo>
                    <a:pt x="37" y="76"/>
                    <a:pt x="35" y="68"/>
                    <a:pt x="37" y="64"/>
                  </a:cubicBezTo>
                  <a:cubicBezTo>
                    <a:pt x="41" y="53"/>
                    <a:pt x="35" y="52"/>
                    <a:pt x="36" y="47"/>
                  </a:cubicBezTo>
                  <a:cubicBezTo>
                    <a:pt x="37" y="36"/>
                    <a:pt x="35" y="29"/>
                    <a:pt x="31" y="27"/>
                  </a:cubicBezTo>
                  <a:cubicBezTo>
                    <a:pt x="27" y="26"/>
                    <a:pt x="27" y="12"/>
                    <a:pt x="22" y="12"/>
                  </a:cubicBezTo>
                  <a:cubicBezTo>
                    <a:pt x="15" y="11"/>
                    <a:pt x="17" y="2"/>
                    <a:pt x="11" y="5"/>
                  </a:cubicBezTo>
                  <a:cubicBezTo>
                    <a:pt x="9" y="6"/>
                    <a:pt x="4"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50" name="Freeform 2362"/>
            <p:cNvSpPr/>
            <p:nvPr/>
          </p:nvSpPr>
          <p:spPr bwMode="auto">
            <a:xfrm>
              <a:off x="4629151" y="2095501"/>
              <a:ext cx="61913" cy="87313"/>
            </a:xfrm>
            <a:custGeom>
              <a:avLst/>
              <a:gdLst>
                <a:gd name="T0" fmla="*/ 63 w 67"/>
                <a:gd name="T1" fmla="*/ 0 h 93"/>
                <a:gd name="T2" fmla="*/ 62 w 67"/>
                <a:gd name="T3" fmla="*/ 11 h 93"/>
                <a:gd name="T4" fmla="*/ 61 w 67"/>
                <a:gd name="T5" fmla="*/ 29 h 93"/>
                <a:gd name="T6" fmla="*/ 58 w 67"/>
                <a:gd name="T7" fmla="*/ 39 h 93"/>
                <a:gd name="T8" fmla="*/ 52 w 67"/>
                <a:gd name="T9" fmla="*/ 48 h 93"/>
                <a:gd name="T10" fmla="*/ 38 w 67"/>
                <a:gd name="T11" fmla="*/ 65 h 93"/>
                <a:gd name="T12" fmla="*/ 25 w 67"/>
                <a:gd name="T13" fmla="*/ 74 h 93"/>
                <a:gd name="T14" fmla="*/ 10 w 67"/>
                <a:gd name="T15" fmla="*/ 84 h 93"/>
                <a:gd name="T16" fmla="*/ 0 w 67"/>
                <a:gd name="T17" fmla="*/ 93 h 93"/>
                <a:gd name="T18" fmla="*/ 3 w 67"/>
                <a:gd name="T19" fmla="*/ 88 h 93"/>
                <a:gd name="T20" fmla="*/ 9 w 67"/>
                <a:gd name="T21" fmla="*/ 83 h 93"/>
                <a:gd name="T22" fmla="*/ 19 w 67"/>
                <a:gd name="T23" fmla="*/ 67 h 93"/>
                <a:gd name="T24" fmla="*/ 26 w 67"/>
                <a:gd name="T25" fmla="*/ 51 h 93"/>
                <a:gd name="T26" fmla="*/ 36 w 67"/>
                <a:gd name="T27" fmla="*/ 32 h 93"/>
                <a:gd name="T28" fmla="*/ 41 w 67"/>
                <a:gd name="T29" fmla="*/ 23 h 93"/>
                <a:gd name="T30" fmla="*/ 46 w 67"/>
                <a:gd name="T31" fmla="*/ 15 h 93"/>
                <a:gd name="T32" fmla="*/ 56 w 67"/>
                <a:gd name="T33" fmla="*/ 7 h 93"/>
                <a:gd name="T34" fmla="*/ 63 w 67"/>
                <a:gd name="T35"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 h="93">
                  <a:moveTo>
                    <a:pt x="63" y="0"/>
                  </a:moveTo>
                  <a:cubicBezTo>
                    <a:pt x="63" y="0"/>
                    <a:pt x="61" y="9"/>
                    <a:pt x="62" y="11"/>
                  </a:cubicBezTo>
                  <a:cubicBezTo>
                    <a:pt x="67" y="17"/>
                    <a:pt x="59" y="20"/>
                    <a:pt x="61" y="29"/>
                  </a:cubicBezTo>
                  <a:cubicBezTo>
                    <a:pt x="62" y="32"/>
                    <a:pt x="60" y="35"/>
                    <a:pt x="58" y="39"/>
                  </a:cubicBezTo>
                  <a:cubicBezTo>
                    <a:pt x="55" y="42"/>
                    <a:pt x="52" y="45"/>
                    <a:pt x="52" y="48"/>
                  </a:cubicBezTo>
                  <a:cubicBezTo>
                    <a:pt x="52" y="54"/>
                    <a:pt x="47" y="61"/>
                    <a:pt x="38" y="65"/>
                  </a:cubicBezTo>
                  <a:cubicBezTo>
                    <a:pt x="34" y="66"/>
                    <a:pt x="35" y="73"/>
                    <a:pt x="25" y="74"/>
                  </a:cubicBezTo>
                  <a:cubicBezTo>
                    <a:pt x="21" y="75"/>
                    <a:pt x="15" y="80"/>
                    <a:pt x="10" y="84"/>
                  </a:cubicBezTo>
                  <a:cubicBezTo>
                    <a:pt x="10" y="85"/>
                    <a:pt x="5" y="89"/>
                    <a:pt x="0" y="93"/>
                  </a:cubicBezTo>
                  <a:cubicBezTo>
                    <a:pt x="1" y="91"/>
                    <a:pt x="2" y="90"/>
                    <a:pt x="3" y="88"/>
                  </a:cubicBezTo>
                  <a:cubicBezTo>
                    <a:pt x="6" y="85"/>
                    <a:pt x="8" y="83"/>
                    <a:pt x="9" y="83"/>
                  </a:cubicBezTo>
                  <a:cubicBezTo>
                    <a:pt x="14" y="78"/>
                    <a:pt x="19" y="72"/>
                    <a:pt x="19" y="67"/>
                  </a:cubicBezTo>
                  <a:cubicBezTo>
                    <a:pt x="20" y="55"/>
                    <a:pt x="25" y="56"/>
                    <a:pt x="26" y="51"/>
                  </a:cubicBezTo>
                  <a:cubicBezTo>
                    <a:pt x="29" y="40"/>
                    <a:pt x="31" y="33"/>
                    <a:pt x="36" y="32"/>
                  </a:cubicBezTo>
                  <a:cubicBezTo>
                    <a:pt x="38" y="31"/>
                    <a:pt x="39" y="27"/>
                    <a:pt x="41" y="23"/>
                  </a:cubicBezTo>
                  <a:cubicBezTo>
                    <a:pt x="42" y="19"/>
                    <a:pt x="43" y="16"/>
                    <a:pt x="46" y="15"/>
                  </a:cubicBezTo>
                  <a:cubicBezTo>
                    <a:pt x="52" y="15"/>
                    <a:pt x="50" y="4"/>
                    <a:pt x="56" y="7"/>
                  </a:cubicBezTo>
                  <a:cubicBezTo>
                    <a:pt x="58" y="8"/>
                    <a:pt x="63" y="0"/>
                    <a:pt x="6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51" name="Freeform 2363"/>
            <p:cNvSpPr/>
            <p:nvPr/>
          </p:nvSpPr>
          <p:spPr bwMode="auto">
            <a:xfrm>
              <a:off x="4618038" y="2090738"/>
              <a:ext cx="28575" cy="92075"/>
            </a:xfrm>
            <a:custGeom>
              <a:avLst/>
              <a:gdLst>
                <a:gd name="T0" fmla="*/ 7 w 29"/>
                <a:gd name="T1" fmla="*/ 0 h 97"/>
                <a:gd name="T2" fmla="*/ 6 w 29"/>
                <a:gd name="T3" fmla="*/ 9 h 97"/>
                <a:gd name="T4" fmla="*/ 3 w 29"/>
                <a:gd name="T5" fmla="*/ 21 h 97"/>
                <a:gd name="T6" fmla="*/ 3 w 29"/>
                <a:gd name="T7" fmla="*/ 29 h 97"/>
                <a:gd name="T8" fmla="*/ 4 w 29"/>
                <a:gd name="T9" fmla="*/ 37 h 97"/>
                <a:gd name="T10" fmla="*/ 8 w 29"/>
                <a:gd name="T11" fmla="*/ 54 h 97"/>
                <a:gd name="T12" fmla="*/ 12 w 29"/>
                <a:gd name="T13" fmla="*/ 68 h 97"/>
                <a:gd name="T14" fmla="*/ 14 w 29"/>
                <a:gd name="T15" fmla="*/ 85 h 97"/>
                <a:gd name="T16" fmla="*/ 11 w 29"/>
                <a:gd name="T17" fmla="*/ 97 h 97"/>
                <a:gd name="T18" fmla="*/ 14 w 29"/>
                <a:gd name="T19" fmla="*/ 92 h 97"/>
                <a:gd name="T20" fmla="*/ 15 w 29"/>
                <a:gd name="T21" fmla="*/ 85 h 97"/>
                <a:gd name="T22" fmla="*/ 21 w 29"/>
                <a:gd name="T23" fmla="*/ 67 h 97"/>
                <a:gd name="T24" fmla="*/ 25 w 29"/>
                <a:gd name="T25" fmla="*/ 51 h 97"/>
                <a:gd name="T26" fmla="*/ 26 w 29"/>
                <a:gd name="T27" fmla="*/ 32 h 97"/>
                <a:gd name="T28" fmla="*/ 24 w 29"/>
                <a:gd name="T29" fmla="*/ 23 h 97"/>
                <a:gd name="T30" fmla="*/ 21 w 29"/>
                <a:gd name="T31" fmla="*/ 15 h 97"/>
                <a:gd name="T32" fmla="*/ 13 w 29"/>
                <a:gd name="T33" fmla="*/ 6 h 97"/>
                <a:gd name="T34" fmla="*/ 7 w 29"/>
                <a:gd name="T35"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 h="97">
                  <a:moveTo>
                    <a:pt x="7" y="0"/>
                  </a:moveTo>
                  <a:cubicBezTo>
                    <a:pt x="7" y="0"/>
                    <a:pt x="8" y="7"/>
                    <a:pt x="6" y="9"/>
                  </a:cubicBezTo>
                  <a:cubicBezTo>
                    <a:pt x="0" y="12"/>
                    <a:pt x="7" y="16"/>
                    <a:pt x="3" y="21"/>
                  </a:cubicBezTo>
                  <a:cubicBezTo>
                    <a:pt x="1" y="23"/>
                    <a:pt x="2" y="26"/>
                    <a:pt x="3" y="29"/>
                  </a:cubicBezTo>
                  <a:cubicBezTo>
                    <a:pt x="4" y="32"/>
                    <a:pt x="5" y="35"/>
                    <a:pt x="4" y="37"/>
                  </a:cubicBezTo>
                  <a:cubicBezTo>
                    <a:pt x="2" y="40"/>
                    <a:pt x="3" y="46"/>
                    <a:pt x="8" y="54"/>
                  </a:cubicBezTo>
                  <a:cubicBezTo>
                    <a:pt x="10" y="57"/>
                    <a:pt x="5" y="61"/>
                    <a:pt x="12" y="68"/>
                  </a:cubicBezTo>
                  <a:cubicBezTo>
                    <a:pt x="14" y="71"/>
                    <a:pt x="15" y="78"/>
                    <a:pt x="14" y="85"/>
                  </a:cubicBezTo>
                  <a:cubicBezTo>
                    <a:pt x="13" y="85"/>
                    <a:pt x="13" y="91"/>
                    <a:pt x="11" y="97"/>
                  </a:cubicBezTo>
                  <a:cubicBezTo>
                    <a:pt x="12" y="95"/>
                    <a:pt x="13" y="94"/>
                    <a:pt x="14" y="92"/>
                  </a:cubicBezTo>
                  <a:cubicBezTo>
                    <a:pt x="15" y="88"/>
                    <a:pt x="15" y="85"/>
                    <a:pt x="15" y="85"/>
                  </a:cubicBezTo>
                  <a:cubicBezTo>
                    <a:pt x="17" y="78"/>
                    <a:pt x="18" y="71"/>
                    <a:pt x="21" y="67"/>
                  </a:cubicBezTo>
                  <a:cubicBezTo>
                    <a:pt x="28" y="58"/>
                    <a:pt x="23" y="56"/>
                    <a:pt x="25" y="51"/>
                  </a:cubicBezTo>
                  <a:cubicBezTo>
                    <a:pt x="29" y="41"/>
                    <a:pt x="29" y="34"/>
                    <a:pt x="26" y="32"/>
                  </a:cubicBezTo>
                  <a:cubicBezTo>
                    <a:pt x="24" y="30"/>
                    <a:pt x="24" y="26"/>
                    <a:pt x="24" y="23"/>
                  </a:cubicBezTo>
                  <a:cubicBezTo>
                    <a:pt x="24" y="19"/>
                    <a:pt x="24" y="16"/>
                    <a:pt x="21" y="15"/>
                  </a:cubicBezTo>
                  <a:cubicBezTo>
                    <a:pt x="15" y="13"/>
                    <a:pt x="19" y="5"/>
                    <a:pt x="13" y="6"/>
                  </a:cubicBezTo>
                  <a:cubicBezTo>
                    <a:pt x="10" y="6"/>
                    <a:pt x="7"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52" name="Freeform 2364"/>
            <p:cNvSpPr/>
            <p:nvPr/>
          </p:nvSpPr>
          <p:spPr bwMode="auto">
            <a:xfrm>
              <a:off x="4589463" y="2166938"/>
              <a:ext cx="80963" cy="60325"/>
            </a:xfrm>
            <a:custGeom>
              <a:avLst/>
              <a:gdLst>
                <a:gd name="T0" fmla="*/ 88 w 88"/>
                <a:gd name="T1" fmla="*/ 0 h 66"/>
                <a:gd name="T2" fmla="*/ 84 w 88"/>
                <a:gd name="T3" fmla="*/ 11 h 66"/>
                <a:gd name="T4" fmla="*/ 78 w 88"/>
                <a:gd name="T5" fmla="*/ 27 h 66"/>
                <a:gd name="T6" fmla="*/ 71 w 88"/>
                <a:gd name="T7" fmla="*/ 35 h 66"/>
                <a:gd name="T8" fmla="*/ 63 w 88"/>
                <a:gd name="T9" fmla="*/ 42 h 66"/>
                <a:gd name="T10" fmla="*/ 44 w 88"/>
                <a:gd name="T11" fmla="*/ 52 h 66"/>
                <a:gd name="T12" fmla="*/ 29 w 88"/>
                <a:gd name="T13" fmla="*/ 57 h 66"/>
                <a:gd name="T14" fmla="*/ 12 w 88"/>
                <a:gd name="T15" fmla="*/ 61 h 66"/>
                <a:gd name="T16" fmla="*/ 0 w 88"/>
                <a:gd name="T17" fmla="*/ 66 h 66"/>
                <a:gd name="T18" fmla="*/ 5 w 88"/>
                <a:gd name="T19" fmla="*/ 62 h 66"/>
                <a:gd name="T20" fmla="*/ 11 w 88"/>
                <a:gd name="T21" fmla="*/ 60 h 66"/>
                <a:gd name="T22" fmla="*/ 26 w 88"/>
                <a:gd name="T23" fmla="*/ 48 h 66"/>
                <a:gd name="T24" fmla="*/ 38 w 88"/>
                <a:gd name="T25" fmla="*/ 36 h 66"/>
                <a:gd name="T26" fmla="*/ 53 w 88"/>
                <a:gd name="T27" fmla="*/ 21 h 66"/>
                <a:gd name="T28" fmla="*/ 60 w 88"/>
                <a:gd name="T29" fmla="*/ 15 h 66"/>
                <a:gd name="T30" fmla="*/ 67 w 88"/>
                <a:gd name="T31" fmla="*/ 9 h 66"/>
                <a:gd name="T32" fmla="*/ 80 w 88"/>
                <a:gd name="T33" fmla="*/ 5 h 66"/>
                <a:gd name="T34" fmla="*/ 88 w 88"/>
                <a:gd name="T35"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8" h="66">
                  <a:moveTo>
                    <a:pt x="88" y="0"/>
                  </a:moveTo>
                  <a:cubicBezTo>
                    <a:pt x="88" y="0"/>
                    <a:pt x="83" y="9"/>
                    <a:pt x="84" y="11"/>
                  </a:cubicBezTo>
                  <a:cubicBezTo>
                    <a:pt x="87" y="18"/>
                    <a:pt x="78" y="19"/>
                    <a:pt x="78" y="27"/>
                  </a:cubicBezTo>
                  <a:cubicBezTo>
                    <a:pt x="77" y="30"/>
                    <a:pt x="74" y="33"/>
                    <a:pt x="71" y="35"/>
                  </a:cubicBezTo>
                  <a:cubicBezTo>
                    <a:pt x="67" y="37"/>
                    <a:pt x="64" y="39"/>
                    <a:pt x="63" y="42"/>
                  </a:cubicBezTo>
                  <a:cubicBezTo>
                    <a:pt x="61" y="48"/>
                    <a:pt x="54" y="52"/>
                    <a:pt x="44" y="52"/>
                  </a:cubicBezTo>
                  <a:cubicBezTo>
                    <a:pt x="40" y="52"/>
                    <a:pt x="38" y="59"/>
                    <a:pt x="29" y="57"/>
                  </a:cubicBezTo>
                  <a:cubicBezTo>
                    <a:pt x="25" y="56"/>
                    <a:pt x="18" y="59"/>
                    <a:pt x="12" y="61"/>
                  </a:cubicBezTo>
                  <a:cubicBezTo>
                    <a:pt x="11" y="62"/>
                    <a:pt x="6" y="64"/>
                    <a:pt x="0" y="66"/>
                  </a:cubicBezTo>
                  <a:cubicBezTo>
                    <a:pt x="5" y="62"/>
                    <a:pt x="5" y="62"/>
                    <a:pt x="5" y="62"/>
                  </a:cubicBezTo>
                  <a:cubicBezTo>
                    <a:pt x="8" y="61"/>
                    <a:pt x="11" y="60"/>
                    <a:pt x="11" y="60"/>
                  </a:cubicBezTo>
                  <a:cubicBezTo>
                    <a:pt x="17" y="57"/>
                    <a:pt x="24" y="53"/>
                    <a:pt x="26" y="48"/>
                  </a:cubicBezTo>
                  <a:cubicBezTo>
                    <a:pt x="31" y="38"/>
                    <a:pt x="35" y="40"/>
                    <a:pt x="38" y="36"/>
                  </a:cubicBezTo>
                  <a:cubicBezTo>
                    <a:pt x="43" y="26"/>
                    <a:pt x="48" y="21"/>
                    <a:pt x="53" y="21"/>
                  </a:cubicBezTo>
                  <a:cubicBezTo>
                    <a:pt x="55" y="21"/>
                    <a:pt x="58" y="18"/>
                    <a:pt x="60" y="15"/>
                  </a:cubicBezTo>
                  <a:cubicBezTo>
                    <a:pt x="63" y="12"/>
                    <a:pt x="65" y="9"/>
                    <a:pt x="67" y="9"/>
                  </a:cubicBezTo>
                  <a:cubicBezTo>
                    <a:pt x="74" y="11"/>
                    <a:pt x="75" y="0"/>
                    <a:pt x="80" y="5"/>
                  </a:cubicBezTo>
                  <a:cubicBezTo>
                    <a:pt x="82" y="6"/>
                    <a:pt x="88" y="0"/>
                    <a:pt x="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53" name="Freeform 2365"/>
            <p:cNvSpPr/>
            <p:nvPr/>
          </p:nvSpPr>
          <p:spPr bwMode="auto">
            <a:xfrm>
              <a:off x="4589463" y="2143126"/>
              <a:ext cx="34925" cy="84138"/>
            </a:xfrm>
            <a:custGeom>
              <a:avLst/>
              <a:gdLst>
                <a:gd name="T0" fmla="*/ 27 w 38"/>
                <a:gd name="T1" fmla="*/ 0 h 90"/>
                <a:gd name="T2" fmla="*/ 24 w 38"/>
                <a:gd name="T3" fmla="*/ 7 h 90"/>
                <a:gd name="T4" fmla="*/ 17 w 38"/>
                <a:gd name="T5" fmla="*/ 17 h 90"/>
                <a:gd name="T6" fmla="*/ 15 w 38"/>
                <a:gd name="T7" fmla="*/ 24 h 90"/>
                <a:gd name="T8" fmla="*/ 13 w 38"/>
                <a:gd name="T9" fmla="*/ 32 h 90"/>
                <a:gd name="T10" fmla="*/ 11 w 38"/>
                <a:gd name="T11" fmla="*/ 49 h 90"/>
                <a:gd name="T12" fmla="*/ 10 w 38"/>
                <a:gd name="T13" fmla="*/ 63 h 90"/>
                <a:gd name="T14" fmla="*/ 6 w 38"/>
                <a:gd name="T15" fmla="*/ 79 h 90"/>
                <a:gd name="T16" fmla="*/ 0 w 38"/>
                <a:gd name="T17" fmla="*/ 90 h 90"/>
                <a:gd name="T18" fmla="*/ 5 w 38"/>
                <a:gd name="T19" fmla="*/ 86 h 90"/>
                <a:gd name="T20" fmla="*/ 8 w 38"/>
                <a:gd name="T21" fmla="*/ 80 h 90"/>
                <a:gd name="T22" fmla="*/ 18 w 38"/>
                <a:gd name="T23" fmla="*/ 66 h 90"/>
                <a:gd name="T24" fmla="*/ 28 w 38"/>
                <a:gd name="T25" fmla="*/ 52 h 90"/>
                <a:gd name="T26" fmla="*/ 35 w 38"/>
                <a:gd name="T27" fmla="*/ 34 h 90"/>
                <a:gd name="T28" fmla="*/ 36 w 38"/>
                <a:gd name="T29" fmla="*/ 26 h 90"/>
                <a:gd name="T30" fmla="*/ 36 w 38"/>
                <a:gd name="T31" fmla="*/ 18 h 90"/>
                <a:gd name="T32" fmla="*/ 31 w 38"/>
                <a:gd name="T33" fmla="*/ 7 h 90"/>
                <a:gd name="T34" fmla="*/ 27 w 38"/>
                <a:gd name="T3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8" h="90">
                  <a:moveTo>
                    <a:pt x="27" y="0"/>
                  </a:moveTo>
                  <a:cubicBezTo>
                    <a:pt x="28" y="0"/>
                    <a:pt x="26" y="6"/>
                    <a:pt x="24" y="7"/>
                  </a:cubicBezTo>
                  <a:cubicBezTo>
                    <a:pt x="18" y="8"/>
                    <a:pt x="23" y="14"/>
                    <a:pt x="17" y="17"/>
                  </a:cubicBezTo>
                  <a:cubicBezTo>
                    <a:pt x="15" y="18"/>
                    <a:pt x="15" y="21"/>
                    <a:pt x="15" y="24"/>
                  </a:cubicBezTo>
                  <a:cubicBezTo>
                    <a:pt x="15" y="27"/>
                    <a:pt x="15" y="30"/>
                    <a:pt x="13" y="32"/>
                  </a:cubicBezTo>
                  <a:cubicBezTo>
                    <a:pt x="10" y="34"/>
                    <a:pt x="9" y="40"/>
                    <a:pt x="11" y="49"/>
                  </a:cubicBezTo>
                  <a:cubicBezTo>
                    <a:pt x="12" y="53"/>
                    <a:pt x="6" y="55"/>
                    <a:pt x="10" y="63"/>
                  </a:cubicBezTo>
                  <a:cubicBezTo>
                    <a:pt x="11" y="67"/>
                    <a:pt x="9" y="74"/>
                    <a:pt x="6" y="79"/>
                  </a:cubicBezTo>
                  <a:cubicBezTo>
                    <a:pt x="6" y="80"/>
                    <a:pt x="3" y="85"/>
                    <a:pt x="0" y="90"/>
                  </a:cubicBezTo>
                  <a:cubicBezTo>
                    <a:pt x="5" y="86"/>
                    <a:pt x="5" y="86"/>
                    <a:pt x="5" y="86"/>
                  </a:cubicBezTo>
                  <a:cubicBezTo>
                    <a:pt x="6" y="83"/>
                    <a:pt x="8" y="81"/>
                    <a:pt x="8" y="80"/>
                  </a:cubicBezTo>
                  <a:cubicBezTo>
                    <a:pt x="11" y="74"/>
                    <a:pt x="15" y="68"/>
                    <a:pt x="18" y="66"/>
                  </a:cubicBezTo>
                  <a:cubicBezTo>
                    <a:pt x="28" y="60"/>
                    <a:pt x="24" y="56"/>
                    <a:pt x="28" y="52"/>
                  </a:cubicBezTo>
                  <a:cubicBezTo>
                    <a:pt x="35" y="45"/>
                    <a:pt x="37" y="38"/>
                    <a:pt x="35" y="34"/>
                  </a:cubicBezTo>
                  <a:cubicBezTo>
                    <a:pt x="34" y="33"/>
                    <a:pt x="35" y="29"/>
                    <a:pt x="36" y="26"/>
                  </a:cubicBezTo>
                  <a:cubicBezTo>
                    <a:pt x="37" y="22"/>
                    <a:pt x="38" y="19"/>
                    <a:pt x="36" y="18"/>
                  </a:cubicBezTo>
                  <a:cubicBezTo>
                    <a:pt x="31" y="14"/>
                    <a:pt x="37" y="8"/>
                    <a:pt x="31" y="7"/>
                  </a:cubicBezTo>
                  <a:cubicBezTo>
                    <a:pt x="29" y="6"/>
                    <a:pt x="28" y="0"/>
                    <a:pt x="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54" name="Freeform 2366"/>
            <p:cNvSpPr/>
            <p:nvPr/>
          </p:nvSpPr>
          <p:spPr bwMode="auto">
            <a:xfrm>
              <a:off x="4538663" y="2224088"/>
              <a:ext cx="93663" cy="39688"/>
            </a:xfrm>
            <a:custGeom>
              <a:avLst/>
              <a:gdLst>
                <a:gd name="T0" fmla="*/ 100 w 100"/>
                <a:gd name="T1" fmla="*/ 4 h 43"/>
                <a:gd name="T2" fmla="*/ 93 w 100"/>
                <a:gd name="T3" fmla="*/ 13 h 43"/>
                <a:gd name="T4" fmla="*/ 82 w 100"/>
                <a:gd name="T5" fmla="*/ 25 h 43"/>
                <a:gd name="T6" fmla="*/ 64 w 100"/>
                <a:gd name="T7" fmla="*/ 34 h 43"/>
                <a:gd name="T8" fmla="*/ 45 w 100"/>
                <a:gd name="T9" fmla="*/ 39 h 43"/>
                <a:gd name="T10" fmla="*/ 29 w 100"/>
                <a:gd name="T11" fmla="*/ 39 h 43"/>
                <a:gd name="T12" fmla="*/ 12 w 100"/>
                <a:gd name="T13" fmla="*/ 39 h 43"/>
                <a:gd name="T14" fmla="*/ 0 w 100"/>
                <a:gd name="T15" fmla="*/ 42 h 43"/>
                <a:gd name="T16" fmla="*/ 5 w 100"/>
                <a:gd name="T17" fmla="*/ 39 h 43"/>
                <a:gd name="T18" fmla="*/ 12 w 100"/>
                <a:gd name="T19" fmla="*/ 38 h 43"/>
                <a:gd name="T20" fmla="*/ 29 w 100"/>
                <a:gd name="T21" fmla="*/ 30 h 43"/>
                <a:gd name="T22" fmla="*/ 43 w 100"/>
                <a:gd name="T23" fmla="*/ 21 h 43"/>
                <a:gd name="T24" fmla="*/ 61 w 100"/>
                <a:gd name="T25" fmla="*/ 12 h 43"/>
                <a:gd name="T26" fmla="*/ 78 w 100"/>
                <a:gd name="T27" fmla="*/ 6 h 43"/>
                <a:gd name="T28" fmla="*/ 91 w 100"/>
                <a:gd name="T29" fmla="*/ 6 h 43"/>
                <a:gd name="T30" fmla="*/ 100 w 100"/>
                <a:gd name="T31" fmla="*/ 4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0" h="43">
                  <a:moveTo>
                    <a:pt x="100" y="4"/>
                  </a:moveTo>
                  <a:cubicBezTo>
                    <a:pt x="100" y="4"/>
                    <a:pt x="93" y="10"/>
                    <a:pt x="93" y="13"/>
                  </a:cubicBezTo>
                  <a:cubicBezTo>
                    <a:pt x="93" y="20"/>
                    <a:pt x="85" y="18"/>
                    <a:pt x="82" y="25"/>
                  </a:cubicBezTo>
                  <a:cubicBezTo>
                    <a:pt x="80" y="31"/>
                    <a:pt x="68" y="30"/>
                    <a:pt x="64" y="34"/>
                  </a:cubicBezTo>
                  <a:cubicBezTo>
                    <a:pt x="61" y="39"/>
                    <a:pt x="54" y="41"/>
                    <a:pt x="45" y="39"/>
                  </a:cubicBezTo>
                  <a:cubicBezTo>
                    <a:pt x="40" y="38"/>
                    <a:pt x="38" y="43"/>
                    <a:pt x="29" y="39"/>
                  </a:cubicBezTo>
                  <a:cubicBezTo>
                    <a:pt x="26" y="37"/>
                    <a:pt x="19" y="38"/>
                    <a:pt x="12" y="39"/>
                  </a:cubicBezTo>
                  <a:cubicBezTo>
                    <a:pt x="12" y="40"/>
                    <a:pt x="6" y="41"/>
                    <a:pt x="0" y="42"/>
                  </a:cubicBezTo>
                  <a:cubicBezTo>
                    <a:pt x="5" y="39"/>
                    <a:pt x="5" y="39"/>
                    <a:pt x="5" y="39"/>
                  </a:cubicBezTo>
                  <a:cubicBezTo>
                    <a:pt x="12" y="38"/>
                    <a:pt x="12" y="38"/>
                    <a:pt x="12" y="38"/>
                  </a:cubicBezTo>
                  <a:cubicBezTo>
                    <a:pt x="18" y="36"/>
                    <a:pt x="26" y="34"/>
                    <a:pt x="29" y="30"/>
                  </a:cubicBezTo>
                  <a:cubicBezTo>
                    <a:pt x="36" y="21"/>
                    <a:pt x="39" y="25"/>
                    <a:pt x="43" y="21"/>
                  </a:cubicBezTo>
                  <a:cubicBezTo>
                    <a:pt x="51" y="14"/>
                    <a:pt x="57" y="11"/>
                    <a:pt x="61" y="12"/>
                  </a:cubicBezTo>
                  <a:cubicBezTo>
                    <a:pt x="65" y="14"/>
                    <a:pt x="74" y="3"/>
                    <a:pt x="78" y="6"/>
                  </a:cubicBezTo>
                  <a:cubicBezTo>
                    <a:pt x="83" y="9"/>
                    <a:pt x="88" y="0"/>
                    <a:pt x="91" y="6"/>
                  </a:cubicBezTo>
                  <a:cubicBezTo>
                    <a:pt x="92" y="7"/>
                    <a:pt x="100" y="4"/>
                    <a:pt x="10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55" name="Freeform 2367"/>
            <p:cNvSpPr/>
            <p:nvPr/>
          </p:nvSpPr>
          <p:spPr bwMode="auto">
            <a:xfrm>
              <a:off x="4538663" y="2187576"/>
              <a:ext cx="55563" cy="74613"/>
            </a:xfrm>
            <a:custGeom>
              <a:avLst/>
              <a:gdLst>
                <a:gd name="T0" fmla="*/ 52 w 58"/>
                <a:gd name="T1" fmla="*/ 0 h 80"/>
                <a:gd name="T2" fmla="*/ 46 w 58"/>
                <a:gd name="T3" fmla="*/ 5 h 80"/>
                <a:gd name="T4" fmla="*/ 36 w 58"/>
                <a:gd name="T5" fmla="*/ 13 h 80"/>
                <a:gd name="T6" fmla="*/ 28 w 58"/>
                <a:gd name="T7" fmla="*/ 26 h 80"/>
                <a:gd name="T8" fmla="*/ 20 w 58"/>
                <a:gd name="T9" fmla="*/ 42 h 80"/>
                <a:gd name="T10" fmla="*/ 16 w 58"/>
                <a:gd name="T11" fmla="*/ 56 h 80"/>
                <a:gd name="T12" fmla="*/ 8 w 58"/>
                <a:gd name="T13" fmla="*/ 71 h 80"/>
                <a:gd name="T14" fmla="*/ 0 w 58"/>
                <a:gd name="T15" fmla="*/ 80 h 80"/>
                <a:gd name="T16" fmla="*/ 5 w 58"/>
                <a:gd name="T17" fmla="*/ 77 h 80"/>
                <a:gd name="T18" fmla="*/ 10 w 58"/>
                <a:gd name="T19" fmla="*/ 72 h 80"/>
                <a:gd name="T20" fmla="*/ 23 w 58"/>
                <a:gd name="T21" fmla="*/ 60 h 80"/>
                <a:gd name="T22" fmla="*/ 36 w 58"/>
                <a:gd name="T23" fmla="*/ 50 h 80"/>
                <a:gd name="T24" fmla="*/ 47 w 58"/>
                <a:gd name="T25" fmla="*/ 35 h 80"/>
                <a:gd name="T26" fmla="*/ 54 w 58"/>
                <a:gd name="T27" fmla="*/ 19 h 80"/>
                <a:gd name="T28" fmla="*/ 53 w 58"/>
                <a:gd name="T29" fmla="*/ 8 h 80"/>
                <a:gd name="T30" fmla="*/ 52 w 58"/>
                <a:gd name="T3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8" h="80">
                  <a:moveTo>
                    <a:pt x="52" y="0"/>
                  </a:moveTo>
                  <a:cubicBezTo>
                    <a:pt x="52" y="0"/>
                    <a:pt x="48" y="6"/>
                    <a:pt x="46" y="5"/>
                  </a:cubicBezTo>
                  <a:cubicBezTo>
                    <a:pt x="40" y="5"/>
                    <a:pt x="43" y="12"/>
                    <a:pt x="36" y="13"/>
                  </a:cubicBezTo>
                  <a:cubicBezTo>
                    <a:pt x="31" y="14"/>
                    <a:pt x="32" y="25"/>
                    <a:pt x="28" y="26"/>
                  </a:cubicBezTo>
                  <a:cubicBezTo>
                    <a:pt x="23" y="28"/>
                    <a:pt x="21" y="34"/>
                    <a:pt x="20" y="42"/>
                  </a:cubicBezTo>
                  <a:cubicBezTo>
                    <a:pt x="20" y="47"/>
                    <a:pt x="14" y="47"/>
                    <a:pt x="16" y="56"/>
                  </a:cubicBezTo>
                  <a:cubicBezTo>
                    <a:pt x="16" y="60"/>
                    <a:pt x="12" y="66"/>
                    <a:pt x="8" y="71"/>
                  </a:cubicBezTo>
                  <a:cubicBezTo>
                    <a:pt x="8" y="71"/>
                    <a:pt x="4" y="75"/>
                    <a:pt x="0" y="80"/>
                  </a:cubicBezTo>
                  <a:cubicBezTo>
                    <a:pt x="5" y="77"/>
                    <a:pt x="5" y="77"/>
                    <a:pt x="5" y="77"/>
                  </a:cubicBezTo>
                  <a:cubicBezTo>
                    <a:pt x="10" y="72"/>
                    <a:pt x="10" y="72"/>
                    <a:pt x="10" y="72"/>
                  </a:cubicBezTo>
                  <a:cubicBezTo>
                    <a:pt x="14" y="67"/>
                    <a:pt x="19" y="61"/>
                    <a:pt x="23" y="60"/>
                  </a:cubicBezTo>
                  <a:cubicBezTo>
                    <a:pt x="34" y="57"/>
                    <a:pt x="31" y="52"/>
                    <a:pt x="36" y="50"/>
                  </a:cubicBezTo>
                  <a:cubicBezTo>
                    <a:pt x="44" y="45"/>
                    <a:pt x="48" y="39"/>
                    <a:pt x="47" y="35"/>
                  </a:cubicBezTo>
                  <a:cubicBezTo>
                    <a:pt x="46" y="31"/>
                    <a:pt x="57" y="23"/>
                    <a:pt x="54" y="19"/>
                  </a:cubicBezTo>
                  <a:cubicBezTo>
                    <a:pt x="51" y="14"/>
                    <a:pt x="58" y="11"/>
                    <a:pt x="53" y="8"/>
                  </a:cubicBezTo>
                  <a:cubicBezTo>
                    <a:pt x="51" y="7"/>
                    <a:pt x="52" y="0"/>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56" name="Freeform 2368"/>
            <p:cNvSpPr/>
            <p:nvPr/>
          </p:nvSpPr>
          <p:spPr bwMode="auto">
            <a:xfrm>
              <a:off x="4486276" y="2263776"/>
              <a:ext cx="95250" cy="30163"/>
            </a:xfrm>
            <a:custGeom>
              <a:avLst/>
              <a:gdLst>
                <a:gd name="T0" fmla="*/ 102 w 102"/>
                <a:gd name="T1" fmla="*/ 8 h 32"/>
                <a:gd name="T2" fmla="*/ 93 w 102"/>
                <a:gd name="T3" fmla="*/ 14 h 32"/>
                <a:gd name="T4" fmla="*/ 81 w 102"/>
                <a:gd name="T5" fmla="*/ 23 h 32"/>
                <a:gd name="T6" fmla="*/ 62 w 102"/>
                <a:gd name="T7" fmla="*/ 28 h 32"/>
                <a:gd name="T8" fmla="*/ 43 w 102"/>
                <a:gd name="T9" fmla="*/ 28 h 32"/>
                <a:gd name="T10" fmla="*/ 29 w 102"/>
                <a:gd name="T11" fmla="*/ 26 h 32"/>
                <a:gd name="T12" fmla="*/ 12 w 102"/>
                <a:gd name="T13" fmla="*/ 24 h 32"/>
                <a:gd name="T14" fmla="*/ 0 w 102"/>
                <a:gd name="T15" fmla="*/ 25 h 32"/>
                <a:gd name="T16" fmla="*/ 5 w 102"/>
                <a:gd name="T17" fmla="*/ 23 h 32"/>
                <a:gd name="T18" fmla="*/ 12 w 102"/>
                <a:gd name="T19" fmla="*/ 22 h 32"/>
                <a:gd name="T20" fmla="*/ 29 w 102"/>
                <a:gd name="T21" fmla="*/ 17 h 32"/>
                <a:gd name="T22" fmla="*/ 44 w 102"/>
                <a:gd name="T23" fmla="*/ 11 h 32"/>
                <a:gd name="T24" fmla="*/ 63 w 102"/>
                <a:gd name="T25" fmla="*/ 6 h 32"/>
                <a:gd name="T26" fmla="*/ 81 w 102"/>
                <a:gd name="T27" fmla="*/ 4 h 32"/>
                <a:gd name="T28" fmla="*/ 93 w 102"/>
                <a:gd name="T29" fmla="*/ 6 h 32"/>
                <a:gd name="T30" fmla="*/ 102 w 102"/>
                <a:gd name="T31"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2" h="32">
                  <a:moveTo>
                    <a:pt x="102" y="8"/>
                  </a:moveTo>
                  <a:cubicBezTo>
                    <a:pt x="102" y="8"/>
                    <a:pt x="94" y="11"/>
                    <a:pt x="93" y="14"/>
                  </a:cubicBezTo>
                  <a:cubicBezTo>
                    <a:pt x="92" y="20"/>
                    <a:pt x="85" y="16"/>
                    <a:pt x="81" y="23"/>
                  </a:cubicBezTo>
                  <a:cubicBezTo>
                    <a:pt x="78" y="28"/>
                    <a:pt x="66" y="24"/>
                    <a:pt x="62" y="28"/>
                  </a:cubicBezTo>
                  <a:cubicBezTo>
                    <a:pt x="59" y="31"/>
                    <a:pt x="52" y="32"/>
                    <a:pt x="43" y="28"/>
                  </a:cubicBezTo>
                  <a:cubicBezTo>
                    <a:pt x="39" y="26"/>
                    <a:pt x="36" y="32"/>
                    <a:pt x="29" y="26"/>
                  </a:cubicBezTo>
                  <a:cubicBezTo>
                    <a:pt x="25" y="24"/>
                    <a:pt x="18" y="24"/>
                    <a:pt x="12" y="24"/>
                  </a:cubicBezTo>
                  <a:cubicBezTo>
                    <a:pt x="0" y="25"/>
                    <a:pt x="0" y="25"/>
                    <a:pt x="0" y="25"/>
                  </a:cubicBezTo>
                  <a:cubicBezTo>
                    <a:pt x="5" y="23"/>
                    <a:pt x="5" y="23"/>
                    <a:pt x="5" y="23"/>
                  </a:cubicBezTo>
                  <a:cubicBezTo>
                    <a:pt x="12" y="22"/>
                    <a:pt x="12" y="22"/>
                    <a:pt x="12" y="22"/>
                  </a:cubicBezTo>
                  <a:cubicBezTo>
                    <a:pt x="18" y="22"/>
                    <a:pt x="26" y="20"/>
                    <a:pt x="29" y="17"/>
                  </a:cubicBezTo>
                  <a:cubicBezTo>
                    <a:pt x="37" y="10"/>
                    <a:pt x="40" y="14"/>
                    <a:pt x="44" y="11"/>
                  </a:cubicBezTo>
                  <a:cubicBezTo>
                    <a:pt x="53" y="6"/>
                    <a:pt x="60" y="4"/>
                    <a:pt x="63" y="6"/>
                  </a:cubicBezTo>
                  <a:cubicBezTo>
                    <a:pt x="67" y="8"/>
                    <a:pt x="78" y="0"/>
                    <a:pt x="81" y="4"/>
                  </a:cubicBezTo>
                  <a:cubicBezTo>
                    <a:pt x="85" y="8"/>
                    <a:pt x="91" y="1"/>
                    <a:pt x="93" y="6"/>
                  </a:cubicBezTo>
                  <a:cubicBezTo>
                    <a:pt x="93" y="8"/>
                    <a:pt x="102" y="8"/>
                    <a:pt x="10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57" name="Freeform 2369"/>
            <p:cNvSpPr/>
            <p:nvPr/>
          </p:nvSpPr>
          <p:spPr bwMode="auto">
            <a:xfrm>
              <a:off x="4486276" y="2222501"/>
              <a:ext cx="63500" cy="65088"/>
            </a:xfrm>
            <a:custGeom>
              <a:avLst/>
              <a:gdLst>
                <a:gd name="T0" fmla="*/ 66 w 69"/>
                <a:gd name="T1" fmla="*/ 0 h 70"/>
                <a:gd name="T2" fmla="*/ 59 w 69"/>
                <a:gd name="T3" fmla="*/ 5 h 70"/>
                <a:gd name="T4" fmla="*/ 47 w 69"/>
                <a:gd name="T5" fmla="*/ 10 h 70"/>
                <a:gd name="T6" fmla="*/ 36 w 69"/>
                <a:gd name="T7" fmla="*/ 22 h 70"/>
                <a:gd name="T8" fmla="*/ 25 w 69"/>
                <a:gd name="T9" fmla="*/ 36 h 70"/>
                <a:gd name="T10" fmla="*/ 18 w 69"/>
                <a:gd name="T11" fmla="*/ 49 h 70"/>
                <a:gd name="T12" fmla="*/ 9 w 69"/>
                <a:gd name="T13" fmla="*/ 62 h 70"/>
                <a:gd name="T14" fmla="*/ 0 w 69"/>
                <a:gd name="T15" fmla="*/ 70 h 70"/>
                <a:gd name="T16" fmla="*/ 5 w 69"/>
                <a:gd name="T17" fmla="*/ 68 h 70"/>
                <a:gd name="T18" fmla="*/ 10 w 69"/>
                <a:gd name="T19" fmla="*/ 63 h 70"/>
                <a:gd name="T20" fmla="*/ 25 w 69"/>
                <a:gd name="T21" fmla="*/ 54 h 70"/>
                <a:gd name="T22" fmla="*/ 39 w 69"/>
                <a:gd name="T23" fmla="*/ 46 h 70"/>
                <a:gd name="T24" fmla="*/ 53 w 69"/>
                <a:gd name="T25" fmla="*/ 33 h 70"/>
                <a:gd name="T26" fmla="*/ 63 w 69"/>
                <a:gd name="T27" fmla="*/ 20 h 70"/>
                <a:gd name="T28" fmla="*/ 65 w 69"/>
                <a:gd name="T29" fmla="*/ 8 h 70"/>
                <a:gd name="T30" fmla="*/ 66 w 69"/>
                <a:gd name="T31"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70">
                  <a:moveTo>
                    <a:pt x="66" y="0"/>
                  </a:moveTo>
                  <a:cubicBezTo>
                    <a:pt x="66" y="0"/>
                    <a:pt x="61" y="5"/>
                    <a:pt x="59" y="5"/>
                  </a:cubicBezTo>
                  <a:cubicBezTo>
                    <a:pt x="53" y="3"/>
                    <a:pt x="54" y="10"/>
                    <a:pt x="47" y="10"/>
                  </a:cubicBezTo>
                  <a:cubicBezTo>
                    <a:pt x="42" y="10"/>
                    <a:pt x="40" y="21"/>
                    <a:pt x="36" y="22"/>
                  </a:cubicBezTo>
                  <a:cubicBezTo>
                    <a:pt x="31" y="23"/>
                    <a:pt x="27" y="28"/>
                    <a:pt x="25" y="36"/>
                  </a:cubicBezTo>
                  <a:cubicBezTo>
                    <a:pt x="24" y="40"/>
                    <a:pt x="19" y="39"/>
                    <a:pt x="18" y="49"/>
                  </a:cubicBezTo>
                  <a:cubicBezTo>
                    <a:pt x="18" y="52"/>
                    <a:pt x="14" y="58"/>
                    <a:pt x="9" y="62"/>
                  </a:cubicBezTo>
                  <a:cubicBezTo>
                    <a:pt x="9" y="62"/>
                    <a:pt x="5" y="66"/>
                    <a:pt x="0" y="70"/>
                  </a:cubicBezTo>
                  <a:cubicBezTo>
                    <a:pt x="5" y="68"/>
                    <a:pt x="5" y="68"/>
                    <a:pt x="5" y="68"/>
                  </a:cubicBezTo>
                  <a:cubicBezTo>
                    <a:pt x="10" y="63"/>
                    <a:pt x="10" y="63"/>
                    <a:pt x="10" y="63"/>
                  </a:cubicBezTo>
                  <a:cubicBezTo>
                    <a:pt x="15" y="59"/>
                    <a:pt x="21" y="54"/>
                    <a:pt x="25" y="54"/>
                  </a:cubicBezTo>
                  <a:cubicBezTo>
                    <a:pt x="36" y="52"/>
                    <a:pt x="34" y="47"/>
                    <a:pt x="39" y="46"/>
                  </a:cubicBezTo>
                  <a:cubicBezTo>
                    <a:pt x="48" y="42"/>
                    <a:pt x="53" y="38"/>
                    <a:pt x="53" y="33"/>
                  </a:cubicBezTo>
                  <a:cubicBezTo>
                    <a:pt x="53" y="29"/>
                    <a:pt x="65" y="24"/>
                    <a:pt x="63" y="20"/>
                  </a:cubicBezTo>
                  <a:cubicBezTo>
                    <a:pt x="61" y="14"/>
                    <a:pt x="69" y="12"/>
                    <a:pt x="65" y="8"/>
                  </a:cubicBezTo>
                  <a:cubicBezTo>
                    <a:pt x="63" y="7"/>
                    <a:pt x="66" y="0"/>
                    <a:pt x="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58" name="Freeform 2370"/>
            <p:cNvSpPr/>
            <p:nvPr/>
          </p:nvSpPr>
          <p:spPr bwMode="auto">
            <a:xfrm>
              <a:off x="4432301" y="2292351"/>
              <a:ext cx="92075" cy="25400"/>
            </a:xfrm>
            <a:custGeom>
              <a:avLst/>
              <a:gdLst>
                <a:gd name="T0" fmla="*/ 99 w 99"/>
                <a:gd name="T1" fmla="*/ 11 h 27"/>
                <a:gd name="T2" fmla="*/ 90 w 99"/>
                <a:gd name="T3" fmla="*/ 15 h 27"/>
                <a:gd name="T4" fmla="*/ 78 w 99"/>
                <a:gd name="T5" fmla="*/ 22 h 27"/>
                <a:gd name="T6" fmla="*/ 60 w 99"/>
                <a:gd name="T7" fmla="*/ 24 h 27"/>
                <a:gd name="T8" fmla="*/ 42 w 99"/>
                <a:gd name="T9" fmla="*/ 23 h 27"/>
                <a:gd name="T10" fmla="*/ 27 w 99"/>
                <a:gd name="T11" fmla="*/ 19 h 27"/>
                <a:gd name="T12" fmla="*/ 12 w 99"/>
                <a:gd name="T13" fmla="*/ 16 h 27"/>
                <a:gd name="T14" fmla="*/ 0 w 99"/>
                <a:gd name="T15" fmla="*/ 16 h 27"/>
                <a:gd name="T16" fmla="*/ 5 w 99"/>
                <a:gd name="T17" fmla="*/ 14 h 27"/>
                <a:gd name="T18" fmla="*/ 12 w 99"/>
                <a:gd name="T19" fmla="*/ 14 h 27"/>
                <a:gd name="T20" fmla="*/ 29 w 99"/>
                <a:gd name="T21" fmla="*/ 11 h 27"/>
                <a:gd name="T22" fmla="*/ 44 w 99"/>
                <a:gd name="T23" fmla="*/ 6 h 27"/>
                <a:gd name="T24" fmla="*/ 63 w 99"/>
                <a:gd name="T25" fmla="*/ 3 h 27"/>
                <a:gd name="T26" fmla="*/ 80 w 99"/>
                <a:gd name="T27" fmla="*/ 3 h 27"/>
                <a:gd name="T28" fmla="*/ 91 w 99"/>
                <a:gd name="T29" fmla="*/ 8 h 27"/>
                <a:gd name="T30" fmla="*/ 99 w 99"/>
                <a:gd name="T31" fmla="*/ 1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9" h="27">
                  <a:moveTo>
                    <a:pt x="99" y="11"/>
                  </a:moveTo>
                  <a:cubicBezTo>
                    <a:pt x="99" y="11"/>
                    <a:pt x="91" y="13"/>
                    <a:pt x="90" y="15"/>
                  </a:cubicBezTo>
                  <a:cubicBezTo>
                    <a:pt x="88" y="21"/>
                    <a:pt x="83" y="16"/>
                    <a:pt x="78" y="22"/>
                  </a:cubicBezTo>
                  <a:cubicBezTo>
                    <a:pt x="74" y="26"/>
                    <a:pt x="64" y="21"/>
                    <a:pt x="60" y="24"/>
                  </a:cubicBezTo>
                  <a:cubicBezTo>
                    <a:pt x="56" y="27"/>
                    <a:pt x="49" y="27"/>
                    <a:pt x="42" y="23"/>
                  </a:cubicBezTo>
                  <a:cubicBezTo>
                    <a:pt x="38" y="21"/>
                    <a:pt x="34" y="25"/>
                    <a:pt x="27" y="19"/>
                  </a:cubicBezTo>
                  <a:cubicBezTo>
                    <a:pt x="25" y="17"/>
                    <a:pt x="18" y="16"/>
                    <a:pt x="12" y="16"/>
                  </a:cubicBezTo>
                  <a:cubicBezTo>
                    <a:pt x="0" y="16"/>
                    <a:pt x="0" y="16"/>
                    <a:pt x="0" y="16"/>
                  </a:cubicBezTo>
                  <a:cubicBezTo>
                    <a:pt x="5" y="14"/>
                    <a:pt x="5" y="14"/>
                    <a:pt x="5" y="14"/>
                  </a:cubicBezTo>
                  <a:cubicBezTo>
                    <a:pt x="12" y="14"/>
                    <a:pt x="12" y="14"/>
                    <a:pt x="12" y="14"/>
                  </a:cubicBezTo>
                  <a:cubicBezTo>
                    <a:pt x="18" y="14"/>
                    <a:pt x="25" y="14"/>
                    <a:pt x="29" y="11"/>
                  </a:cubicBezTo>
                  <a:cubicBezTo>
                    <a:pt x="38" y="4"/>
                    <a:pt x="40" y="9"/>
                    <a:pt x="44" y="6"/>
                  </a:cubicBezTo>
                  <a:cubicBezTo>
                    <a:pt x="53" y="2"/>
                    <a:pt x="60" y="1"/>
                    <a:pt x="63" y="3"/>
                  </a:cubicBezTo>
                  <a:cubicBezTo>
                    <a:pt x="66" y="6"/>
                    <a:pt x="77" y="0"/>
                    <a:pt x="80" y="3"/>
                  </a:cubicBezTo>
                  <a:cubicBezTo>
                    <a:pt x="84" y="8"/>
                    <a:pt x="90" y="2"/>
                    <a:pt x="91" y="8"/>
                  </a:cubicBezTo>
                  <a:cubicBezTo>
                    <a:pt x="91" y="10"/>
                    <a:pt x="99" y="11"/>
                    <a:pt x="9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sp>
          <p:nvSpPr>
            <p:cNvPr id="159" name="Freeform 2371"/>
            <p:cNvSpPr/>
            <p:nvPr/>
          </p:nvSpPr>
          <p:spPr bwMode="auto">
            <a:xfrm>
              <a:off x="4432301" y="2249488"/>
              <a:ext cx="68263" cy="58738"/>
            </a:xfrm>
            <a:custGeom>
              <a:avLst/>
              <a:gdLst>
                <a:gd name="T0" fmla="*/ 73 w 74"/>
                <a:gd name="T1" fmla="*/ 0 h 62"/>
                <a:gd name="T2" fmla="*/ 65 w 74"/>
                <a:gd name="T3" fmla="*/ 4 h 62"/>
                <a:gd name="T4" fmla="*/ 53 w 74"/>
                <a:gd name="T5" fmla="*/ 8 h 62"/>
                <a:gd name="T6" fmla="*/ 39 w 74"/>
                <a:gd name="T7" fmla="*/ 18 h 62"/>
                <a:gd name="T8" fmla="*/ 28 w 74"/>
                <a:gd name="T9" fmla="*/ 31 h 62"/>
                <a:gd name="T10" fmla="*/ 19 w 74"/>
                <a:gd name="T11" fmla="*/ 42 h 62"/>
                <a:gd name="T12" fmla="*/ 9 w 74"/>
                <a:gd name="T13" fmla="*/ 55 h 62"/>
                <a:gd name="T14" fmla="*/ 0 w 74"/>
                <a:gd name="T15" fmla="*/ 62 h 62"/>
                <a:gd name="T16" fmla="*/ 5 w 74"/>
                <a:gd name="T17" fmla="*/ 60 h 62"/>
                <a:gd name="T18" fmla="*/ 10 w 74"/>
                <a:gd name="T19" fmla="*/ 56 h 62"/>
                <a:gd name="T20" fmla="*/ 26 w 74"/>
                <a:gd name="T21" fmla="*/ 48 h 62"/>
                <a:gd name="T22" fmla="*/ 40 w 74"/>
                <a:gd name="T23" fmla="*/ 41 h 62"/>
                <a:gd name="T24" fmla="*/ 55 w 74"/>
                <a:gd name="T25" fmla="*/ 31 h 62"/>
                <a:gd name="T26" fmla="*/ 67 w 74"/>
                <a:gd name="T27" fmla="*/ 19 h 62"/>
                <a:gd name="T28" fmla="*/ 70 w 74"/>
                <a:gd name="T29" fmla="*/ 8 h 62"/>
                <a:gd name="T30" fmla="*/ 73 w 74"/>
                <a:gd name="T31"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 h="62">
                  <a:moveTo>
                    <a:pt x="73" y="0"/>
                  </a:moveTo>
                  <a:cubicBezTo>
                    <a:pt x="73" y="0"/>
                    <a:pt x="67" y="5"/>
                    <a:pt x="65" y="4"/>
                  </a:cubicBezTo>
                  <a:cubicBezTo>
                    <a:pt x="59" y="1"/>
                    <a:pt x="59" y="8"/>
                    <a:pt x="53" y="8"/>
                  </a:cubicBezTo>
                  <a:cubicBezTo>
                    <a:pt x="48" y="7"/>
                    <a:pt x="44" y="17"/>
                    <a:pt x="39" y="18"/>
                  </a:cubicBezTo>
                  <a:cubicBezTo>
                    <a:pt x="35" y="18"/>
                    <a:pt x="31" y="23"/>
                    <a:pt x="28" y="31"/>
                  </a:cubicBezTo>
                  <a:cubicBezTo>
                    <a:pt x="26" y="35"/>
                    <a:pt x="21" y="33"/>
                    <a:pt x="19" y="42"/>
                  </a:cubicBezTo>
                  <a:cubicBezTo>
                    <a:pt x="19" y="46"/>
                    <a:pt x="14" y="51"/>
                    <a:pt x="9" y="55"/>
                  </a:cubicBezTo>
                  <a:cubicBezTo>
                    <a:pt x="0" y="62"/>
                    <a:pt x="0" y="62"/>
                    <a:pt x="0" y="62"/>
                  </a:cubicBezTo>
                  <a:cubicBezTo>
                    <a:pt x="5" y="60"/>
                    <a:pt x="5" y="60"/>
                    <a:pt x="5" y="60"/>
                  </a:cubicBezTo>
                  <a:cubicBezTo>
                    <a:pt x="10" y="56"/>
                    <a:pt x="10" y="56"/>
                    <a:pt x="10" y="56"/>
                  </a:cubicBezTo>
                  <a:cubicBezTo>
                    <a:pt x="15" y="52"/>
                    <a:pt x="21" y="48"/>
                    <a:pt x="26" y="48"/>
                  </a:cubicBezTo>
                  <a:cubicBezTo>
                    <a:pt x="36" y="47"/>
                    <a:pt x="35" y="43"/>
                    <a:pt x="40" y="41"/>
                  </a:cubicBezTo>
                  <a:cubicBezTo>
                    <a:pt x="50" y="39"/>
                    <a:pt x="55" y="35"/>
                    <a:pt x="55" y="31"/>
                  </a:cubicBezTo>
                  <a:cubicBezTo>
                    <a:pt x="56" y="27"/>
                    <a:pt x="68" y="24"/>
                    <a:pt x="67" y="19"/>
                  </a:cubicBezTo>
                  <a:cubicBezTo>
                    <a:pt x="66" y="13"/>
                    <a:pt x="74" y="13"/>
                    <a:pt x="70" y="8"/>
                  </a:cubicBezTo>
                  <a:cubicBezTo>
                    <a:pt x="69" y="6"/>
                    <a:pt x="73" y="0"/>
                    <a:pt x="7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HarmonyOS Sans SC" panose="00000500000000000000" pitchFamily="2" charset="-122"/>
                <a:ea typeface="思源黑体 CN Regular" panose="020B0500000000000000" charset="-122"/>
                <a:cs typeface="+mn-cs"/>
              </a:endParaRPr>
            </a:p>
          </p:txBody>
        </p:sp>
      </p:grpSp>
      <p:sp>
        <p:nvSpPr>
          <p:cNvPr id="264" name="文本框 263"/>
          <p:cNvSpPr txBox="1"/>
          <p:nvPr/>
        </p:nvSpPr>
        <p:spPr>
          <a:xfrm>
            <a:off x="953789" y="4907561"/>
            <a:ext cx="2911622" cy="802262"/>
          </a:xfrm>
          <a:prstGeom prst="rect">
            <a:avLst/>
          </a:prstGeom>
          <a:noFill/>
        </p:spPr>
        <p:txBody>
          <a:bodyPr wrap="none" lIns="36000" tIns="36000" rIns="36000" bIns="36000" rtlCol="0">
            <a:spAutoFit/>
          </a:bodyPr>
          <a:lstStyle/>
          <a:p>
            <a:pPr algn="ctr">
              <a:lnSpc>
                <a:spcPct val="120000"/>
              </a:lnSpc>
            </a:pPr>
            <a:r>
              <a:rPr lang="zh-CN" altLang="en-US" sz="2400" b="1" spc="-400">
                <a:gradFill>
                  <a:gsLst>
                    <a:gs pos="0">
                      <a:srgbClr val="00B0F0"/>
                    </a:gs>
                    <a:gs pos="95000">
                      <a:schemeClr val="tx2"/>
                    </a:gs>
                  </a:gsLst>
                  <a:lin ang="5400000" scaled="1"/>
                </a:gradFill>
                <a:latin typeface="方正姚体" panose="02010601030101010101" pitchFamily="2" charset="-122"/>
                <a:ea typeface="方正姚体" panose="02010601030101010101" pitchFamily="2" charset="-122"/>
              </a:rPr>
              <a:t>深交所非公开发行公司债</a:t>
            </a:r>
            <a:endParaRPr lang="en-US" altLang="zh-CN" sz="2400" b="1" spc="-400" dirty="0">
              <a:gradFill>
                <a:gsLst>
                  <a:gs pos="0">
                    <a:srgbClr val="00B0F0"/>
                  </a:gs>
                  <a:gs pos="95000">
                    <a:schemeClr val="tx2"/>
                  </a:gs>
                </a:gsLst>
                <a:lin ang="5400000" scaled="1"/>
              </a:gradFill>
              <a:latin typeface="方正姚体" panose="02010601030101010101" pitchFamily="2" charset="-122"/>
              <a:ea typeface="方正姚体" panose="02010601030101010101" pitchFamily="2" charset="-122"/>
            </a:endParaRPr>
          </a:p>
          <a:p>
            <a:pPr algn="ctr">
              <a:lnSpc>
                <a:spcPct val="150000"/>
              </a:lnSpc>
            </a:pPr>
            <a:r>
              <a:rPr lang="zh-CN" altLang="en-US" sz="1300">
                <a:solidFill>
                  <a:schemeClr val="accent2"/>
                </a:solidFill>
                <a:latin typeface="HarmonyOS Sans SC" panose="00000500000000000000" pitchFamily="2" charset="-122"/>
                <a:ea typeface="HarmonyOS Sans SC" panose="00000500000000000000" pitchFamily="2" charset="-122"/>
              </a:rPr>
              <a:t>已发行</a:t>
            </a:r>
            <a:r>
              <a:rPr lang="en-US" altLang="zh-CN" sz="1300" dirty="0">
                <a:solidFill>
                  <a:schemeClr val="accent2"/>
                </a:solidFill>
                <a:latin typeface="HarmonyOS Sans SC" panose="00000500000000000000" pitchFamily="2" charset="-122"/>
                <a:ea typeface="HarmonyOS Sans SC" panose="00000500000000000000" pitchFamily="2" charset="-122"/>
              </a:rPr>
              <a:t>27</a:t>
            </a:r>
            <a:r>
              <a:rPr lang="zh-CN" altLang="en-US" sz="1300">
                <a:solidFill>
                  <a:schemeClr val="accent2"/>
                </a:solidFill>
                <a:latin typeface="HarmonyOS Sans SC" panose="00000500000000000000" pitchFamily="2" charset="-122"/>
                <a:ea typeface="HarmonyOS Sans SC" panose="00000500000000000000" pitchFamily="2" charset="-122"/>
              </a:rPr>
              <a:t>亿元丨</a:t>
            </a:r>
            <a:r>
              <a:rPr lang="zh-CN" altLang="en-US" sz="1300" b="1">
                <a:solidFill>
                  <a:srgbClr val="E99213"/>
                </a:solidFill>
                <a:latin typeface="HarmonyOS Sans SC" panose="00000500000000000000" pitchFamily="2" charset="-122"/>
                <a:ea typeface="HarmonyOS Sans SC" panose="00000500000000000000" pitchFamily="2" charset="-122"/>
              </a:rPr>
              <a:t>其中科创债</a:t>
            </a:r>
            <a:r>
              <a:rPr lang="en-US" altLang="zh-CN" sz="1300" b="1" dirty="0">
                <a:solidFill>
                  <a:srgbClr val="E99213"/>
                </a:solidFill>
                <a:latin typeface="HarmonyOS Sans SC" panose="00000500000000000000" pitchFamily="2" charset="-122"/>
                <a:ea typeface="HarmonyOS Sans SC" panose="00000500000000000000" pitchFamily="2" charset="-122"/>
              </a:rPr>
              <a:t>7</a:t>
            </a:r>
            <a:r>
              <a:rPr lang="zh-CN" altLang="en-US" sz="1300" b="1">
                <a:solidFill>
                  <a:srgbClr val="E99213"/>
                </a:solidFill>
                <a:latin typeface="HarmonyOS Sans SC" panose="00000500000000000000" pitchFamily="2" charset="-122"/>
                <a:ea typeface="HarmonyOS Sans SC" panose="00000500000000000000" pitchFamily="2" charset="-122"/>
              </a:rPr>
              <a:t>亿元</a:t>
            </a:r>
            <a:endParaRPr lang="zh-CN" altLang="en-US" sz="1300" b="1">
              <a:solidFill>
                <a:srgbClr val="E99213"/>
              </a:solidFill>
              <a:latin typeface="HarmonyOS Sans SC" panose="00000500000000000000" pitchFamily="2" charset="-122"/>
              <a:ea typeface="HarmonyOS Sans SC" panose="00000500000000000000" pitchFamily="2" charset="-122"/>
            </a:endParaRPr>
          </a:p>
        </p:txBody>
      </p:sp>
    </p:spTree>
  </p:cSld>
  <p:clrMapOvr>
    <a:masterClrMapping/>
  </p:clrMapOvr>
  <p:transition spd="slow"/>
</p:sld>
</file>

<file path=ppt/tags/tag25.xml><?xml version="1.0" encoding="utf-8"?>
<p:tagLst xmlns:p="http://schemas.openxmlformats.org/presentationml/2006/main">
  <p:tag name="KSO_WM_AICARD_INVALID" val="Invalid"/>
</p:tagLst>
</file>

<file path=ppt/tags/tag26.xml><?xml version="1.0" encoding="utf-8"?>
<p:tagLst xmlns:p="http://schemas.openxmlformats.org/presentationml/2006/main">
  <p:tag name="KSO_WM_AICARD_INVALID" val="Invalid"/>
</p:tagLst>
</file>

<file path=ppt/tags/tag279.xml><?xml version="1.0" encoding="utf-8"?>
<p:tagLst xmlns:p="http://schemas.openxmlformats.org/presentationml/2006/main">
  <p:tag name="ISPRING_ULTRA_SCORM_COURSE_ID" val="75581972-8033-4806-BB79-AC0AE88476FE"/>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BoD40wVDq0oZAQAAAcRAAAdAAAAdW5pdmVyc2FsL2NvbW1vbl9tZXNzYWdlcy5sbmetWG1v2zYQ/l6g/4EQUGADtrQd0KIYEge0xNhEZMmV6DjZCwRGYmwilJjpxW32ab9mP2y/ZEfKTuK+QFISwDZMyvfc8e6eu6MPjz/nCm1EWUldHDlvD944SBSpzmSxOnIW7OTnDw6qal5kXOlCHDmFdtDx6OWLQ8WLVcNXAr6/fIHQYS6qCpbVyKzu10hmR858nLjhbI6Di8QPJ2EyphNn5Or8hhe3yNcr/Uf5wy/vP3x+++79j4evt5J9gOIZ9v19KGSR3r3pARSwKPQTQCN+EpBz5ozM5zC5cMF8GhBntP0yTHoekTNnZD475RZRRAKWxD71SELjJAiZ9YVPGPGc0YVu0JpvBKo12kjxCdVrAZGsZSlQpWRmH6QaNopGdCnzwhmmQRKRmEXUZTQMnFGsy/L2JwvLm3qtS1BXoUxW/FKJzOqEnLHPb0pRgWpeQ04heNVrCb/UOZfFQafqCC9pMElYGPpxQgJvt+OMSJEhr+RGzUCUCMckAoCSV6J8hGxis8yKI6zUMIQpnUx9eDNjwlSu1gre9VA75gRiMBdFlxTkCIkgu+J4GUaecRqoQhzd8Kr6pMtsLz8eBqoLmAZuCCnosgfgzGDsgCHGEipHWYq07gKbkTjGE5KMw3NIZOBdOEQiPAW6nQ6RuCAxUITEXTIBPqMTbBLeUGyX/zt+pdyks7pFPE1BzrhvI3VTwY5xKbDAMq06GKYmJh8XEDaK/e/QuEUF79rVSm4E2FFmouxUBJXFJZ7Joo8L+ltygqlPvATSyguXCbMlz2jM+S0qdI14tuFFKtClSHkDuX4LzzKZ2Wcmzlb/X438G/F6W1VebQtS4JHzV0Pt2ath3zCrqcCmuhb5Td2l2jhsa/5jrDA5/V0T+hz9cfpjlwQ4ouHzRKaSeaPaqvvk+NxZNjRGnUY80VP9o/XclsRtbR1TKFhjqftLEOimpn9AA1T9pWhwAormbYmGGk6LqwE6g3ALEGj0WIwzcNWeCWfgwgHySzKOKYPZaCkuK1l3jh2WjW2Avh3aFOY8JWpxT8ZLcaVhwlGCb9rpA7qQjXRnQB8MN3utglHmg8kBAK7a5AFIJXOwP+uBuZiRnQfaAr93kqVuVGbJq+S1LfLg2yYXX49NV6XO7a7i1S552yZz/BQr2sNFrdL5gPZ/x7/e8XlAv8dHKSY4cqeJiwOXmEHfcFX1FAIKGFf4LE58PDbiwIWc1+kamumVboqsJ1A7q3vkBAPY9syx4GW6/u+ff3tifGFJu4u2u78OAgFimypI7sB+D3Qtqj+7QBge78vZRR+p7d1mJ9fzqsMoZOGz3CF421pyncPWQbdeSPJt0DBj2J3OgAexTXvdlDC6DUGY4egUapmdwp3RjJfXUAiZ1moQinW1ScB6mPb762VTK1mIIbJPayXmwIzOE+x59q4N5FMyvW57ZgY3inR76VZw6e4L5k5xAHX2CzyRyXogoG1NuyoERG/X9zTffN2p7laV/cvi8PWDfzD+B1BLAwQUAAIACAAaA+NMCH4LIykDAACGDAAAJwAAAHVuaXZlcnNhbC9mbGFzaF9wdWJsaXNoaW5nX3NldHRpbmdzLnhtbNVX3W7aMBS+5yksT70saTu6diihqgpo1VpAhW3tVWViQ6w6dhbbUHq1p9mD7Ul2HAMFtevSH6RNCBGfn+/8n5jw6DYVaMJyzZWM8G51ByMmY0W5HEf4y6C9fYiRNkRSIpRkEZYKo6NGJczsUHCd9JkxIKoRwEhdz0yEE2OyehBMp9Mq11nuuEpYA/i6Gqs0yHKmmTQsDzJBZvBjZhnTeI5QAgC+qZJztUalglDokc4VtYIhTsFzyV1QRLQF0QkOvNiQxDfjXFlJT5RQOcrHwwi/Ozx2n4WMh2rylEmXE90AoiObOqGUOy+I6PM7hhLGxwm4e1DDaMqpSSK8V3MoIB08RCmwfejEoZwoyIE0c/iUGUKJIf7o7Rl2a/SC4El0JknK4wFwkIs/ws3B9aerXuvi7LTz+XrQ7Z4NTnveiUInWMcJg3VDITikbB6zpZ2QGEPiBPwGnRERmoXBKmkhNlJyzTl3RkMlIPeFFrRROmS0Q1K2Uo3+DZdtkNzFaASBiFmEj3NOBEbcEMHjpbK2Q224KareXpVEgAXtydB5H9+b99mJE5JrturWgqNdzuPGN2UFRTNlkeA3DBmFIH6bwlPC0Gpx0ChXaUGF9jFICw4WJ5xNGT0qcjoH/JOhKzCRWtCEXs0EM97Cd8vv0JCNVA64jEygs4HOtcevPgs4I1rfg5KFj1v9s9Nm6/q002xdbrkACZ0QGT8THArO0sxsBJ/MkFRmoQfpiInVrCgK5bTglYmt+vIyaJ5a4cv81sVYgd5gSTZj5TmF+asHpc0mZFIMohuuAhpGkENJPCYwYlgXXFpWFjAmEikpZojEsNa0G+sJV1YDxQ+wh9Yv99DrIy6L0xhWG1jMKctLQe7s7r2v7X84OPxYrwa/fvzcflJpvvB7gjhzfuOfPLnyl2v/4TYMA7elH1/aJrf/5s7uXbS+lslrp3U5KFXSVr8UXLeMVPdzGakL/5LprbxgSrkAS2nshwzWkuApN4y+ZYu9oE1e9W73PbaZNtlgzK8Zjf8mZH9aXhPX7oVh8OjF1XFSLnkKiXArcXnbbezXduCm+SirUgG09f8OjcpvUEsDBBQAAgAIABoD40y1/AlkugIAAFUKAAAhAAAAdW5pdmVyc2FsL2ZsYXNoX3NraW5fc2V0dGluZ3MueG1slVZtb+IwDP5+vwJx3+nulZ3UITHGSZN2t+k27XvamjYiTaokZce/vzhN1gQo9LAmEft5bMexzVK1pXzxYTJJc8GEfAatKS8VarxuQoubadZqLfgsF1wD1zMuZE3YdPHxp/2kiUVeYokdyLGcDcmhDzO3nzEUF+PbHGWIkIu6IXz/IEoxy0i+LaVoeXExtWrfgGSUbw3y6sd8tR4MwKjS9xrqKKf1Nco4SiNBKcCUvq9RLrIYyYD5SFf2M5LThzp/+wPajiqqLW35CWWI1pAS4iJfL1GG8dx4j19ljnKeoOGvNtAvn1EGoYzsQcbO776iDDJE0zb/0yONFCUWNOacf8R3DhOkMOOHWV2hXCTghTDQxVdw5bF3vQtA7ms49ymOqxTsCet6sBDw0TMGCy1bSBN/6myqEm+PrTbzAYsNYcoAQlUPejJJP5FWeTexrsf9gTfKi9CX0/SQV8HaGlZdwoG7WN/jV6tbuytCp++6IEMJO6cMUuyVPfK3qesRMlD2yGdGC3jkbH+cwaGpI/lHviXuOc/X31iBE3MsnNWfvBUjPeDoqiBVp/CYWhSwUJjOC60B3y1NrK5LKTnKKeVkR0uiqeC/EJft7WVUmhwYXK+d7qxUU83gVMPZHM2aDstlz3E/OmvckN3PQn+57jzRZovfTInWJK9q87OkphPHM2NiCjNNTjNwTxo4yHu+EQHHxh4i1URuQb4IwcaG4UKDGutedMM1BE+ToAZpcrrKqXNyqvy8rTOQa/NqFJSvcqzsgBUtK2b+9CuFNygOGAPWjqor448T+t6XgcI1ARCZV75ru0NnqVumKYMd+OEPFPbKQ3dLlenSoYZb6gfY6LDlnGZUT7pd0fdKvEMC/Qn8q0krcnxgGdH2mmTK3iyafL+G+1yixezXGTZfuMns2fVS5NjYjytolPjv5D9QSwMEFAACAAgAGgPjTCqWD2f+AgAAlwsAACYAAAB1bml2ZXJzYWwvaHRtbF9wdWJsaXNoaW5nX3NldHRpbmdzLnhtbM2Wb08aMRjA3/Mpmi6+lFPnpiN3GCMYiU6IsE1fmXItXGOvvbU98Hy1T7MPtk+yp1dAiI6dRpaFEOjTPr/nX/u04dF9KtCEacOVjPBufQcjJmNFuRxH+MvgdPsQI2OJpEQoySIsFUZHzVqY5UPBTdJn1sJSgwAjTSOzEU6szRpBMJ1O69xk2s0qkVvgm3qs0iDTzDBpmQ4yQQr4sUXGDJ4RKgDgmyo5U2vWagiFnvRZ0VwwxCl4LrkLiogzmwoc+FVDEt+NtcolPVFCaaTHwwi/Ozx2n/kaT2rxlEmXEtMEoRPbBqGUOyeI6PMHhhLGxwl4e7CP0ZRTm0R4b99RYHXwlFKyfeTEUU4UpEDaGT5lllBiiR96e5bdWzMXeBEtJEl5PIAZ5MKPcGtwe3bTa19ddC7Pbwfd7sWg0/NOlDrBKicMVg2F4JDKdcwWdkJiLYkT8Bt0RkQYFgbLovmykZIrzrkxGioBqS+1MBqBp6KI8LHmRGDELRE8XsxaosfMnnIBMTjd3fpIWvwI9PHGCdGGLRuazxiXxbj5TeWCokLlSPA7hqxCEFGewr+EoeV0o5FWaSkVxFhkBKcMTTibMnpUZmkG/JOhGzCR5qAJmy8TzHoL33P+gIZspDRwGZnAVgU5N55ffxE4I8Y8Qsncx63+RafVvu1cttrXWy5AQidExi+EQwlZmtmN8EmBpLJzPUhHTHLDyqJQTsu5KrHVX18Gw9Nc+DK/dTGW0BssyWasvKQwf/WgstmETMqD6A5XiYYjyKEkngkTMRx3LnNWFRgTiZQUBSIxNCrjjvWEq9yAxB9gjzav99DrIy7L0RhuDrCoKdOVkDu7e+/3P3w8OPzUqAe/fvzcXqs0a+E9QZw538NP1jbxRSN/2g3DwPXO59uw1fm/6sK9q/bXKpm6bF8PKhWp3a+E61ZZ1T2vsurKXxu9pSujkgvQZsb+2ECjETzlltG33DSvKPz6+9dvizcq/AajWLt9/98g/Gjx3Fp5X4XBsw/AGshXH9PN2m9QSwMEFAACAAgAGgPjTGhxUpGaAQAAHwYAAB8AAAB1bml2ZXJzYWwvaHRtbF9za2luX3NldHRpbmdzLmpzjZRNb8IwDIbv/AqUXSfEPmG7ocGkSRwmjdu0QyimVKRJlaQdHeK/rw5fTeqOxRfy8uR17CredrrVYhHrPne37rfbv/t7pwFqVudw7euiRU9RZ0YkC5glKYhEAguQ4nj0JO/OBGXMpDOdlx9oa2p+TOE/Sy5MHc8IC01ohjpcEOA3oW2owz8nsVOra19TrdHz3Fole5GSFqTtSaVT7hh29epWvcQAVgXoC+iSR+CZDtxqI8+ODwOMOhepNOOynKpY9eY8Wsda5XLRln9VZqCrT77eA/2nwcvEsxOJsW8W0jDxZIjRTmYajIFD3scJBgkLPgdR8+279QfqGTcLCugiMYk90qMbjDqd8RgaXRqOMHxMVl6Nbg4wmpyFjd0Td7cYHiF4CbphNb7H8ECV5dk/PmCmVYwdaaDNnp9QofgikfEhdR+D5PCyaNvWvXOh7vpj5j0hFTyhFfX80rbZEYKGAK03lo55TZB3StkJSpREDkVo1LQq6DliwzmC+88u49byaJVW46EajlUbuF6Dniklqtt/XbpnmKuz+wVQSwMEFAACAAgAGgPjTD08L9HBAAAA5QEAABoAAAB1bml2ZXJzYWwvaTE4bl9wcmVzZXRzLnhtbJ2RsQrCMBCG9z5FuN3EbqUkdRPcHHSWmqYaaS8ll1of35SKdJGAQyD/8X0/JCd3r75jT+PJOlSQ8y0wg9o1Fm8Kzqf9pgBGocam7hwaBeiA7apM2rzAozdkArFYgaTgHsJQCjFNE7c0+NhArhtDLCauXS/i6R2K2RTDosLilvYv+zODKssYk9fRduGAVbzHtCCMvFYwOxeN3GLrQPwCGpMATKrBUAJofQJ4DAnAjytAiu+b56RHCvGjYpBitZ4qewNQSwMEFAACAAgAGgPjTHL80YFnAAAAawAAABwAAAB1bml2ZXJzYWwvbG9jYWxfc2V0dGluZ3MueG1sDcw7CsNADEXR3qsQ6p1P58JjdymDIc4ChP0IBo0UZkRIdp/pbnG44/zNSh+Uerglvp4uTLDN98NeiZ/rrR+Yaojtom5IbM40T92ovok+ENFgpbfKD2VFbhG4S25yKaiwkGhnPk/dH1BLAwQUAAIACABElFdHI7RO+/sCAACwCAAAFAAAAHVuaXZlcnNhbC9wbGF5ZXIueG1srVXfT9swEH4u0v6HyO/YLR0DqgTEkNAexoTUse2tMombeE3izHYI5a/f2c7vpWxIe2iVnO/77nz33cW/es5S74lJxUUeoAWeI4/loYh4Hgfo4evt8Tm6unx35Bcp3TPp8ShAZc4NgKbIi5gKJS80gO+pTgLUM2BgRl4huZBc74H7FLjbSCdL9O5oBi65ClCidbEipKoqzBUg8liJtDQkCociI4VkiuWaSeLSQF6DXem/o+GXiZzofcFUD1notweuSVqOZ8UHJNUSCxmTk/l8QX7cfV6HCcvoMc+VpnnIkAeVnNlSPtJwdyeiMmXK2Ga+S3LNtDZJWNvM1yu+OM89JcMAOYdNxpSiMVM4zWNEHJZMgP1tSlVS86gBreFVO17zWr+Ned80brZzpHMuyseUqwSO+pDOOgn0yTCqn9nrWgU9NAq6NUzIk+xXySWL7Ou3VozzBXIBW8XZPLGqQjiAp1saaiH3NwADFdUdxG3TsGsatqCWA7fR1x0Fam67ZVSXkjWlmvlPPGLiC5WSGllcalkyn4yMNZYMwT5xV66b1DXET3SWnv5Db4zfqDU/1WudsYD/0ZhPQNTWhOcRe77l4KNZBjXVDIptbFgXKTYxu5xU+Zj1dD0wuRzrpsBFPE1lzGAMI6op6ezkEJRJqsAlLOUI2zs4CE54nKTw05MM49ODNBmVu0mG3sFBcCrC3QS0NbdlJOM6jsTUKsgnE+vED0ulRcZfrDwHe0avrA5fG7nm6Lrg7cHZ/I9RHMRoBnOLJlaXeertq+bw3sypVp3PpnCWgVphHpguC+fVzEJZjHwitqVlqm/6OTX7sAcd5Tw1HdNc30HvolrzF+ZVPDJfusXS1CRhRjMB+nC+7DFAP2G7DMJb06GIW5E3dcCY2Df3byvabPm6da7rhzrsQw2fOKscxs3UR1BHLEWZR6Me4qL7iKgUdtq1ZNRL2RZutDgBkYoiQO/hob7zxelFd+WzxUWDtXndu8Aulzes9DrhTkGk1nV7Eb/eDfD4G1BLAwQUAAIACAAaA+NMsIcj9GwBAAD3AgAAKQAAAHVuaXZlcnNhbC9za2luX2N1c3RvbWl6YXRpb25fc2V0dGluZ3MueG1sjVLbSiQxEH33K4I/MEkqt4Z2ILeWeVHRAZ+b6ezSrKaXTsRlycebdncYR0c09VR1Tp2iKqdNv8Zon1KeHse/fR6neBdyHuPPtD5DqN1ND9N8M4cUclodKvdjHKbnTfwxLbVaTbmPQz8PdkHTGqPu9SEltXKqZswwiiTz1CvkPLcVa8A1YCvmKLHt6p3EP9057ELMp1Xb1RH6sWETU5jzJg7hzxqO2W+h4w0u534YKy+tBVui7KcWx5ZAjHDJfaEaAASy3BGHi5SN1AR5zDiGYhQFCohwThpRiKQcatY1oqow3wjEJGPUFepp7UZaG0dtkdAQous0rxpbus5IjBEhBJgrXEBnMKpsqBoa1HJAcGBAFG00UYA625mOFe+8sBwp6gXGhRkDGB+Oe9ju7bkO1W+vsz/nF4Inv+AkunhrdcJc7e5pnit5Gx5/P/Q5oHG4OL+59Xf+aqu3m+ur8/++fPXwnrWYtW79qbdfAFBLAwQUAAIACAAbA+NMJOD/F8QMAABjGQAAFwAAAHVuaXZlcnNhbC91bml2ZXJzYWwucG5n7VdpXFPnmj+KxU4tIGoKsju20kXEqAEUk7gA4iibhCKyi5bLLsghBgjRS1sERdreW/CCIRIsAcJOQzABQkXg1hhQWcJipIIhJIckYCAhZJuD9s5vZr7N5+HD+Z3z/N/3Pc/6f85z8v19T5l8ZPURAAAmp709zgGAEQIANt780BhGjH/i74ZvG66eO3UCaBiwEcPCptjjPscBoLloizb6A1j+tyveIVcBwLRn7drQn1J9CQAsV057HMddi5AKztAvCcf7X+vP5gDYY1UnjKc/dduevxvxsQfu8SWHLzd5VJy2+aLgc1+PTbZ/2f/X+zcdtg3nb976YuCoZ42rSkmcoAVPgROG8An26oUrAeyE+qCghJFoLKc2iO1cVyUuS+kKISrHY+l+GPWbx5vts2Fzrjw0r7WotZ4Vp+GyF3stpE9g7MyIWcyR/IIzJfsYWzYCQF2gbeo2xBTJQGTDi90uI9stJHerk/f8+YxZnavM+JfA2glvYW+DQ3LMAwc/mgdsAAAPD9jxrebr4Dq4Dq6D6+A6uA6ug+vgOrgO/j8E92VrpMyvAOD60P/xR+ENLmBxmR/ZGJGjFo7MFGG7Mucq8r7GTxFVKFpysKCLRQaz2FIAiOokPOUXMgdusXTC7ywixhLCznNHj8ToZC2DMJRnYyG3RUTC75C8ypInpcwzapNTBLLkLABon6BRcjJ5XYR71anRSaFMXuuF2Y5CAj5AJd43yWnsrJwW0yjJKX8wGpLxTHSNiELSe7imiP1Iq0OSv/lhHkq0JL2CQufopCmO+sUiUhiK0kMw6FTOck1wBEFYQFDoznF5im9ASqGwa1VC/2q2UIHvjOSjvQamj7Q5qUo42sszGVWzePbAdMnf/XZvMKW9uo3uu2+p16s4zEk0/TILLDouYMbqvte8CkiNuFW/Zke+1T3BlR4TRyNGsv5FPfNV5ggB8SmYYxLFleeo2H8bEqbZeEk1BfkTIvzL1H5hU/UNTbvzEznJoGEcPw+NxNWHcgsJy+3VNzJ51thBKIPV/8+QsP4qYXwo9BZqDlOIlgeeVGBf13GVcZ92j1e7xtsR3vyoXFbeTZ/EQKOH94D2FGFZWtYpT3zlwK3kLF+6cTSqnT5k9QDkPo0/NmGyIiGLCQ7BJQyu8Ee6DmP2DApf/Sh/lXB4oeF6naY2p2GrjWr85k/NYWi7PsdglDcFG9S+2Gc9uX/nKNrLN8uWYTIj8uGOuBT1Kyqo0/yVbxX+FK+NYSmS7X/IQOXYeytcwEj8ZI4VdfrvfdH/zvY6ZvIfohuvj2BqVpaHiS0d8viFcBp3jE7pp32IWrDPXbW6V3T5ybWjw9eJ6pqTuqwhIluGTJuAqilQKivpobmFghArXdO09b2m8xoZSmkJTmLXNC2zFXVdkbu+PBFznc8rG3H/TeHeS7b65x18z+EOWZd1QLNNFH+Qe4Owk2s2c4AtZJpMwAl+AY2BD5OYzs/R9mYV7GQgIzDvkY1C9Xkxi7gffqkXaIlj6jTbEBXIbmiWV5zLCjH5NKHr/goIqgQpOxECoUVAM1vG2jDGQ5KQD4ekuSHMgeZabNmkNJd4s+CZ5R+g4vsjDy4LDiB2gHuz8HvReUF5+3m7XEk06oB9ntvPandE64UcGwyuT2Ur6UgN6amS4xIzbz/gN0Np1I1/rC6PhqYwGun9dZNmrcnkGKWMLW/TRAdzQnB7aeGiz1jS09JtCMTHkB4Xa4Lrt7iUJ4wq6qnWheVCqVPDROSjCmMpyMEtFS5Y/xhAi1lANwaWHDQbTXDANrbajA22wYm8arvc/lLUFpYQsCihN7aJUjJ95hqsr/NMdRarDUGCrrsgZNO65PxFQYG/ybO+qCSysMKxx20+Lm5SmJoRH8l/7XnZ4/HdYCM1shFjaykajBy2+w1ZXCZnmwNgDjnZqomve0WOhOsF/MduXMZDp7JHe0bQ9vwaC0YRVn9NepUkUP8CB97ljD47sXPDr0vDgX7h5ZGc0FmCc+fSC0m+Y/l59OpcZagz7ahmvrXEuTKnnP8FGIJq9C1RtImVvXWhsWUsJ0ahgjDjMpoxzElwl0yRSyM1jTnlqpgabr0CUr3pGHgRp+z9IZtzAgds5qPt3ZdPrPBcp7SGgwYJ/zv1r0PhrgA00rwkgMQNoz4xUeGNEFRlhlmJgoTDZWdRJG3y+RzqW7WIQrmHNZ7XzCn717QieUYaq7lBUaHrAKtmNvjKCG7yaBtzY2VVM9bFByQynsaRlRoEdaNbu0ztllhazOXRyHCpzBFXXudJE8SYeCsjwTkkkuJKvWg39zUQxkoXv9GaG6F4Ja1LA+7ye3sPkj7yh0Zx0UhnNj2Z8pQFtu0MTJpySwnH3VaTm32T8N/13qy9fLRQx46bInuhXVjElvxqwLQhC2NaVoXkuEvT+SbH5Hv1E4E+3A3SlaX7OTIqtQPmsKOo6EaGT5lx34xAc9jBqzs9z1NKnXSEKyxpNi5REUel3ta5FUfKetKqq6v7vZh+LuaI7t/Awf7ooUOz+PdegI2VmtoaYw6q3Wn3JxLycinWLDPBP6yYe5srriI4oDECy6l+y1yZcFcAW6L8fS1gpXDrahtRjjhugagXDzv1RH2L81E42ree9PQUK3/fQ72YCze/KbojJfvtmw1IuiI+gml6hfEueH1a2bssdcrA9EioavGzGeSc7XH/QJM2SLMDVVXqTBto/G0xUb/j4mNv8igLNfL6eIy+i0U8AI2OV1WxBDHsBHe+Z28H+Ze2hK46dROtFDto7dFr+JNFYtz+4dzlIpJ2RtJI0kGS5n479qNcM0w7S9o26VtsbtEUrsq2cfGJycFPiGF2vArRysdRPAru9g3FfuPOme15yO4I0/sJEy77yzndR02JF/TfPSCmay6N1rf6+MS496mOSaZQhcSDenQjv8ahJm7TuJb4U/T8VOudgsxEeN/2gOYFikEbC4rI+PJvT6L9+Q+vLU7/foCRWD8U/slC6/+soE79KvSugiYO3Q/38tyZ5+RkWB3aZzSj3l4E5m2S1r7PZbzVJJL0wn8IExBAeTaM4w4gUaY6K1MEYnls7l28KzD57aLyrIkf5oZbGL74kO5BligmtiMXVUV4taJyW6uf7sw1mmoyWfRSF5O/sKst8/aNHDKeQIF5WCfnrOwTAUNvh+4QQU3MO08VSQ3N03eLA5ApM/7P/TU0pWcNJYHcLEBcmmnh7qJS7bYL9GNeuLMSrL62p7T4dRPPifmyJXOx1yJY3qmyEz29OojGp921hka2hKmyx0+pssNoEQ797u4CLSgqgV0/L4caOZhlC/IZk29cTWQQ3tupVbvFB+XdoDiVODwIPYVGHLJgkr6kjUiL4F7sArKLNZWmubWKftrHKFJizzmnQM2DnAg72aF9tL7ymY5m0lC3laTZvyg/mZS4+8s9yx/Mr5r2HrCSDBAVPFe/4UGu2uzoQrekSyNL2FwfpmHdOBQsKXfWzJUXlQ3futDpnaFw6dyzFqhvYhcNQfdOve+YbHj8YQos2Cs86jTzWdLgvHIyBUsoSTf9vvax0OHXgbKSGlhjl3qWXjyTPWf8PKwmq2u+MgtjdwIvABJVb7nOzP/W9ZeG/Jhw16deTIPqmRHmW36x/rZYmOYqSA9k2/C7krfyfmaJuBiWaGbXmiHJ7wYBxvJ5UBM1Wn+1TtKIJiubaMdxZz16l2usPa7+IlO3FMnU1z4UgEZNZc4c7YHVnF7Cnx+vVVjZJLHJLAApNiXVyv33bq7gyoPctOJs6E8zZ/grnwXxn8NsZNNjJGz+WMxwkqEuVGTZCX+tpEr5GTi/fj0ZkcM5UgZ/n9kxSCTUrlIzdHHjhPtP1M9NqA/PreXWljaOdhw8l7n3cwCrQUW0Nn4gaBtkgXd4IXrZS/cvB6D+i+yOW+o1Pl4CGLe/T9Iv5GHrygmz/8jofsKQSplTXfEA72cZC2pQwv6cJD2IKAl/Z5bmjMFQkCDYZ4hZCtEWzfBbhvSkHdC8LULEiMA7NWMN6sFQg6s0xCkUSi/5QEu9wz/62LmG9bTV7ZMd1yNtNKqvMnZa2CkcXfKuHUyWV7sVmbUQM17GUogZbwUFGjmHU3jz9XTvLUfue9YAgCioM/rq7ehmqH3hfE9tm3hrSp/UFiH0l7vZPYp71VvnXS0PHo62B1kfF+TZ56y8afqh1PFz4HoMWN6XzR7Dh13rTDFgfBEI/i1+JEn3hnO9EYtyf9//ACAs5X/N3z9ugUfrcHcjeKIuk+RvwWoXTrpv/5egWwr8L4Fu8MHUwweUQbYBQ6dxw0tTBj0zfCu8WrMafbakklplT9KmLutUU8yv4JEe54xz1R6o/9qw2TxsU6H1Ye+v4bPAaU9fj4YTUX/9T1BLAwQUAAIACAAbA+NMcGveuksAAABqAAAAGwAAAHVuaXZlcnNhbC91bml2ZXJzYWwucG5nLnhtbLOxr8jNUShLLSrOzM+zVTLUM1Cyt+PlsikoSi3LTC1XqACKAQUhQEmhEsg1QnDLM1NKMmyVzM1MEWIZqZnpGSW2SqbmJnBBfaCRAFBLAQIAABQAAgAIABoD40wVDq0oZAQAAAcRAAAdAAAAAAAAAAEAAAAAAAAAAAB1bml2ZXJzYWwvY29tbW9uX21lc3NhZ2VzLmxuZ1BLAQIAABQAAgAIABoD40wIfgsjKQMAAIYMAAAnAAAAAAAAAAEAAAAAAJ8EAAB1bml2ZXJzYWwvZmxhc2hfcHVibGlzaGluZ19zZXR0aW5ncy54bWxQSwECAAAUAAIACAAaA+NMtfwJZLoCAABVCgAAIQAAAAAAAAABAAAAAAANCAAAdW5pdmVyc2FsL2ZsYXNoX3NraW5fc2V0dGluZ3MueG1sUEsBAgAAFAACAAgAGgPjTCqWD2f+AgAAlwsAACYAAAAAAAAAAQAAAAAABgsAAHVuaXZlcnNhbC9odG1sX3B1Ymxpc2hpbmdfc2V0dGluZ3MueG1sUEsBAgAAFAACAAgAGgPjTGhxUpGaAQAAHwYAAB8AAAAAAAAAAQAAAAAASA4AAHVuaXZlcnNhbC9odG1sX3NraW5fc2V0dGluZ3MuanNQSwECAAAUAAIACAAaA+NMPTwv0cEAAADlAQAAGgAAAAAAAAABAAAAAAAfEAAAdW5pdmVyc2FsL2kxOG5fcHJlc2V0cy54bWxQSwECAAAUAAIACAAaA+NMcvzRgWcAAABrAAAAHAAAAAAAAAABAAAAAAAYEQAAdW5pdmVyc2FsL2xvY2FsX3NldHRpbmdzLnhtbFBLAQIAABQAAgAIAESUV0cjtE77+wIAALAIAAAUAAAAAAAAAAEAAAAAALkRAAB1bml2ZXJzYWwvcGxheWVyLnhtbFBLAQIAABQAAgAIABoD40ywhyP0bAEAAPcCAAApAAAAAAAAAAEAAAAAAOYUAAB1bml2ZXJzYWwvc2tpbl9jdXN0b21pemF0aW9uX3NldHRpbmdzLnhtbFBLAQIAABQAAgAIABsD40wk4P8XxAwAAGMZAAAXAAAAAAAAAAAAAAAAAJkWAAB1bml2ZXJzYWwvdW5pdmVyc2FsLnBuZ1BLAQIAABQAAgAIABsD40xwa966SwAAAGoAAAAbAAAAAAAAAAEAAAAAAJIjAAB1bml2ZXJzYWwvdW5pdmVyc2FsLnBuZy54bWxQSwUGAAAAAAsACwBJAwAAFiQAAAAA"/>
  <p:tag name="ISPRING_PRESENTATION_TITLE" val="公司介绍2"/>
  <p:tag name="KSO_WPP_MARK_KEY" val="a3ac13c1-a18b-49a0-af0b-5da6965e06eb"/>
  <p:tag name="COMMONDATA" val="eyJoZGlkIjoiZDg4NTBjYTNhODExMWUyNzdkMjZkMmNhZGFmOGUyZjUifQ=="/>
  <p:tag name="ISLIDE.GUIDESSETTING" val="{&quot;Id&quot;:&quot;c2afd457-4a6e-4a68-ada8-e9a503b6212c&quot;,&quot;Name&quot;:&quot;集团简介&quot;,&quot;Kind&quot;:1,&quot;OldGuidesSetting&quot;:{&quot;HeaderHeight&quot;:10.0,&quot;FooterHeight&quot;:4.0,&quot;SideMargin&quot;:5.0,&quot;TopMargin&quot;:0.0,&quot;BottomMargin&quot;:0.0,&quot;IntervalMargin&quot;:5.0}}"/>
</p:tagLst>
</file>

<file path=ppt/theme/theme1.xml><?xml version="1.0" encoding="utf-8"?>
<a:theme xmlns:a="http://schemas.openxmlformats.org/drawingml/2006/main" name="Office 主题">
  <a:themeElements>
    <a:clrScheme name="主蓝副金">
      <a:dk1>
        <a:srgbClr val="3F3F3F"/>
      </a:dk1>
      <a:lt1>
        <a:sysClr val="window" lastClr="FFFFFF"/>
      </a:lt1>
      <a:dk2>
        <a:srgbClr val="275DF5"/>
      </a:dk2>
      <a:lt2>
        <a:srgbClr val="FFCC99"/>
      </a:lt2>
      <a:accent1>
        <a:srgbClr val="2B579A"/>
      </a:accent1>
      <a:accent2>
        <a:srgbClr val="296EB1"/>
      </a:accent2>
      <a:accent3>
        <a:srgbClr val="5C8CBA"/>
      </a:accent3>
      <a:accent4>
        <a:srgbClr val="64A1D7"/>
      </a:accent4>
      <a:accent5>
        <a:srgbClr val="BBD8F6"/>
      </a:accent5>
      <a:accent6>
        <a:srgbClr val="D1B15A"/>
      </a:accent6>
      <a:hlink>
        <a:srgbClr val="4BD1FB"/>
      </a:hlink>
      <a:folHlink>
        <a:srgbClr val="800080"/>
      </a:folHlink>
    </a:clrScheme>
    <a:fontScheme name="雅黑Arial">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707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36000" tIns="36000" rIns="36000" bIns="36000" rtlCol="0">
        <a:spAutoFit/>
      </a:bodyPr>
      <a:lstStyle>
        <a:defPPr algn="l">
          <a:defRPr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主蓝副金">
      <a:dk1>
        <a:srgbClr val="3F3F3F"/>
      </a:dk1>
      <a:lt1>
        <a:sysClr val="window" lastClr="FFFFFF"/>
      </a:lt1>
      <a:dk2>
        <a:srgbClr val="275DF5"/>
      </a:dk2>
      <a:lt2>
        <a:srgbClr val="FFCC99"/>
      </a:lt2>
      <a:accent1>
        <a:srgbClr val="2B579A"/>
      </a:accent1>
      <a:accent2>
        <a:srgbClr val="296EB1"/>
      </a:accent2>
      <a:accent3>
        <a:srgbClr val="5C8CBA"/>
      </a:accent3>
      <a:accent4>
        <a:srgbClr val="64A1D7"/>
      </a:accent4>
      <a:accent5>
        <a:srgbClr val="BBD8F6"/>
      </a:accent5>
      <a:accent6>
        <a:srgbClr val="D1B15A"/>
      </a:accent6>
      <a:hlink>
        <a:srgbClr val="4BD1FB"/>
      </a:hlink>
      <a:folHlink>
        <a:srgbClr val="800080"/>
      </a:folHlink>
    </a:clrScheme>
    <a:fontScheme name="雅黑Arial">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707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36000" tIns="36000" rIns="36000" bIns="36000" rtlCol="0">
        <a:spAutoFit/>
      </a:bodyPr>
      <a:lstStyle>
        <a:defPPr algn="l">
          <a:defRPr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39896</Words>
  <Application>WPS 演示</Application>
  <PresentationFormat>宽屏</PresentationFormat>
  <Paragraphs>2968</Paragraphs>
  <Slides>87</Slides>
  <Notes>0</Notes>
  <HiddenSlides>0</HiddenSlides>
  <MMClips>4</MMClips>
  <ScaleCrop>false</ScaleCrop>
  <HeadingPairs>
    <vt:vector size="6" baseType="variant">
      <vt:variant>
        <vt:lpstr>已用的字体</vt:lpstr>
      </vt:variant>
      <vt:variant>
        <vt:i4>28</vt:i4>
      </vt:variant>
      <vt:variant>
        <vt:lpstr>主题</vt:lpstr>
      </vt:variant>
      <vt:variant>
        <vt:i4>3</vt:i4>
      </vt:variant>
      <vt:variant>
        <vt:lpstr>幻灯片标题</vt:lpstr>
      </vt:variant>
      <vt:variant>
        <vt:i4>87</vt:i4>
      </vt:variant>
    </vt:vector>
  </HeadingPairs>
  <TitlesOfParts>
    <vt:vector size="118" baseType="lpstr">
      <vt:lpstr>Arial</vt:lpstr>
      <vt:lpstr>宋体</vt:lpstr>
      <vt:lpstr>Wingdings</vt:lpstr>
      <vt:lpstr>HarmonyOS Sans SC</vt:lpstr>
      <vt:lpstr>思源黑体 CN Regular</vt:lpstr>
      <vt:lpstr>Times New Roman</vt:lpstr>
      <vt:lpstr>方正小标宋简体</vt:lpstr>
      <vt:lpstr>微软雅黑</vt:lpstr>
      <vt:lpstr>江城斜宋体 900W</vt:lpstr>
      <vt:lpstr>创客贴金刚体</vt:lpstr>
      <vt:lpstr>微软雅黑 Light</vt:lpstr>
      <vt:lpstr>方正姚体</vt:lpstr>
      <vt:lpstr>Arial Unicode MS</vt:lpstr>
      <vt:lpstr>Calibri</vt:lpstr>
      <vt:lpstr>Arial</vt:lpstr>
      <vt:lpstr>黑体</vt:lpstr>
      <vt:lpstr>优设标题黑</vt:lpstr>
      <vt:lpstr>Arial</vt:lpstr>
      <vt:lpstr>Wingdings</vt:lpstr>
      <vt:lpstr>Noto Sans SC</vt:lpstr>
      <vt:lpstr>幼圆</vt:lpstr>
      <vt:lpstr>Calibri</vt:lpstr>
      <vt:lpstr>等线</vt:lpstr>
      <vt:lpstr>Roboto</vt:lpstr>
      <vt:lpstr>Roboto</vt:lpstr>
      <vt:lpstr>创客贴金刚体</vt:lpstr>
      <vt:lpstr>思源黑体 CN Regular</vt:lpstr>
      <vt:lpstr>Segoe Print</vt:lpstr>
      <vt:lpstr>Office 主题</vt:lpstr>
      <vt:lpstr>1_Office 主题</vt:lpstr>
      <vt:lpstr>2_Office 主题</vt:lpstr>
      <vt:lpstr>PowerPoint 演示文稿</vt:lpstr>
      <vt:lpstr>PowerPoint 演示文稿</vt:lpstr>
      <vt:lpstr>集团概况</vt:lpstr>
      <vt:lpstr>业务战略地图</vt:lpstr>
      <vt:lpstr>组织架构</vt:lpstr>
      <vt:lpstr>数说城发</vt:lpstr>
      <vt:lpstr>PowerPoint 演示文稿</vt:lpstr>
      <vt:lpstr>精挑细选 招投联动</vt:lpstr>
      <vt:lpstr>构建投资生态圈，链接优质资源</vt:lpstr>
      <vt:lpstr>布局战略性产业，积蓄发展动能</vt:lpstr>
      <vt:lpstr>PowerPoint 演示文稿</vt:lpstr>
      <vt:lpstr>1. 重点战略招引项目</vt:lpstr>
      <vt:lpstr>1. 重点战略招引项目</vt:lpstr>
      <vt:lpstr>1. 重点战略招引项目</vt:lpstr>
      <vt:lpstr>低空经济：联合飞机</vt:lpstr>
      <vt:lpstr>低空经济：中科云图</vt:lpstr>
      <vt:lpstr>具身智能：动易科技</vt:lpstr>
      <vt:lpstr>人工智能：宾果智能</vt:lpstr>
      <vt:lpstr>人工智能：质变科技</vt:lpstr>
      <vt:lpstr>人工智能：银河水滴</vt:lpstr>
      <vt:lpstr>人工智能：筷子科技</vt:lpstr>
      <vt:lpstr>AI+健康：顺答数</vt:lpstr>
      <vt:lpstr>智能制造：三一电子</vt:lpstr>
      <vt:lpstr>量子计算：伊辛智能</vt:lpstr>
      <vt:lpstr>集成电路：苇渡微</vt:lpstr>
      <vt:lpstr>PowerPoint 演示文稿</vt:lpstr>
      <vt:lpstr>2. 财务投资项目</vt:lpstr>
      <vt:lpstr>泛半导体：燧原科技</vt:lpstr>
      <vt:lpstr>人工智能：无问芯穹</vt:lpstr>
      <vt:lpstr>边缘计算：庭宇科技</vt:lpstr>
      <vt:lpstr>人工智能：可灵AI</vt:lpstr>
      <vt:lpstr>人工智能：树根互联</vt:lpstr>
      <vt:lpstr>人工智能：境瞳科技</vt:lpstr>
      <vt:lpstr>人工智能：医赋科技</vt:lpstr>
      <vt:lpstr>PowerPoint 演示文稿</vt:lpstr>
      <vt:lpstr>模方前哨站拓展：上海</vt:lpstr>
      <vt:lpstr>模方前哨站拓展：香港</vt:lpstr>
      <vt:lpstr>模方前哨站拓展</vt:lpstr>
      <vt:lpstr>PowerPoint 演示文稿</vt:lpstr>
      <vt:lpstr>PowerPoint 演示文稿</vt:lpstr>
      <vt:lpstr>PowerPoint 演示文稿</vt:lpstr>
      <vt:lpstr>琶洲模方：广州人工智能核心载体，湾区未来科技原生平台</vt:lpstr>
      <vt:lpstr>琶洲模方整体运营情况</vt:lpstr>
      <vt:lpstr>项目引育</vt:lpstr>
      <vt:lpstr>第五届算法大赛</vt:lpstr>
      <vt:lpstr>致力于成为成长最快、成功最近的大模型创新载体</vt:lpstr>
      <vt:lpstr>健全支撑体系，全力抓科技应用场景成行成市</vt:lpstr>
      <vt:lpstr>琶洲算谷智算中心</vt:lpstr>
      <vt:lpstr>具身智能训练场</vt:lpstr>
      <vt:lpstr>具身智能训练场</vt:lpstr>
      <vt:lpstr>具身智能产线落地</vt:lpstr>
      <vt:lpstr>综合展示平台：携手动易&amp;智动，抢占具身智能终极赛道</vt:lpstr>
      <vt:lpstr>广交会“琶洲模方”（第139届广交会）</vt:lpstr>
      <vt:lpstr>第140届广交会拟落地场景</vt:lpstr>
      <vt:lpstr>海心沙全空间智能体验中心多元智能体验场景（一期）</vt:lpstr>
      <vt:lpstr>海心沙全空间智能体验中心多元智能体验场景（二期）</vt:lpstr>
      <vt:lpstr>PowerPoint 演示文稿</vt:lpstr>
      <vt:lpstr>重点产业载体项目</vt:lpstr>
      <vt:lpstr>创在海珠——多元产业园区</vt:lpstr>
      <vt:lpstr>乐在海珠——文商配套支撑</vt:lpstr>
      <vt:lpstr>扎根海珠——人才安居工程</vt:lpstr>
      <vt:lpstr>01. 琶洲算谷（633地块）</vt:lpstr>
      <vt:lpstr>琶洲算谷 设计方案</vt:lpstr>
      <vt:lpstr>02. 琶洲π艺术馆（109地块）</vt:lpstr>
      <vt:lpstr>琶洲π艺术馆 设计方案</vt:lpstr>
      <vt:lpstr>03. 琶洲大模型示范基地（203 204地块）</vt:lpstr>
      <vt:lpstr>琶洲大模型示范基地 设计方案</vt:lpstr>
      <vt:lpstr>04. 湾区产融中心（新源地块）</vt:lpstr>
      <vt:lpstr>湾区产融中心 设计方案</vt:lpstr>
      <vt:lpstr>05. 小洲工业园（小洲工业集聚区地块）</vt:lpstr>
      <vt:lpstr>小洲工业园 设计方案</vt:lpstr>
      <vt:lpstr>06. 老旧物业焕新升级</vt:lpstr>
      <vt:lpstr>07. 文商旅地标加速成型</vt:lpstr>
      <vt:lpstr>PowerPoint 演示文稿</vt:lpstr>
      <vt:lpstr>低空经济业务</vt:lpstr>
      <vt:lpstr>核心项目一：城市低空飞送枢纽</vt:lpstr>
      <vt:lpstr>核心项目二：琶洲港澳码头</vt:lpstr>
      <vt:lpstr>贸易业务</vt:lpstr>
      <vt:lpstr>贸易业务</vt:lpstr>
      <vt:lpstr>贸易业务</vt:lpstr>
      <vt:lpstr>贸易业务</vt:lpstr>
      <vt:lpstr>城市更新业务</vt:lpstr>
      <vt:lpstr>城市更新重点项目</vt:lpstr>
      <vt:lpstr>生态景观业务</vt:lpstr>
      <vt:lpstr>企业资质</vt:lpstr>
      <vt:lpstr>企业荣誉</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公司介绍2</dc:title>
  <dc:creator>米果儿设计工作室</dc:creator>
  <dc:subject>MiGOUppt.taobao.com</dc:subject>
  <cp:lastModifiedBy>....</cp:lastModifiedBy>
  <cp:revision>685</cp:revision>
  <cp:lastPrinted>2024-11-26T07:29:00Z</cp:lastPrinted>
  <dcterms:created xsi:type="dcterms:W3CDTF">2016-03-23T02:00:00Z</dcterms:created>
  <dcterms:modified xsi:type="dcterms:W3CDTF">2026-07-03T02:50:02Z</dcterms:modified>
</cp:coreProperties>
</file>